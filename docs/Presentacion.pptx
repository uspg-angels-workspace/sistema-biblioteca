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Presentar el equipo y el sistema elegido: Sistema de biblioteca. Mencionar que el proyecto sigue la ruta problema → requisitos → UML → clases → código → interfaz → archivos → pruebas.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la situación actual: cuadernos, fichas y cálculo de multas de memoria. Resaltar que el problema central es la falta de un registro único y consistente que relacione libros, usuarios, préstamos y multas.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general: aplicación en C# con POO y UML que gestione catálogo, usuarios, préstamos, devoluciones y multas con archivos JSON. Alcance: los cinco módulos del enunciado. Limitaciones relevantes: un solo puesto de trabajo, sin autenticación, sin reservas.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Mostrar cómo se organizaron los requisitos por módulo. Mencionar las reglas del negocio clave: límites 3/5 préstamos, plazos 7/14 días, máximo 2 renovaciones, multa Q2.00 por día con tope Q100.00.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Actores: Bibliotecario (principal), Lector (secundario, atendido por el bibliotecario) y los archivos JSON. Señalar la relación include de CU-18 en CU-09 y el extend de CU-14 sobre CU-12 (solo si hay atraso).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la jerarquía: EntidadBase aporta el Id; Persona es abstracta con Lector y Bibliotecario; Libro, Prestamo y Multa se relacionan por identificadores. El polimorfismo está en LimitePrestamos y DiasPrestamo.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el flujo: el formulario llama a PrestamoService, que consulta repositorios, valida reglas y, si todo cumple, crea el préstamo, descuenta el ejemplar y escribe prestamos.json y libros.json. Si falla una regla, se lanza ValidacionException y la interfaz muestra el mensaje.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de actividad de préstamo muestra las seis validaciones; el de devolución, el cálculo de la multa. El diagrama de estados resume el ciclo de vida del préstamo: Activo, Atrasado y Devuelto.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interfaz depende de la lógica, nunca al revés. Por eso la lógica se prueba de forma automática sin abrir la ventana. La persistencia está detrás de la interfaz IRepositorio, así el almacenamiento es intercambiable.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Demostrar el menú lateral y la pantalla de inicio: indicadores (libros, usuarios, préstamos activos, atrasados, multas pendientes), accesos rápidos y reglas del servicio.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en vivo: registrar un libro con datos inválidos y mostrar el error; luego registrar un préstamo y mostrar que se rechaza a un usuario con libros atrasados.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Mostrar búsqueda por título, filtro por categoría y por disponibilidad. En reportes, elegir 'Libros atrasados' y exportar a CSV.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que cada cambio serializa la colección completa a un .tmp y reemplaza el archivo original. Solo se guardan datos primarios; las propiedades calculadas se recalculan al cargar. La jerarquía Persona se guarda con un discriminador 'tipo'.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registrar un libro, cerrar la aplicación, abrirla de nuevo y mostrar que sigue ahí. Mencionar la prueba automatizada que reabre el sistema y compara todos los datos, y el manejo de un archivo dañado.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la cadena de trazabilidad. Los datos de prueba cubren préstamos activos, atrasados y devueltos, una multa pagada y otra pendiente, y un libro sin ejemplares.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los problemas reales que aparecieron: por ejemplo, el JSON guardaba propiedades calculadas porque JsonIgnore no se hereda en las sobrescrituras; se detectó al revisar los datos generados y se agregó JsonIgnore más una prueba.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Mostrar el historial del repositorio: cada commit es un cambio lógico y sigue el formato tipo: descripción en español. El orden refleja la construcción del sistema: base, dominio, persistencia, servicios, pruebas, interfaz y documentación.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resumiendo y pasar a la demostración en vivo siguiendo el guion.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9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88920"/>
            <a:ext cx="1463040" cy="73152"/>
          </a:xfrm>
          <a:prstGeom prst="rect">
            <a:avLst/>
          </a:prstGeom>
          <a:solidFill>
            <a:srgbClr val="5B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058400" cy="1280160"/>
          </a:xfrm>
          <a:prstGeom prst="rect">
            <a:avLst/>
          </a:prstGeom>
          <a:noFill/>
        </p:spPr>
        <p:txBody>
          <a:bodyPr wrap="square" anchor="t" lIns="45720" rIns="45720">
            <a:spAutoFit/>
          </a:bodyPr>
          <a:lstStyle/>
          <a:p>
            <a:pPr algn="l"/>
            <a:r>
              <a:rPr sz="5400" b="1">
                <a:solidFill>
                  <a:srgbClr val="FFFFFF"/>
                </a:solidFill>
                <a:latin typeface="Calibri"/>
              </a:rPr>
              <a:t>Sistema de biblioteca</a:t>
            </a:r>
          </a:p>
        </p:txBody>
      </p:sp>
      <p:sp>
        <p:nvSpPr>
          <p:cNvPr id="5" name="TextBox 4"/>
          <p:cNvSpPr txBox="1"/>
          <p:nvPr/>
        </p:nvSpPr>
        <p:spPr>
          <a:xfrm>
            <a:off x="822960" y="3017520"/>
            <a:ext cx="10058400" cy="548640"/>
          </a:xfrm>
          <a:prstGeom prst="rect">
            <a:avLst/>
          </a:prstGeom>
          <a:noFill/>
        </p:spPr>
        <p:txBody>
          <a:bodyPr wrap="square" anchor="t" lIns="45720" rIns="45720">
            <a:spAutoFit/>
          </a:bodyPr>
          <a:lstStyle/>
          <a:p>
            <a:pPr algn="l"/>
            <a:r>
              <a:rPr sz="2600" b="0">
                <a:solidFill>
                  <a:srgbClr val="C9DBEE"/>
                </a:solidFill>
                <a:latin typeface="Calibri"/>
              </a:rPr>
              <a:t>Proyecto Integrador · Programación II</a:t>
            </a:r>
          </a:p>
        </p:txBody>
      </p:sp>
      <p:sp>
        <p:nvSpPr>
          <p:cNvPr id="6" name="TextBox 5"/>
          <p:cNvSpPr txBox="1"/>
          <p:nvPr/>
        </p:nvSpPr>
        <p:spPr>
          <a:xfrm>
            <a:off x="822960" y="4114800"/>
            <a:ext cx="10058400" cy="1280160"/>
          </a:xfrm>
          <a:prstGeom prst="rect">
            <a:avLst/>
          </a:prstGeom>
          <a:noFill/>
        </p:spPr>
        <p:txBody>
          <a:bodyPr wrap="square" anchor="t" lIns="45720" rIns="45720">
            <a:spAutoFit/>
          </a:bodyPr>
          <a:lstStyle/>
          <a:p>
            <a:pPr algn="l"/>
            <a:r>
              <a:rPr sz="1800" b="0">
                <a:solidFill>
                  <a:srgbClr val="C9DBEE"/>
                </a:solidFill>
                <a:latin typeface="Calibri"/>
              </a:rPr>
              <a:t>[Nombre de la universidad]</a:t>
            </a:r>
          </a:p>
          <a:p>
            <a:pPr algn="l"/>
            <a:r>
              <a:rPr sz="1800" b="0">
                <a:solidFill>
                  <a:srgbClr val="C9DBEE"/>
                </a:solidFill>
                <a:latin typeface="Calibri"/>
              </a:rPr>
              <a:t>Integrantes: [Nombres y carnés]</a:t>
            </a:r>
          </a:p>
          <a:p>
            <a:pPr algn="l"/>
            <a:r>
              <a:rPr sz="1800" b="0">
                <a:solidFill>
                  <a:srgbClr val="C9DBEE"/>
                </a:solidFill>
                <a:latin typeface="Calibri"/>
              </a:rPr>
              <a:t>Catedrático: [Nombre del catedrático]</a:t>
            </a:r>
          </a:p>
          <a:p>
            <a:pPr algn="l"/>
            <a:r>
              <a:rPr sz="1800" b="0">
                <a:solidFill>
                  <a:srgbClr val="C9DBEE"/>
                </a:solidFill>
                <a:latin typeface="Calibri"/>
              </a:rPr>
              <a:t>10 de octubre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Problema identificado</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Una biblioteca que gestiona todo de forma manual</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2</a:t>
            </a:r>
          </a:p>
        </p:txBody>
      </p:sp>
      <p:sp>
        <p:nvSpPr>
          <p:cNvPr id="7" name="Rounded Rectangle 6"/>
          <p:cNvSpPr/>
          <p:nvPr/>
        </p:nvSpPr>
        <p:spPr>
          <a:xfrm>
            <a:off x="548640" y="1645920"/>
            <a:ext cx="3657600" cy="448056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37360"/>
            <a:ext cx="3383280" cy="411480"/>
          </a:xfrm>
          <a:prstGeom prst="rect">
            <a:avLst/>
          </a:prstGeom>
          <a:noFill/>
        </p:spPr>
        <p:txBody>
          <a:bodyPr wrap="square" anchor="t" lIns="45720" rIns="45720">
            <a:spAutoFit/>
          </a:bodyPr>
          <a:lstStyle/>
          <a:p>
            <a:pPr algn="l"/>
            <a:r>
              <a:rPr sz="1700" b="1">
                <a:solidFill>
                  <a:srgbClr val="1F4E79"/>
                </a:solidFill>
                <a:latin typeface="Calibri"/>
              </a:rPr>
              <a:t>Situación actual</a:t>
            </a:r>
          </a:p>
        </p:txBody>
      </p:sp>
      <p:sp>
        <p:nvSpPr>
          <p:cNvPr id="9" name="TextBox 8"/>
          <p:cNvSpPr txBox="1"/>
          <p:nvPr/>
        </p:nvSpPr>
        <p:spPr>
          <a:xfrm>
            <a:off x="685800" y="2194560"/>
            <a:ext cx="3383280" cy="3840480"/>
          </a:xfrm>
          <a:prstGeom prst="rect">
            <a:avLst/>
          </a:prstGeom>
          <a:noFill/>
        </p:spPr>
        <p:txBody>
          <a:bodyPr wrap="square">
            <a:spAutoFit/>
          </a:bodyPr>
          <a:lstStyle/>
          <a:p>
            <a:pPr>
              <a:spcAft>
                <a:spcPts val="300"/>
              </a:spcAft>
            </a:pPr>
            <a:r>
              <a:rPr sz="1500">
                <a:solidFill>
                  <a:srgbClr val="14293D"/>
                </a:solidFill>
                <a:latin typeface="Calibri"/>
              </a:rPr>
              <a:t>• Libros anotados en cuadernos u hojas sueltas</a:t>
            </a:r>
          </a:p>
          <a:p>
            <a:pPr>
              <a:spcAft>
                <a:spcPts val="300"/>
              </a:spcAft>
            </a:pPr>
            <a:r>
              <a:rPr sz="1500">
                <a:solidFill>
                  <a:srgbClr val="14293D"/>
                </a:solidFill>
                <a:latin typeface="Calibri"/>
              </a:rPr>
              <a:t>• Fichas de papel para cada préstamo</a:t>
            </a:r>
          </a:p>
          <a:p>
            <a:pPr>
              <a:spcAft>
                <a:spcPts val="300"/>
              </a:spcAft>
            </a:pPr>
            <a:r>
              <a:rPr sz="1500">
                <a:solidFill>
                  <a:srgbClr val="14293D"/>
                </a:solidFill>
                <a:latin typeface="Calibri"/>
              </a:rPr>
              <a:t>• Vencimientos recordados a mano</a:t>
            </a:r>
          </a:p>
          <a:p>
            <a:pPr>
              <a:spcAft>
                <a:spcPts val="300"/>
              </a:spcAft>
            </a:pPr>
            <a:r>
              <a:rPr sz="1500">
                <a:solidFill>
                  <a:srgbClr val="14293D"/>
                </a:solidFill>
                <a:latin typeface="Calibri"/>
              </a:rPr>
              <a:t>• Multas calculadas “de memoria”</a:t>
            </a:r>
          </a:p>
        </p:txBody>
      </p:sp>
      <p:sp>
        <p:nvSpPr>
          <p:cNvPr id="10" name="Rounded Rectangle 9"/>
          <p:cNvSpPr/>
          <p:nvPr/>
        </p:nvSpPr>
        <p:spPr>
          <a:xfrm>
            <a:off x="4343400" y="1645920"/>
            <a:ext cx="3657600" cy="4480560"/>
          </a:xfrm>
          <a:prstGeom prst="roundRect">
            <a:avLst>
              <a:gd name="adj" fmla="val 6000"/>
            </a:avLst>
          </a:prstGeom>
          <a:solidFill>
            <a:srgbClr val="FBE9E7"/>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737360"/>
            <a:ext cx="3383280" cy="411480"/>
          </a:xfrm>
          <a:prstGeom prst="rect">
            <a:avLst/>
          </a:prstGeom>
          <a:noFill/>
        </p:spPr>
        <p:txBody>
          <a:bodyPr wrap="square" anchor="t" lIns="45720" rIns="45720">
            <a:spAutoFit/>
          </a:bodyPr>
          <a:lstStyle/>
          <a:p>
            <a:pPr algn="l"/>
            <a:r>
              <a:rPr sz="1700" b="1">
                <a:solidFill>
                  <a:srgbClr val="1F4E79"/>
                </a:solidFill>
                <a:latin typeface="Calibri"/>
              </a:rPr>
              <a:t>Problema</a:t>
            </a:r>
          </a:p>
        </p:txBody>
      </p:sp>
      <p:sp>
        <p:nvSpPr>
          <p:cNvPr id="12" name="TextBox 11"/>
          <p:cNvSpPr txBox="1"/>
          <p:nvPr/>
        </p:nvSpPr>
        <p:spPr>
          <a:xfrm>
            <a:off x="4480560" y="2194560"/>
            <a:ext cx="3383280" cy="3840480"/>
          </a:xfrm>
          <a:prstGeom prst="rect">
            <a:avLst/>
          </a:prstGeom>
          <a:noFill/>
        </p:spPr>
        <p:txBody>
          <a:bodyPr wrap="square">
            <a:spAutoFit/>
          </a:bodyPr>
          <a:lstStyle/>
          <a:p>
            <a:pPr>
              <a:spcAft>
                <a:spcPts val="300"/>
              </a:spcAft>
            </a:pPr>
            <a:r>
              <a:rPr sz="1500">
                <a:solidFill>
                  <a:srgbClr val="14293D"/>
                </a:solidFill>
                <a:latin typeface="Calibri"/>
              </a:rPr>
              <a:t>• Se prestan libros sin ejemplares o a quien no debe recibirlos</a:t>
            </a:r>
          </a:p>
          <a:p>
            <a:pPr>
              <a:spcAft>
                <a:spcPts val="300"/>
              </a:spcAft>
            </a:pPr>
            <a:r>
              <a:rPr sz="1500">
                <a:solidFill>
                  <a:srgbClr val="14293D"/>
                </a:solidFill>
                <a:latin typeface="Calibri"/>
              </a:rPr>
              <a:t>• Vencimientos y multas sin control uniforme</a:t>
            </a:r>
          </a:p>
          <a:p>
            <a:pPr>
              <a:spcAft>
                <a:spcPts val="300"/>
              </a:spcAft>
            </a:pPr>
            <a:r>
              <a:rPr sz="1500">
                <a:solidFill>
                  <a:srgbClr val="14293D"/>
                </a:solidFill>
                <a:latin typeface="Calibri"/>
              </a:rPr>
              <a:t>• Información duplicada o perdida</a:t>
            </a:r>
          </a:p>
          <a:p>
            <a:pPr>
              <a:spcAft>
                <a:spcPts val="300"/>
              </a:spcAft>
            </a:pPr>
            <a:r>
              <a:rPr sz="1500">
                <a:solidFill>
                  <a:srgbClr val="14293D"/>
                </a:solidFill>
                <a:latin typeface="Calibri"/>
              </a:rPr>
              <a:t>• Reportes lentos y propensos a error</a:t>
            </a:r>
          </a:p>
        </p:txBody>
      </p:sp>
      <p:sp>
        <p:nvSpPr>
          <p:cNvPr id="13" name="Rounded Rectangle 12"/>
          <p:cNvSpPr/>
          <p:nvPr/>
        </p:nvSpPr>
        <p:spPr>
          <a:xfrm>
            <a:off x="8138160" y="1645920"/>
            <a:ext cx="3520440" cy="4480560"/>
          </a:xfrm>
          <a:prstGeom prst="roundRect">
            <a:avLst>
              <a:gd name="adj" fmla="val 6000"/>
            </a:avLst>
          </a:prstGeom>
          <a:solidFill>
            <a:srgbClr val="E6F4EC"/>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737360"/>
            <a:ext cx="3246120" cy="411480"/>
          </a:xfrm>
          <a:prstGeom prst="rect">
            <a:avLst/>
          </a:prstGeom>
          <a:noFill/>
        </p:spPr>
        <p:txBody>
          <a:bodyPr wrap="square" anchor="t" lIns="45720" rIns="45720">
            <a:spAutoFit/>
          </a:bodyPr>
          <a:lstStyle/>
          <a:p>
            <a:pPr algn="l"/>
            <a:r>
              <a:rPr sz="1700" b="1">
                <a:solidFill>
                  <a:srgbClr val="1F4E79"/>
                </a:solidFill>
                <a:latin typeface="Calibri"/>
              </a:rPr>
              <a:t>Propuesta de solución</a:t>
            </a:r>
          </a:p>
        </p:txBody>
      </p:sp>
      <p:sp>
        <p:nvSpPr>
          <p:cNvPr id="15" name="TextBox 14"/>
          <p:cNvSpPr txBox="1"/>
          <p:nvPr/>
        </p:nvSpPr>
        <p:spPr>
          <a:xfrm>
            <a:off x="8275320" y="2194560"/>
            <a:ext cx="3246120" cy="3840480"/>
          </a:xfrm>
          <a:prstGeom prst="rect">
            <a:avLst/>
          </a:prstGeom>
          <a:noFill/>
        </p:spPr>
        <p:txBody>
          <a:bodyPr wrap="square">
            <a:spAutoFit/>
          </a:bodyPr>
          <a:lstStyle/>
          <a:p>
            <a:pPr>
              <a:spcAft>
                <a:spcPts val="300"/>
              </a:spcAft>
            </a:pPr>
            <a:r>
              <a:rPr sz="1500">
                <a:solidFill>
                  <a:srgbClr val="14293D"/>
                </a:solidFill>
                <a:latin typeface="Calibri"/>
              </a:rPr>
              <a:t>• Aplicación de escritorio en C# (.NET 8)</a:t>
            </a:r>
          </a:p>
          <a:p>
            <a:pPr>
              <a:spcAft>
                <a:spcPts val="300"/>
              </a:spcAft>
            </a:pPr>
            <a:r>
              <a:rPr sz="1500">
                <a:solidFill>
                  <a:srgbClr val="14293D"/>
                </a:solidFill>
                <a:latin typeface="Calibri"/>
              </a:rPr>
              <a:t>• Reglas del servicio automáticas</a:t>
            </a:r>
          </a:p>
          <a:p>
            <a:pPr>
              <a:spcAft>
                <a:spcPts val="300"/>
              </a:spcAft>
            </a:pPr>
            <a:r>
              <a:rPr sz="1500">
                <a:solidFill>
                  <a:srgbClr val="14293D"/>
                </a:solidFill>
                <a:latin typeface="Calibri"/>
              </a:rPr>
              <a:t>• Datos en archivos JSON</a:t>
            </a:r>
          </a:p>
          <a:p>
            <a:pPr>
              <a:spcAft>
                <a:spcPts val="300"/>
              </a:spcAft>
            </a:pPr>
            <a:r>
              <a:rPr sz="1500">
                <a:solidFill>
                  <a:srgbClr val="14293D"/>
                </a:solidFill>
                <a:latin typeface="Calibri"/>
              </a:rPr>
              <a:t>• Reportes y exportación a 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Análisis realizado</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Objetivos, alcance y limitaciones</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3</a:t>
            </a:r>
          </a:p>
        </p:txBody>
      </p:sp>
      <p:sp>
        <p:nvSpPr>
          <p:cNvPr id="7" name="Rounded Rectangle 6"/>
          <p:cNvSpPr/>
          <p:nvPr/>
        </p:nvSpPr>
        <p:spPr>
          <a:xfrm>
            <a:off x="548640" y="1645920"/>
            <a:ext cx="5486400" cy="448056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37360"/>
            <a:ext cx="5212080" cy="411480"/>
          </a:xfrm>
          <a:prstGeom prst="rect">
            <a:avLst/>
          </a:prstGeom>
          <a:noFill/>
        </p:spPr>
        <p:txBody>
          <a:bodyPr wrap="square" anchor="t" lIns="45720" rIns="45720">
            <a:spAutoFit/>
          </a:bodyPr>
          <a:lstStyle/>
          <a:p>
            <a:pPr algn="l"/>
            <a:r>
              <a:rPr sz="1700" b="1">
                <a:solidFill>
                  <a:srgbClr val="1F4E79"/>
                </a:solidFill>
                <a:latin typeface="Calibri"/>
              </a:rPr>
              <a:t>Objetivo general</a:t>
            </a:r>
          </a:p>
        </p:txBody>
      </p:sp>
      <p:sp>
        <p:nvSpPr>
          <p:cNvPr id="9" name="TextBox 8"/>
          <p:cNvSpPr txBox="1"/>
          <p:nvPr/>
        </p:nvSpPr>
        <p:spPr>
          <a:xfrm>
            <a:off x="685800" y="2194560"/>
            <a:ext cx="5212080" cy="3840480"/>
          </a:xfrm>
          <a:prstGeom prst="rect">
            <a:avLst/>
          </a:prstGeom>
          <a:noFill/>
        </p:spPr>
        <p:txBody>
          <a:bodyPr wrap="square">
            <a:spAutoFit/>
          </a:bodyPr>
          <a:lstStyle/>
          <a:p>
            <a:pPr>
              <a:spcAft>
                <a:spcPts val="300"/>
              </a:spcAft>
            </a:pPr>
            <a:r>
              <a:rPr sz="1600">
                <a:solidFill>
                  <a:srgbClr val="14293D"/>
                </a:solidFill>
                <a:latin typeface="Calibri"/>
              </a:rPr>
              <a:t>• Gestionar catálogo, usuarios, préstamos, devoluciones y multas aplicando POO y UML, con datos en archivos JSON</a:t>
            </a:r>
          </a:p>
        </p:txBody>
      </p:sp>
      <p:sp>
        <p:nvSpPr>
          <p:cNvPr id="10" name="TextBox 9"/>
          <p:cNvSpPr txBox="1"/>
          <p:nvPr/>
        </p:nvSpPr>
        <p:spPr>
          <a:xfrm>
            <a:off x="685800" y="3063240"/>
            <a:ext cx="5212080" cy="3017520"/>
          </a:xfrm>
          <a:prstGeom prst="rect">
            <a:avLst/>
          </a:prstGeom>
          <a:noFill/>
        </p:spPr>
        <p:txBody>
          <a:bodyPr wrap="square">
            <a:spAutoFit/>
          </a:bodyPr>
          <a:lstStyle/>
          <a:p>
            <a:pPr>
              <a:spcAft>
                <a:spcPts val="600"/>
              </a:spcAft>
            </a:pPr>
            <a:r>
              <a:rPr b="1" sz="1600">
                <a:solidFill>
                  <a:srgbClr val="14293D"/>
                </a:solidFill>
                <a:latin typeface="Calibri"/>
              </a:rPr>
              <a:t>• Específicos:</a:t>
            </a:r>
            <a:r>
              <a:rPr sz="1600">
                <a:solidFill>
                  <a:srgbClr val="14293D"/>
                </a:solidFill>
                <a:latin typeface="Calibri"/>
              </a:rPr>
              <a:t> analizar y documentar, modelar en UML, implementar POO, persistir en JSON, construir la interfaz, probar y versionar en GitHub</a:t>
            </a:r>
          </a:p>
        </p:txBody>
      </p:sp>
      <p:sp>
        <p:nvSpPr>
          <p:cNvPr id="11" name="Rounded Rectangle 10"/>
          <p:cNvSpPr/>
          <p:nvPr/>
        </p:nvSpPr>
        <p:spPr>
          <a:xfrm>
            <a:off x="6217920" y="1645920"/>
            <a:ext cx="5440680" cy="228600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737360"/>
            <a:ext cx="5166360" cy="411480"/>
          </a:xfrm>
          <a:prstGeom prst="rect">
            <a:avLst/>
          </a:prstGeom>
          <a:noFill/>
        </p:spPr>
        <p:txBody>
          <a:bodyPr wrap="square" anchor="t" lIns="45720" rIns="45720">
            <a:spAutoFit/>
          </a:bodyPr>
          <a:lstStyle/>
          <a:p>
            <a:pPr algn="l"/>
            <a:r>
              <a:rPr sz="1700" b="1">
                <a:solidFill>
                  <a:srgbClr val="1F4E79"/>
                </a:solidFill>
                <a:latin typeface="Calibri"/>
              </a:rPr>
              <a:t>Alcance: 5 módulos</a:t>
            </a:r>
          </a:p>
        </p:txBody>
      </p:sp>
      <p:sp>
        <p:nvSpPr>
          <p:cNvPr id="13" name="TextBox 12"/>
          <p:cNvSpPr txBox="1"/>
          <p:nvPr/>
        </p:nvSpPr>
        <p:spPr>
          <a:xfrm>
            <a:off x="6355080" y="2194560"/>
            <a:ext cx="5166360" cy="1645920"/>
          </a:xfrm>
          <a:prstGeom prst="rect">
            <a:avLst/>
          </a:prstGeom>
          <a:noFill/>
        </p:spPr>
        <p:txBody>
          <a:bodyPr wrap="square">
            <a:spAutoFit/>
          </a:bodyPr>
          <a:lstStyle/>
          <a:p>
            <a:pPr>
              <a:spcAft>
                <a:spcPts val="300"/>
              </a:spcAft>
            </a:pPr>
            <a:r>
              <a:rPr sz="1600">
                <a:solidFill>
                  <a:srgbClr val="14293D"/>
                </a:solidFill>
                <a:latin typeface="Calibri"/>
              </a:rPr>
              <a:t>• Libros · Usuarios · Préstamos</a:t>
            </a:r>
          </a:p>
          <a:p>
            <a:pPr>
              <a:spcAft>
                <a:spcPts val="300"/>
              </a:spcAft>
            </a:pPr>
            <a:r>
              <a:rPr sz="1600">
                <a:solidFill>
                  <a:srgbClr val="14293D"/>
                </a:solidFill>
                <a:latin typeface="Calibri"/>
              </a:rPr>
              <a:t>• Devoluciones y multas · Reportes</a:t>
            </a:r>
          </a:p>
        </p:txBody>
      </p:sp>
      <p:sp>
        <p:nvSpPr>
          <p:cNvPr id="14" name="Rounded Rectangle 13"/>
          <p:cNvSpPr/>
          <p:nvPr/>
        </p:nvSpPr>
        <p:spPr>
          <a:xfrm>
            <a:off x="6217920" y="4069080"/>
            <a:ext cx="5440680" cy="205740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160520"/>
            <a:ext cx="5166360" cy="411480"/>
          </a:xfrm>
          <a:prstGeom prst="rect">
            <a:avLst/>
          </a:prstGeom>
          <a:noFill/>
        </p:spPr>
        <p:txBody>
          <a:bodyPr wrap="square" anchor="t" lIns="45720" rIns="45720">
            <a:spAutoFit/>
          </a:bodyPr>
          <a:lstStyle/>
          <a:p>
            <a:pPr algn="l"/>
            <a:r>
              <a:rPr sz="1700" b="1">
                <a:solidFill>
                  <a:srgbClr val="1F4E79"/>
                </a:solidFill>
                <a:latin typeface="Calibri"/>
              </a:rPr>
              <a:t>Limitaciones</a:t>
            </a:r>
          </a:p>
        </p:txBody>
      </p:sp>
      <p:sp>
        <p:nvSpPr>
          <p:cNvPr id="16" name="TextBox 15"/>
          <p:cNvSpPr txBox="1"/>
          <p:nvPr/>
        </p:nvSpPr>
        <p:spPr>
          <a:xfrm>
            <a:off x="6355080" y="4617720"/>
            <a:ext cx="5166360" cy="1417320"/>
          </a:xfrm>
          <a:prstGeom prst="rect">
            <a:avLst/>
          </a:prstGeom>
          <a:noFill/>
        </p:spPr>
        <p:txBody>
          <a:bodyPr wrap="square">
            <a:spAutoFit/>
          </a:bodyPr>
          <a:lstStyle/>
          <a:p>
            <a:pPr>
              <a:spcAft>
                <a:spcPts val="300"/>
              </a:spcAft>
            </a:pPr>
            <a:r>
              <a:rPr sz="1500">
                <a:solidFill>
                  <a:srgbClr val="14293D"/>
                </a:solidFill>
                <a:latin typeface="Calibri"/>
              </a:rPr>
              <a:t>• Un solo puesto de trabajo, sin inicio de sesión</a:t>
            </a:r>
          </a:p>
          <a:p>
            <a:pPr>
              <a:spcAft>
                <a:spcPts val="300"/>
              </a:spcAft>
            </a:pPr>
            <a:r>
              <a:rPr sz="1500">
                <a:solidFill>
                  <a:srgbClr val="14293D"/>
                </a:solidFill>
                <a:latin typeface="Calibri"/>
              </a:rPr>
              <a:t>• Sin reservas ni notificaciones; una política de multa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Requisitos</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34 funcionales, 11 no funcionales y 9 reglas del negocio</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4</a:t>
            </a:r>
          </a:p>
        </p:txBody>
      </p:sp>
      <p:graphicFrame>
        <p:nvGraphicFramePr>
          <p:cNvPr id="7" name="Table 6"/>
          <p:cNvGraphicFramePr>
            <a:graphicFrameLocks noGrp="1"/>
          </p:cNvGraphicFramePr>
          <p:nvPr/>
        </p:nvGraphicFramePr>
        <p:xfrm>
          <a:off x="548640" y="1600200"/>
          <a:ext cx="7498080" cy="4206240"/>
        </p:xfrm>
        <a:graphic>
          <a:graphicData uri="http://schemas.openxmlformats.org/drawingml/2006/table">
            <a:tbl>
              <a:tblPr firstRow="1" bandRow="1">
                <a:tableStyleId>{5C22544A-7EE6-4342-B048-85BDC9FD1C3A}</a:tableStyleId>
              </a:tblPr>
              <a:tblGrid>
                <a:gridCol w="2377440"/>
                <a:gridCol w="1737360"/>
                <a:gridCol w="3383280"/>
              </a:tblGrid>
              <a:tr h="525780">
                <a:tc>
                  <a:txBody>
                    <a:bodyPr/>
                    <a:lstStyle/>
                    <a:p>
                      <a:r>
                        <a:rPr sz="1400" b="1">
                          <a:solidFill>
                            <a:srgbClr val="FFFFFF"/>
                          </a:solidFill>
                          <a:latin typeface="Calibri"/>
                        </a:rPr>
                        <a:t>Módulo</a:t>
                      </a:r>
                    </a:p>
                  </a:txBody>
                  <a:tcPr>
                    <a:solidFill>
                      <a:srgbClr val="1F4E79"/>
                    </a:solidFill>
                  </a:tcPr>
                </a:tc>
                <a:tc>
                  <a:txBody>
                    <a:bodyPr/>
                    <a:lstStyle/>
                    <a:p>
                      <a:r>
                        <a:rPr sz="1400" b="1">
                          <a:solidFill>
                            <a:srgbClr val="FFFFFF"/>
                          </a:solidFill>
                          <a:latin typeface="Calibri"/>
                        </a:rPr>
                        <a:t>Requisitos</a:t>
                      </a:r>
                    </a:p>
                  </a:txBody>
                  <a:tcPr>
                    <a:solidFill>
                      <a:srgbClr val="1F4E79"/>
                    </a:solidFill>
                  </a:tcPr>
                </a:tc>
                <a:tc>
                  <a:txBody>
                    <a:bodyPr/>
                    <a:lstStyle/>
                    <a:p>
                      <a:r>
                        <a:rPr sz="1400" b="1">
                          <a:solidFill>
                            <a:srgbClr val="FFFFFF"/>
                          </a:solidFill>
                          <a:latin typeface="Calibri"/>
                        </a:rPr>
                        <a:t>Ejemplo</a:t>
                      </a:r>
                    </a:p>
                  </a:txBody>
                  <a:tcPr>
                    <a:solidFill>
                      <a:srgbClr val="1F4E79"/>
                    </a:solidFill>
                  </a:tcPr>
                </a:tc>
              </a:tr>
              <a:tr h="525780">
                <a:tc>
                  <a:txBody>
                    <a:bodyPr/>
                    <a:lstStyle/>
                    <a:p>
                      <a:r>
                        <a:rPr sz="1400" b="0">
                          <a:solidFill>
                            <a:srgbClr val="14293D"/>
                          </a:solidFill>
                          <a:latin typeface="Calibri"/>
                        </a:rPr>
                        <a:t>Libros</a:t>
                      </a:r>
                    </a:p>
                  </a:txBody>
                  <a:tcPr>
                    <a:solidFill>
                      <a:srgbClr val="FFFFFF"/>
                    </a:solidFill>
                  </a:tcPr>
                </a:tc>
                <a:tc>
                  <a:txBody>
                    <a:bodyPr/>
                    <a:lstStyle/>
                    <a:p>
                      <a:r>
                        <a:rPr sz="1400" b="0">
                          <a:solidFill>
                            <a:srgbClr val="14293D"/>
                          </a:solidFill>
                          <a:latin typeface="Calibri"/>
                        </a:rPr>
                        <a:t>RF-01 a RF-07</a:t>
                      </a:r>
                    </a:p>
                  </a:txBody>
                  <a:tcPr>
                    <a:solidFill>
                      <a:srgbClr val="FFFFFF"/>
                    </a:solidFill>
                  </a:tcPr>
                </a:tc>
                <a:tc>
                  <a:txBody>
                    <a:bodyPr/>
                    <a:lstStyle/>
                    <a:p>
                      <a:r>
                        <a:rPr sz="1400" b="0">
                          <a:solidFill>
                            <a:srgbClr val="14293D"/>
                          </a:solidFill>
                          <a:latin typeface="Calibri"/>
                        </a:rPr>
                        <a:t>ISBN único; disponibilidad automática</a:t>
                      </a:r>
                    </a:p>
                  </a:txBody>
                  <a:tcPr>
                    <a:solidFill>
                      <a:srgbClr val="FFFFFF"/>
                    </a:solidFill>
                  </a:tcPr>
                </a:tc>
              </a:tr>
              <a:tr h="525780">
                <a:tc>
                  <a:txBody>
                    <a:bodyPr/>
                    <a:lstStyle/>
                    <a:p>
                      <a:r>
                        <a:rPr sz="1400" b="0">
                          <a:solidFill>
                            <a:srgbClr val="14293D"/>
                          </a:solidFill>
                          <a:latin typeface="Calibri"/>
                        </a:rPr>
                        <a:t>Usuarios</a:t>
                      </a:r>
                    </a:p>
                  </a:txBody>
                  <a:tcPr>
                    <a:solidFill>
                      <a:srgbClr val="EAF1F8"/>
                    </a:solidFill>
                  </a:tcPr>
                </a:tc>
                <a:tc>
                  <a:txBody>
                    <a:bodyPr/>
                    <a:lstStyle/>
                    <a:p>
                      <a:r>
                        <a:rPr sz="1400" b="0">
                          <a:solidFill>
                            <a:srgbClr val="14293D"/>
                          </a:solidFill>
                          <a:latin typeface="Calibri"/>
                        </a:rPr>
                        <a:t>RF-08 a RF-11</a:t>
                      </a:r>
                    </a:p>
                  </a:txBody>
                  <a:tcPr>
                    <a:solidFill>
                      <a:srgbClr val="EAF1F8"/>
                    </a:solidFill>
                  </a:tcPr>
                </a:tc>
                <a:tc>
                  <a:txBody>
                    <a:bodyPr/>
                    <a:lstStyle/>
                    <a:p>
                      <a:r>
                        <a:rPr sz="1400" b="0">
                          <a:solidFill>
                            <a:srgbClr val="14293D"/>
                          </a:solidFill>
                          <a:latin typeface="Calibri"/>
                        </a:rPr>
                        <a:t>DPI de 13 dígitos; DPI y carnet únicos</a:t>
                      </a:r>
                    </a:p>
                  </a:txBody>
                  <a:tcPr>
                    <a:solidFill>
                      <a:srgbClr val="EAF1F8"/>
                    </a:solidFill>
                  </a:tcPr>
                </a:tc>
              </a:tr>
              <a:tr h="525780">
                <a:tc>
                  <a:txBody>
                    <a:bodyPr/>
                    <a:lstStyle/>
                    <a:p>
                      <a:r>
                        <a:rPr sz="1400" b="0">
                          <a:solidFill>
                            <a:srgbClr val="14293D"/>
                          </a:solidFill>
                          <a:latin typeface="Calibri"/>
                        </a:rPr>
                        <a:t>Préstamos</a:t>
                      </a:r>
                    </a:p>
                  </a:txBody>
                  <a:tcPr>
                    <a:solidFill>
                      <a:srgbClr val="FFFFFF"/>
                    </a:solidFill>
                  </a:tcPr>
                </a:tc>
                <a:tc>
                  <a:txBody>
                    <a:bodyPr/>
                    <a:lstStyle/>
                    <a:p>
                      <a:r>
                        <a:rPr sz="1400" b="0">
                          <a:solidFill>
                            <a:srgbClr val="14293D"/>
                          </a:solidFill>
                          <a:latin typeface="Calibri"/>
                        </a:rPr>
                        <a:t>RF-12 a RF-17</a:t>
                      </a:r>
                    </a:p>
                  </a:txBody>
                  <a:tcPr>
                    <a:solidFill>
                      <a:srgbClr val="FFFFFF"/>
                    </a:solidFill>
                  </a:tcPr>
                </a:tc>
                <a:tc>
                  <a:txBody>
                    <a:bodyPr/>
                    <a:lstStyle/>
                    <a:p>
                      <a:r>
                        <a:rPr sz="1400" b="0">
                          <a:solidFill>
                            <a:srgbClr val="14293D"/>
                          </a:solidFill>
                          <a:latin typeface="Calibri"/>
                        </a:rPr>
                        <a:t>Plazo 7 / 14 días; máx. 2 renovaciones</a:t>
                      </a:r>
                    </a:p>
                  </a:txBody>
                  <a:tcPr>
                    <a:solidFill>
                      <a:srgbClr val="FFFFFF"/>
                    </a:solidFill>
                  </a:tcPr>
                </a:tc>
              </a:tr>
              <a:tr h="525780">
                <a:tc>
                  <a:txBody>
                    <a:bodyPr/>
                    <a:lstStyle/>
                    <a:p>
                      <a:r>
                        <a:rPr sz="1400" b="0">
                          <a:solidFill>
                            <a:srgbClr val="14293D"/>
                          </a:solidFill>
                          <a:latin typeface="Calibri"/>
                        </a:rPr>
                        <a:t>Devoluciones y multas</a:t>
                      </a:r>
                    </a:p>
                  </a:txBody>
                  <a:tcPr>
                    <a:solidFill>
                      <a:srgbClr val="EAF1F8"/>
                    </a:solidFill>
                  </a:tcPr>
                </a:tc>
                <a:tc>
                  <a:txBody>
                    <a:bodyPr/>
                    <a:lstStyle/>
                    <a:p>
                      <a:r>
                        <a:rPr sz="1400" b="0">
                          <a:solidFill>
                            <a:srgbClr val="14293D"/>
                          </a:solidFill>
                          <a:latin typeface="Calibri"/>
                        </a:rPr>
                        <a:t>RF-18 a RF-22</a:t>
                      </a:r>
                    </a:p>
                  </a:txBody>
                  <a:tcPr>
                    <a:solidFill>
                      <a:srgbClr val="EAF1F8"/>
                    </a:solidFill>
                  </a:tcPr>
                </a:tc>
                <a:tc>
                  <a:txBody>
                    <a:bodyPr/>
                    <a:lstStyle/>
                    <a:p>
                      <a:r>
                        <a:rPr sz="1400" b="0">
                          <a:solidFill>
                            <a:srgbClr val="14293D"/>
                          </a:solidFill>
                          <a:latin typeface="Calibri"/>
                        </a:rPr>
                        <a:t>Q2.00 por día, tope Q100.00</a:t>
                      </a:r>
                    </a:p>
                  </a:txBody>
                  <a:tcPr>
                    <a:solidFill>
                      <a:srgbClr val="EAF1F8"/>
                    </a:solidFill>
                  </a:tcPr>
                </a:tc>
              </a:tr>
              <a:tr h="525780">
                <a:tc>
                  <a:txBody>
                    <a:bodyPr/>
                    <a:lstStyle/>
                    <a:p>
                      <a:r>
                        <a:rPr sz="1400" b="0">
                          <a:solidFill>
                            <a:srgbClr val="14293D"/>
                          </a:solidFill>
                          <a:latin typeface="Calibri"/>
                        </a:rPr>
                        <a:t>Reportes</a:t>
                      </a:r>
                    </a:p>
                  </a:txBody>
                  <a:tcPr>
                    <a:solidFill>
                      <a:srgbClr val="FFFFFF"/>
                    </a:solidFill>
                  </a:tcPr>
                </a:tc>
                <a:tc>
                  <a:txBody>
                    <a:bodyPr/>
                    <a:lstStyle/>
                    <a:p>
                      <a:r>
                        <a:rPr sz="1400" b="0">
                          <a:solidFill>
                            <a:srgbClr val="14293D"/>
                          </a:solidFill>
                          <a:latin typeface="Calibri"/>
                        </a:rPr>
                        <a:t>RF-23 a RF-28</a:t>
                      </a:r>
                    </a:p>
                  </a:txBody>
                  <a:tcPr>
                    <a:solidFill>
                      <a:srgbClr val="FFFFFF"/>
                    </a:solidFill>
                  </a:tcPr>
                </a:tc>
                <a:tc>
                  <a:txBody>
                    <a:bodyPr/>
                    <a:lstStyle/>
                    <a:p>
                      <a:r>
                        <a:rPr sz="1400" b="0">
                          <a:solidFill>
                            <a:srgbClr val="14293D"/>
                          </a:solidFill>
                          <a:latin typeface="Calibri"/>
                        </a:rPr>
                        <a:t>5 reportes y exportación a CSV</a:t>
                      </a:r>
                    </a:p>
                  </a:txBody>
                  <a:tcPr>
                    <a:solidFill>
                      <a:srgbClr val="FFFFFF"/>
                    </a:solidFill>
                  </a:tcPr>
                </a:tc>
              </a:tr>
              <a:tr h="525780">
                <a:tc>
                  <a:txBody>
                    <a:bodyPr/>
                    <a:lstStyle/>
                    <a:p>
                      <a:r>
                        <a:rPr sz="1400" b="0">
                          <a:solidFill>
                            <a:srgbClr val="14293D"/>
                          </a:solidFill>
                          <a:latin typeface="Calibri"/>
                        </a:rPr>
                        <a:t>Persistencia</a:t>
                      </a:r>
                    </a:p>
                  </a:txBody>
                  <a:tcPr>
                    <a:solidFill>
                      <a:srgbClr val="EAF1F8"/>
                    </a:solidFill>
                  </a:tcPr>
                </a:tc>
                <a:tc>
                  <a:txBody>
                    <a:bodyPr/>
                    <a:lstStyle/>
                    <a:p>
                      <a:r>
                        <a:rPr sz="1400" b="0">
                          <a:solidFill>
                            <a:srgbClr val="14293D"/>
                          </a:solidFill>
                          <a:latin typeface="Calibri"/>
                        </a:rPr>
                        <a:t>RF-29 a RF-31</a:t>
                      </a:r>
                    </a:p>
                  </a:txBody>
                  <a:tcPr>
                    <a:solidFill>
                      <a:srgbClr val="EAF1F8"/>
                    </a:solidFill>
                  </a:tcPr>
                </a:tc>
                <a:tc>
                  <a:txBody>
                    <a:bodyPr/>
                    <a:lstStyle/>
                    <a:p>
                      <a:r>
                        <a:rPr sz="1400" b="0">
                          <a:solidFill>
                            <a:srgbClr val="14293D"/>
                          </a:solidFill>
                          <a:latin typeface="Calibri"/>
                        </a:rPr>
                        <a:t>Guardar y recuperar en JSON</a:t>
                      </a:r>
                    </a:p>
                  </a:txBody>
                  <a:tcPr>
                    <a:solidFill>
                      <a:srgbClr val="EAF1F8"/>
                    </a:solidFill>
                  </a:tcPr>
                </a:tc>
              </a:tr>
              <a:tr h="525780">
                <a:tc>
                  <a:txBody>
                    <a:bodyPr/>
                    <a:lstStyle/>
                    <a:p>
                      <a:r>
                        <a:rPr sz="1400" b="0">
                          <a:solidFill>
                            <a:srgbClr val="14293D"/>
                          </a:solidFill>
                          <a:latin typeface="Calibri"/>
                        </a:rPr>
                        <a:t>Interfaz</a:t>
                      </a:r>
                    </a:p>
                  </a:txBody>
                  <a:tcPr>
                    <a:solidFill>
                      <a:srgbClr val="FFFFFF"/>
                    </a:solidFill>
                  </a:tcPr>
                </a:tc>
                <a:tc>
                  <a:txBody>
                    <a:bodyPr/>
                    <a:lstStyle/>
                    <a:p>
                      <a:r>
                        <a:rPr sz="1400" b="0">
                          <a:solidFill>
                            <a:srgbClr val="14293D"/>
                          </a:solidFill>
                          <a:latin typeface="Calibri"/>
                        </a:rPr>
                        <a:t>RF-32 a RF-34</a:t>
                      </a:r>
                    </a:p>
                  </a:txBody>
                  <a:tcPr>
                    <a:solidFill>
                      <a:srgbClr val="FFFFFF"/>
                    </a:solidFill>
                  </a:tcPr>
                </a:tc>
                <a:tc>
                  <a:txBody>
                    <a:bodyPr/>
                    <a:lstStyle/>
                    <a:p>
                      <a:r>
                        <a:rPr sz="1400" b="0">
                          <a:solidFill>
                            <a:srgbClr val="14293D"/>
                          </a:solidFill>
                          <a:latin typeface="Calibri"/>
                        </a:rPr>
                        <a:t>Menú, formularios, confirmaciones</a:t>
                      </a:r>
                    </a:p>
                  </a:txBody>
                  <a:tcPr>
                    <a:solidFill>
                      <a:srgbClr val="FFFFFF"/>
                    </a:solidFill>
                  </a:tcPr>
                </a:tc>
              </a:tr>
            </a:tbl>
          </a:graphicData>
        </a:graphic>
      </p:graphicFrame>
      <p:sp>
        <p:nvSpPr>
          <p:cNvPr id="8" name="Rounded Rectangle 7"/>
          <p:cNvSpPr/>
          <p:nvPr/>
        </p:nvSpPr>
        <p:spPr>
          <a:xfrm>
            <a:off x="8321040" y="1600200"/>
            <a:ext cx="3337560" cy="214884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1691640"/>
            <a:ext cx="3063240" cy="411480"/>
          </a:xfrm>
          <a:prstGeom prst="rect">
            <a:avLst/>
          </a:prstGeom>
          <a:noFill/>
        </p:spPr>
        <p:txBody>
          <a:bodyPr wrap="square" anchor="t" lIns="45720" rIns="45720">
            <a:spAutoFit/>
          </a:bodyPr>
          <a:lstStyle/>
          <a:p>
            <a:pPr algn="l"/>
            <a:r>
              <a:rPr sz="1700" b="1">
                <a:solidFill>
                  <a:srgbClr val="1F4E79"/>
                </a:solidFill>
                <a:latin typeface="Calibri"/>
              </a:rPr>
              <a:t>No funcionales</a:t>
            </a:r>
          </a:p>
        </p:txBody>
      </p:sp>
      <p:sp>
        <p:nvSpPr>
          <p:cNvPr id="10" name="TextBox 9"/>
          <p:cNvSpPr txBox="1"/>
          <p:nvPr/>
        </p:nvSpPr>
        <p:spPr>
          <a:xfrm>
            <a:off x="8458200" y="2148840"/>
            <a:ext cx="3063240" cy="1508760"/>
          </a:xfrm>
          <a:prstGeom prst="rect">
            <a:avLst/>
          </a:prstGeom>
          <a:noFill/>
        </p:spPr>
        <p:txBody>
          <a:bodyPr wrap="square">
            <a:spAutoFit/>
          </a:bodyPr>
          <a:lstStyle/>
          <a:p>
            <a:pPr>
              <a:spcAft>
                <a:spcPts val="300"/>
              </a:spcAft>
            </a:pPr>
            <a:r>
              <a:rPr sz="1400">
                <a:solidFill>
                  <a:srgbClr val="14293D"/>
                </a:solidFill>
                <a:latin typeface="Calibri"/>
              </a:rPr>
              <a:t>• C# / .NET 8, POO y UML</a:t>
            </a:r>
          </a:p>
          <a:p>
            <a:pPr>
              <a:spcAft>
                <a:spcPts val="300"/>
              </a:spcAft>
            </a:pPr>
            <a:r>
              <a:rPr sz="1400">
                <a:solidFill>
                  <a:srgbClr val="14293D"/>
                </a:solidFill>
                <a:latin typeface="Calibri"/>
              </a:rPr>
              <a:t>• Datos JSON en UTF-8</a:t>
            </a:r>
          </a:p>
          <a:p>
            <a:pPr>
              <a:spcAft>
                <a:spcPts val="300"/>
              </a:spcAft>
            </a:pPr>
            <a:r>
              <a:rPr sz="1400">
                <a:solidFill>
                  <a:srgbClr val="14293D"/>
                </a:solidFill>
                <a:latin typeface="Calibri"/>
              </a:rPr>
              <a:t>• Portable y probable</a:t>
            </a:r>
          </a:p>
        </p:txBody>
      </p:sp>
      <p:sp>
        <p:nvSpPr>
          <p:cNvPr id="11" name="Rounded Rectangle 10"/>
          <p:cNvSpPr/>
          <p:nvPr/>
        </p:nvSpPr>
        <p:spPr>
          <a:xfrm>
            <a:off x="8321040" y="3886200"/>
            <a:ext cx="3337560" cy="214884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58200" y="3977639"/>
            <a:ext cx="3063240" cy="411480"/>
          </a:xfrm>
          <a:prstGeom prst="rect">
            <a:avLst/>
          </a:prstGeom>
          <a:noFill/>
        </p:spPr>
        <p:txBody>
          <a:bodyPr wrap="square" anchor="t" lIns="45720" rIns="45720">
            <a:spAutoFit/>
          </a:bodyPr>
          <a:lstStyle/>
          <a:p>
            <a:pPr algn="l"/>
            <a:r>
              <a:rPr sz="1700" b="1">
                <a:solidFill>
                  <a:srgbClr val="1F4E79"/>
                </a:solidFill>
                <a:latin typeface="Calibri"/>
              </a:rPr>
              <a:t>Reglas del negocio</a:t>
            </a:r>
          </a:p>
        </p:txBody>
      </p:sp>
      <p:sp>
        <p:nvSpPr>
          <p:cNvPr id="13" name="TextBox 12"/>
          <p:cNvSpPr txBox="1"/>
          <p:nvPr/>
        </p:nvSpPr>
        <p:spPr>
          <a:xfrm>
            <a:off x="8458200" y="4434840"/>
            <a:ext cx="3063240" cy="1508760"/>
          </a:xfrm>
          <a:prstGeom prst="rect">
            <a:avLst/>
          </a:prstGeom>
          <a:noFill/>
        </p:spPr>
        <p:txBody>
          <a:bodyPr wrap="square">
            <a:spAutoFit/>
          </a:bodyPr>
          <a:lstStyle/>
          <a:p>
            <a:pPr>
              <a:spcAft>
                <a:spcPts val="300"/>
              </a:spcAft>
            </a:pPr>
            <a:r>
              <a:rPr sz="1400">
                <a:solidFill>
                  <a:srgbClr val="14293D"/>
                </a:solidFill>
                <a:latin typeface="Calibri"/>
              </a:rPr>
              <a:t>• Sin multas ni atrasos para prestar</a:t>
            </a:r>
          </a:p>
          <a:p>
            <a:pPr>
              <a:spcAft>
                <a:spcPts val="300"/>
              </a:spcAft>
            </a:pPr>
            <a:r>
              <a:rPr sz="1400">
                <a:solidFill>
                  <a:srgbClr val="14293D"/>
                </a:solidFill>
                <a:latin typeface="Calibri"/>
              </a:rPr>
              <a:t>• No se elimina lo que tiene historial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Actores y casos de uso</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18 casos de uso agrupados por módulo</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5</a:t>
            </a:r>
          </a:p>
        </p:txBody>
      </p:sp>
      <p:pic>
        <p:nvPicPr>
          <p:cNvPr id="7" name="Picture 6" descr="diagrama-casos-de-uso.png"/>
          <p:cNvPicPr>
            <a:picLocks noChangeAspect="1"/>
          </p:cNvPicPr>
          <p:nvPr/>
        </p:nvPicPr>
        <p:blipFill>
          <a:blip r:embed="rId3"/>
          <a:stretch>
            <a:fillRect/>
          </a:stretch>
        </p:blipFill>
        <p:spPr>
          <a:xfrm>
            <a:off x="1451283" y="1417320"/>
            <a:ext cx="5784233" cy="4937760"/>
          </a:xfrm>
          <a:prstGeom prst="rect">
            <a:avLst/>
          </a:prstGeom>
        </p:spPr>
      </p:pic>
      <p:sp>
        <p:nvSpPr>
          <p:cNvPr id="8" name="Rounded Rectangle 7"/>
          <p:cNvSpPr/>
          <p:nvPr/>
        </p:nvSpPr>
        <p:spPr>
          <a:xfrm>
            <a:off x="8321040" y="1645920"/>
            <a:ext cx="3337560" cy="438912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1737360"/>
            <a:ext cx="3063240" cy="411480"/>
          </a:xfrm>
          <a:prstGeom prst="rect">
            <a:avLst/>
          </a:prstGeom>
          <a:noFill/>
        </p:spPr>
        <p:txBody>
          <a:bodyPr wrap="square" anchor="t" lIns="45720" rIns="45720">
            <a:spAutoFit/>
          </a:bodyPr>
          <a:lstStyle/>
          <a:p>
            <a:pPr algn="l"/>
            <a:r>
              <a:rPr sz="1700" b="1">
                <a:solidFill>
                  <a:srgbClr val="1F4E79"/>
                </a:solidFill>
                <a:latin typeface="Calibri"/>
              </a:rPr>
              <a:t>Actores</a:t>
            </a:r>
          </a:p>
        </p:txBody>
      </p:sp>
      <p:sp>
        <p:nvSpPr>
          <p:cNvPr id="10" name="TextBox 9"/>
          <p:cNvSpPr txBox="1"/>
          <p:nvPr/>
        </p:nvSpPr>
        <p:spPr>
          <a:xfrm>
            <a:off x="8458200" y="2194560"/>
            <a:ext cx="3063240" cy="3749039"/>
          </a:xfrm>
          <a:prstGeom prst="rect">
            <a:avLst/>
          </a:prstGeom>
          <a:noFill/>
        </p:spPr>
        <p:txBody>
          <a:bodyPr wrap="square">
            <a:spAutoFit/>
          </a:bodyPr>
          <a:lstStyle/>
          <a:p>
            <a:pPr>
              <a:spcAft>
                <a:spcPts val="300"/>
              </a:spcAft>
            </a:pPr>
            <a:r>
              <a:rPr b="1" sz="1500">
                <a:solidFill>
                  <a:srgbClr val="14293D"/>
                </a:solidFill>
                <a:latin typeface="Calibri"/>
              </a:rPr>
              <a:t>• Bibliotecario:</a:t>
            </a:r>
            <a:r>
              <a:rPr sz="1500">
                <a:solidFill>
                  <a:srgbClr val="14293D"/>
                </a:solidFill>
                <a:latin typeface="Calibri"/>
              </a:rPr>
              <a:t> opera el sistema</a:t>
            </a:r>
          </a:p>
          <a:p>
            <a:pPr>
              <a:spcAft>
                <a:spcPts val="300"/>
              </a:spcAft>
            </a:pPr>
            <a:r>
              <a:rPr b="1" sz="1500">
                <a:solidFill>
                  <a:srgbClr val="14293D"/>
                </a:solidFill>
                <a:latin typeface="Calibri"/>
              </a:rPr>
              <a:t>• Lector:</a:t>
            </a:r>
            <a:r>
              <a:rPr sz="1500">
                <a:solidFill>
                  <a:srgbClr val="14293D"/>
                </a:solidFill>
                <a:latin typeface="Calibri"/>
              </a:rPr>
              <a:t> solicita libros; lo atiende el bibliotecario</a:t>
            </a:r>
          </a:p>
          <a:p>
            <a:pPr>
              <a:spcAft>
                <a:spcPts val="300"/>
              </a:spcAft>
            </a:pPr>
            <a:r>
              <a:rPr b="1" sz="1500">
                <a:solidFill>
                  <a:srgbClr val="14293D"/>
                </a:solidFill>
                <a:latin typeface="Calibri"/>
              </a:rPr>
              <a:t>• Archivos JSON:</a:t>
            </a:r>
            <a:r>
              <a:rPr sz="1500">
                <a:solidFill>
                  <a:srgbClr val="14293D"/>
                </a:solidFill>
                <a:latin typeface="Calibri"/>
              </a:rPr>
              <a:t> almacenamiento persistente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Diagrama de clases del dominio</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El código replica este modelo</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6</a:t>
            </a:r>
          </a:p>
        </p:txBody>
      </p:sp>
      <p:pic>
        <p:nvPicPr>
          <p:cNvPr id="7" name="Picture 6" descr="clases-dominio.png"/>
          <p:cNvPicPr>
            <a:picLocks noChangeAspect="1"/>
          </p:cNvPicPr>
          <p:nvPr/>
        </p:nvPicPr>
        <p:blipFill>
          <a:blip r:embed="rId3"/>
          <a:stretch>
            <a:fillRect/>
          </a:stretch>
        </p:blipFill>
        <p:spPr>
          <a:xfrm>
            <a:off x="973620" y="1371600"/>
            <a:ext cx="6831000" cy="5029200"/>
          </a:xfrm>
          <a:prstGeom prst="rect">
            <a:avLst/>
          </a:prstGeom>
        </p:spPr>
      </p:pic>
      <p:sp>
        <p:nvSpPr>
          <p:cNvPr id="8" name="Rounded Rectangle 7"/>
          <p:cNvSpPr/>
          <p:nvPr/>
        </p:nvSpPr>
        <p:spPr>
          <a:xfrm>
            <a:off x="8503920" y="1645920"/>
            <a:ext cx="3154680" cy="438912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41080" y="1737360"/>
            <a:ext cx="2880360" cy="411480"/>
          </a:xfrm>
          <a:prstGeom prst="rect">
            <a:avLst/>
          </a:prstGeom>
          <a:noFill/>
        </p:spPr>
        <p:txBody>
          <a:bodyPr wrap="square" anchor="t" lIns="45720" rIns="45720">
            <a:spAutoFit/>
          </a:bodyPr>
          <a:lstStyle/>
          <a:p>
            <a:pPr algn="l"/>
            <a:r>
              <a:rPr sz="1700" b="1">
                <a:solidFill>
                  <a:srgbClr val="1F4E79"/>
                </a:solidFill>
                <a:latin typeface="Calibri"/>
              </a:rPr>
              <a:t>POO aplicada</a:t>
            </a:r>
          </a:p>
        </p:txBody>
      </p:sp>
      <p:sp>
        <p:nvSpPr>
          <p:cNvPr id="10" name="TextBox 9"/>
          <p:cNvSpPr txBox="1"/>
          <p:nvPr/>
        </p:nvSpPr>
        <p:spPr>
          <a:xfrm>
            <a:off x="8641080" y="2194560"/>
            <a:ext cx="2880360" cy="3749039"/>
          </a:xfrm>
          <a:prstGeom prst="rect">
            <a:avLst/>
          </a:prstGeom>
          <a:noFill/>
        </p:spPr>
        <p:txBody>
          <a:bodyPr wrap="square">
            <a:spAutoFit/>
          </a:bodyPr>
          <a:lstStyle/>
          <a:p>
            <a:pPr>
              <a:spcAft>
                <a:spcPts val="300"/>
              </a:spcAft>
            </a:pPr>
            <a:r>
              <a:rPr sz="1400">
                <a:solidFill>
                  <a:srgbClr val="14293D"/>
                </a:solidFill>
                <a:latin typeface="Calibri"/>
              </a:rPr>
              <a:t>• Encapsulamiento: set privado</a:t>
            </a:r>
          </a:p>
          <a:p>
            <a:pPr>
              <a:spcAft>
                <a:spcPts val="300"/>
              </a:spcAft>
            </a:pPr>
            <a:r>
              <a:rPr sz="1400">
                <a:solidFill>
                  <a:srgbClr val="14293D"/>
                </a:solidFill>
                <a:latin typeface="Calibri"/>
              </a:rPr>
              <a:t>• Herencia: Persona → Lector / Bibliotecario</a:t>
            </a:r>
          </a:p>
          <a:p>
            <a:pPr>
              <a:spcAft>
                <a:spcPts val="300"/>
              </a:spcAft>
            </a:pPr>
            <a:r>
              <a:rPr sz="1400">
                <a:solidFill>
                  <a:srgbClr val="14293D"/>
                </a:solidFill>
                <a:latin typeface="Calibri"/>
              </a:rPr>
              <a:t>• Polimorfismo: límite y plazo por tipo</a:t>
            </a:r>
          </a:p>
          <a:p>
            <a:pPr>
              <a:spcAft>
                <a:spcPts val="300"/>
              </a:spcAft>
            </a:pPr>
            <a:r>
              <a:rPr sz="1400">
                <a:solidFill>
                  <a:srgbClr val="14293D"/>
                </a:solidFill>
                <a:latin typeface="Calibri"/>
              </a:rPr>
              <a:t>• Interfaces: IRepositorio, IReloj, ICalculadoraMulta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Diagrama de secuencia: registrar un préstamo</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Desde el formulario hasta los archivos JSON</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7</a:t>
            </a:r>
          </a:p>
        </p:txBody>
      </p:sp>
      <p:pic>
        <p:nvPicPr>
          <p:cNvPr id="7" name="Picture 6" descr="secuencia-prestamo.png"/>
          <p:cNvPicPr>
            <a:picLocks noChangeAspect="1"/>
          </p:cNvPicPr>
          <p:nvPr/>
        </p:nvPicPr>
        <p:blipFill>
          <a:blip r:embed="rId3"/>
          <a:stretch>
            <a:fillRect/>
          </a:stretch>
        </p:blipFill>
        <p:spPr>
          <a:xfrm>
            <a:off x="1182206" y="1463040"/>
            <a:ext cx="9797106" cy="48463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Diagramas de actividad y estados</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Reglas de préstamo y devolución con multa</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8</a:t>
            </a:r>
          </a:p>
        </p:txBody>
      </p:sp>
      <p:pic>
        <p:nvPicPr>
          <p:cNvPr id="7" name="Picture 6" descr="diagrama-actividad-prestamo.png"/>
          <p:cNvPicPr>
            <a:picLocks noChangeAspect="1"/>
          </p:cNvPicPr>
          <p:nvPr/>
        </p:nvPicPr>
        <p:blipFill>
          <a:blip r:embed="rId3"/>
          <a:stretch>
            <a:fillRect/>
          </a:stretch>
        </p:blipFill>
        <p:spPr>
          <a:xfrm>
            <a:off x="492705" y="1371600"/>
            <a:ext cx="4135228" cy="4983480"/>
          </a:xfrm>
          <a:prstGeom prst="rect">
            <a:avLst/>
          </a:prstGeom>
        </p:spPr>
      </p:pic>
      <p:pic>
        <p:nvPicPr>
          <p:cNvPr id="8" name="Picture 7" descr="diagrama-actividad-devolucion.png"/>
          <p:cNvPicPr>
            <a:picLocks noChangeAspect="1"/>
          </p:cNvPicPr>
          <p:nvPr/>
        </p:nvPicPr>
        <p:blipFill>
          <a:blip r:embed="rId4"/>
          <a:stretch>
            <a:fillRect/>
          </a:stretch>
        </p:blipFill>
        <p:spPr>
          <a:xfrm>
            <a:off x="4911534" y="1371600"/>
            <a:ext cx="3801490" cy="3840480"/>
          </a:xfrm>
          <a:prstGeom prst="rect">
            <a:avLst/>
          </a:prstGeom>
        </p:spPr>
      </p:pic>
      <p:pic>
        <p:nvPicPr>
          <p:cNvPr id="9" name="Picture 8" descr="estados-prestamo.png"/>
          <p:cNvPicPr>
            <a:picLocks noChangeAspect="1"/>
          </p:cNvPicPr>
          <p:nvPr/>
        </p:nvPicPr>
        <p:blipFill>
          <a:blip r:embed="rId5"/>
          <a:stretch>
            <a:fillRect/>
          </a:stretch>
        </p:blipFill>
        <p:spPr>
          <a:xfrm>
            <a:off x="8961120" y="1851402"/>
            <a:ext cx="2834640" cy="869194"/>
          </a:xfrm>
          <a:prstGeom prst="rect">
            <a:avLst/>
          </a:prstGeom>
        </p:spPr>
      </p:pic>
      <p:sp>
        <p:nvSpPr>
          <p:cNvPr id="10" name="TextBox 9"/>
          <p:cNvSpPr txBox="1"/>
          <p:nvPr/>
        </p:nvSpPr>
        <p:spPr>
          <a:xfrm>
            <a:off x="9006840" y="2880360"/>
            <a:ext cx="2743200" cy="457200"/>
          </a:xfrm>
          <a:prstGeom prst="rect">
            <a:avLst/>
          </a:prstGeom>
          <a:noFill/>
        </p:spPr>
        <p:txBody>
          <a:bodyPr wrap="square" anchor="t" lIns="45720" rIns="45720">
            <a:spAutoFit/>
          </a:bodyPr>
          <a:lstStyle/>
          <a:p>
            <a:pPr algn="l"/>
            <a:r>
              <a:rPr sz="1300" b="0">
                <a:solidFill>
                  <a:srgbClr val="5F6B7A"/>
                </a:solidFill>
                <a:latin typeface="Calibri"/>
              </a:rPr>
              <a:t>Estados del préstamo</a:t>
            </a:r>
          </a:p>
        </p:txBody>
      </p:sp>
      <p:sp>
        <p:nvSpPr>
          <p:cNvPr id="11" name="TextBox 10"/>
          <p:cNvSpPr txBox="1"/>
          <p:nvPr/>
        </p:nvSpPr>
        <p:spPr>
          <a:xfrm>
            <a:off x="9006840" y="3474720"/>
            <a:ext cx="2743200" cy="2743200"/>
          </a:xfrm>
          <a:prstGeom prst="rect">
            <a:avLst/>
          </a:prstGeom>
          <a:noFill/>
        </p:spPr>
        <p:txBody>
          <a:bodyPr wrap="square">
            <a:spAutoFit/>
          </a:bodyPr>
          <a:lstStyle/>
          <a:p>
            <a:pPr>
              <a:spcAft>
                <a:spcPts val="600"/>
              </a:spcAft>
            </a:pPr>
            <a:r>
              <a:rPr sz="1300">
                <a:solidFill>
                  <a:srgbClr val="14293D"/>
                </a:solidFill>
                <a:latin typeface="Calibri"/>
              </a:rPr>
              <a:t>• Atrasado: fecha actual posterior al vencimiento</a:t>
            </a:r>
          </a:p>
          <a:p>
            <a:pPr>
              <a:spcAft>
                <a:spcPts val="600"/>
              </a:spcAft>
            </a:pPr>
            <a:r>
              <a:rPr sz="1300">
                <a:solidFill>
                  <a:srgbClr val="14293D"/>
                </a:solidFill>
                <a:latin typeface="Calibri"/>
              </a:rPr>
              <a:t>• Multa = mín(días × Q2.00, Q100.00)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Arquitectura de la solución</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Tres proyectos, dependencias en un solo sentido</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9</a:t>
            </a:r>
          </a:p>
        </p:txBody>
      </p:sp>
      <p:pic>
        <p:nvPicPr>
          <p:cNvPr id="7" name="Picture 6" descr="arquitectura.png"/>
          <p:cNvPicPr>
            <a:picLocks noChangeAspect="1"/>
          </p:cNvPicPr>
          <p:nvPr/>
        </p:nvPicPr>
        <p:blipFill>
          <a:blip r:embed="rId3"/>
          <a:stretch>
            <a:fillRect/>
          </a:stretch>
        </p:blipFill>
        <p:spPr>
          <a:xfrm>
            <a:off x="847041" y="1463040"/>
            <a:ext cx="5438236" cy="4846320"/>
          </a:xfrm>
          <a:prstGeom prst="rect">
            <a:avLst/>
          </a:prstGeom>
        </p:spPr>
      </p:pic>
      <p:sp>
        <p:nvSpPr>
          <p:cNvPr id="8" name="Rounded Rectangle 7"/>
          <p:cNvSpPr/>
          <p:nvPr/>
        </p:nvSpPr>
        <p:spPr>
          <a:xfrm>
            <a:off x="6858000" y="1645920"/>
            <a:ext cx="4800600" cy="438912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5160" y="1737360"/>
            <a:ext cx="4526280" cy="411480"/>
          </a:xfrm>
          <a:prstGeom prst="rect">
            <a:avLst/>
          </a:prstGeom>
          <a:noFill/>
        </p:spPr>
        <p:txBody>
          <a:bodyPr wrap="square" anchor="t" lIns="45720" rIns="45720">
            <a:spAutoFit/>
          </a:bodyPr>
          <a:lstStyle/>
          <a:p>
            <a:pPr algn="l"/>
            <a:r>
              <a:rPr sz="1700" b="1">
                <a:solidFill>
                  <a:srgbClr val="1F4E79"/>
                </a:solidFill>
                <a:latin typeface="Calibri"/>
              </a:rPr>
              <a:t>Capas</a:t>
            </a:r>
          </a:p>
        </p:txBody>
      </p:sp>
      <p:sp>
        <p:nvSpPr>
          <p:cNvPr id="10" name="TextBox 9"/>
          <p:cNvSpPr txBox="1"/>
          <p:nvPr/>
        </p:nvSpPr>
        <p:spPr>
          <a:xfrm>
            <a:off x="6995160" y="2194560"/>
            <a:ext cx="4526280" cy="3749039"/>
          </a:xfrm>
          <a:prstGeom prst="rect">
            <a:avLst/>
          </a:prstGeom>
          <a:noFill/>
        </p:spPr>
        <p:txBody>
          <a:bodyPr wrap="square">
            <a:spAutoFit/>
          </a:bodyPr>
          <a:lstStyle/>
          <a:p>
            <a:pPr>
              <a:spcAft>
                <a:spcPts val="300"/>
              </a:spcAft>
            </a:pPr>
            <a:r>
              <a:rPr b="1" sz="1500">
                <a:solidFill>
                  <a:srgbClr val="14293D"/>
                </a:solidFill>
                <a:latin typeface="Calibri"/>
              </a:rPr>
              <a:t>• Biblioteca.App:</a:t>
            </a:r>
            <a:r>
              <a:rPr sz="1500">
                <a:solidFill>
                  <a:srgbClr val="14293D"/>
                </a:solidFill>
                <a:latin typeface="Calibri"/>
              </a:rPr>
              <a:t> interfaz Avalonia (XAML + C#), sin lógica de negocio</a:t>
            </a:r>
          </a:p>
          <a:p>
            <a:pPr>
              <a:spcAft>
                <a:spcPts val="300"/>
              </a:spcAft>
            </a:pPr>
            <a:r>
              <a:rPr b="1" sz="1500">
                <a:solidFill>
                  <a:srgbClr val="14293D"/>
                </a:solidFill>
                <a:latin typeface="Calibri"/>
              </a:rPr>
              <a:t>• Biblioteca.Core:</a:t>
            </a:r>
            <a:r>
              <a:rPr sz="1500">
                <a:solidFill>
                  <a:srgbClr val="14293D"/>
                </a:solidFill>
                <a:latin typeface="Calibri"/>
              </a:rPr>
              <a:t> modelos, servicios, políticas y repositorio JSON</a:t>
            </a:r>
          </a:p>
          <a:p>
            <a:pPr>
              <a:spcAft>
                <a:spcPts val="300"/>
              </a:spcAft>
            </a:pPr>
            <a:r>
              <a:rPr b="1" sz="1500">
                <a:solidFill>
                  <a:srgbClr val="14293D"/>
                </a:solidFill>
                <a:latin typeface="Calibri"/>
              </a:rPr>
              <a:t>• Biblioteca.Tests:</a:t>
            </a:r>
            <a:r>
              <a:rPr sz="1500">
                <a:solidFill>
                  <a:srgbClr val="14293D"/>
                </a:solidFill>
                <a:latin typeface="Calibri"/>
              </a:rPr>
              <a:t> 70 pruebas xUnit</a:t>
            </a:r>
          </a:p>
          <a:p>
            <a:pPr>
              <a:spcAft>
                <a:spcPts val="300"/>
              </a:spcAft>
            </a:pPr>
            <a:r>
              <a:rPr b="1" sz="1500">
                <a:solidFill>
                  <a:srgbClr val="14293D"/>
                </a:solidFill>
                <a:latin typeface="Calibri"/>
              </a:rPr>
              <a:t>• datos/:</a:t>
            </a:r>
            <a:r>
              <a:rPr sz="1500">
                <a:solidFill>
                  <a:srgbClr val="14293D"/>
                </a:solidFill>
                <a:latin typeface="Calibri"/>
              </a:rPr>
              <a:t> libros, usuarios, préstamos y multas en 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Funcionamiento de la interfaz</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Menú principal y navegación por módulos</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10</a:t>
            </a:r>
          </a:p>
        </p:txBody>
      </p:sp>
      <p:pic>
        <p:nvPicPr>
          <p:cNvPr id="7" name="Picture 6" descr="pantalla-inicio.png"/>
          <p:cNvPicPr>
            <a:picLocks noChangeAspect="1"/>
          </p:cNvPicPr>
          <p:nvPr/>
        </p:nvPicPr>
        <p:blipFill>
          <a:blip r:embed="rId3"/>
          <a:stretch>
            <a:fillRect/>
          </a:stretch>
        </p:blipFill>
        <p:spPr>
          <a:xfrm>
            <a:off x="548640" y="1601628"/>
            <a:ext cx="7498079" cy="4569142"/>
          </a:xfrm>
          <a:prstGeom prst="rect">
            <a:avLst/>
          </a:prstGeom>
          <a:ln w="9525">
            <a:solidFill>
              <a:srgbClr val="D5DDE7"/>
            </a:solidFill>
          </a:ln>
        </p:spPr>
      </p:pic>
      <p:sp>
        <p:nvSpPr>
          <p:cNvPr id="8" name="Rounded Rectangle 7"/>
          <p:cNvSpPr/>
          <p:nvPr/>
        </p:nvSpPr>
        <p:spPr>
          <a:xfrm>
            <a:off x="8229600" y="1645920"/>
            <a:ext cx="3429000" cy="438912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1737360"/>
            <a:ext cx="3154680" cy="411480"/>
          </a:xfrm>
          <a:prstGeom prst="rect">
            <a:avLst/>
          </a:prstGeom>
          <a:noFill/>
        </p:spPr>
        <p:txBody>
          <a:bodyPr wrap="square" anchor="t" lIns="45720" rIns="45720">
            <a:spAutoFit/>
          </a:bodyPr>
          <a:lstStyle/>
          <a:p>
            <a:pPr algn="l"/>
            <a:r>
              <a:rPr sz="1700" b="1">
                <a:solidFill>
                  <a:srgbClr val="1F4E79"/>
                </a:solidFill>
                <a:latin typeface="Calibri"/>
              </a:rPr>
              <a:t>Incluye</a:t>
            </a:r>
          </a:p>
        </p:txBody>
      </p:sp>
      <p:sp>
        <p:nvSpPr>
          <p:cNvPr id="10" name="TextBox 9"/>
          <p:cNvSpPr txBox="1"/>
          <p:nvPr/>
        </p:nvSpPr>
        <p:spPr>
          <a:xfrm>
            <a:off x="8366760" y="2194560"/>
            <a:ext cx="3154680" cy="3749039"/>
          </a:xfrm>
          <a:prstGeom prst="rect">
            <a:avLst/>
          </a:prstGeom>
          <a:noFill/>
        </p:spPr>
        <p:txBody>
          <a:bodyPr wrap="square">
            <a:spAutoFit/>
          </a:bodyPr>
          <a:lstStyle/>
          <a:p>
            <a:pPr>
              <a:spcAft>
                <a:spcPts val="300"/>
              </a:spcAft>
            </a:pPr>
            <a:r>
              <a:rPr sz="1500">
                <a:solidFill>
                  <a:srgbClr val="14293D"/>
                </a:solidFill>
                <a:latin typeface="Calibri"/>
              </a:rPr>
              <a:t>• Menú principal y botones de navegación</a:t>
            </a:r>
          </a:p>
          <a:p>
            <a:pPr>
              <a:spcAft>
                <a:spcPts val="300"/>
              </a:spcAft>
            </a:pPr>
            <a:r>
              <a:rPr sz="1500">
                <a:solidFill>
                  <a:srgbClr val="14293D"/>
                </a:solidFill>
                <a:latin typeface="Calibri"/>
              </a:rPr>
              <a:t>• Formularios de registro y edición</a:t>
            </a:r>
          </a:p>
          <a:p>
            <a:pPr>
              <a:spcAft>
                <a:spcPts val="300"/>
              </a:spcAft>
            </a:pPr>
            <a:r>
              <a:rPr sz="1500">
                <a:solidFill>
                  <a:srgbClr val="14293D"/>
                </a:solidFill>
                <a:latin typeface="Calibri"/>
              </a:rPr>
              <a:t>• Consulta con búsqueda y filtros</a:t>
            </a:r>
          </a:p>
          <a:p>
            <a:pPr>
              <a:spcAft>
                <a:spcPts val="300"/>
              </a:spcAft>
            </a:pPr>
            <a:r>
              <a:rPr sz="1500">
                <a:solidFill>
                  <a:srgbClr val="14293D"/>
                </a:solidFill>
                <a:latin typeface="Calibri"/>
              </a:rPr>
              <a:t>• Eliminación con confirmación</a:t>
            </a:r>
          </a:p>
          <a:p>
            <a:pPr>
              <a:spcAft>
                <a:spcPts val="300"/>
              </a:spcAft>
            </a:pPr>
            <a:r>
              <a:rPr sz="1500">
                <a:solidFill>
                  <a:srgbClr val="14293D"/>
                </a:solidFill>
                <a:latin typeface="Calibri"/>
              </a:rPr>
              <a:t>• Mensajes de error y validación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Registro de información</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Formularios con validación de datos</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11</a:t>
            </a:r>
          </a:p>
        </p:txBody>
      </p:sp>
      <p:pic>
        <p:nvPicPr>
          <p:cNvPr id="7" name="Picture 6" descr="form-libro-error.png"/>
          <p:cNvPicPr>
            <a:picLocks noChangeAspect="1"/>
          </p:cNvPicPr>
          <p:nvPr/>
        </p:nvPicPr>
        <p:blipFill>
          <a:blip r:embed="rId3"/>
          <a:stretch>
            <a:fillRect/>
          </a:stretch>
        </p:blipFill>
        <p:spPr>
          <a:xfrm>
            <a:off x="548640" y="1770017"/>
            <a:ext cx="3657600" cy="2952205"/>
          </a:xfrm>
          <a:prstGeom prst="rect">
            <a:avLst/>
          </a:prstGeom>
          <a:ln w="9525">
            <a:solidFill>
              <a:srgbClr val="D5DDE7"/>
            </a:solidFill>
          </a:ln>
        </p:spPr>
      </p:pic>
      <p:pic>
        <p:nvPicPr>
          <p:cNvPr id="8" name="Picture 7" descr="form-usuario-error.png"/>
          <p:cNvPicPr>
            <a:picLocks noChangeAspect="1"/>
          </p:cNvPicPr>
          <p:nvPr/>
        </p:nvPicPr>
        <p:blipFill>
          <a:blip r:embed="rId4"/>
          <a:stretch>
            <a:fillRect/>
          </a:stretch>
        </p:blipFill>
        <p:spPr>
          <a:xfrm>
            <a:off x="4343400" y="1665514"/>
            <a:ext cx="3657600" cy="3161211"/>
          </a:xfrm>
          <a:prstGeom prst="rect">
            <a:avLst/>
          </a:prstGeom>
          <a:ln w="9525">
            <a:solidFill>
              <a:srgbClr val="D5DDE7"/>
            </a:solidFill>
          </a:ln>
        </p:spPr>
      </p:pic>
      <p:pic>
        <p:nvPicPr>
          <p:cNvPr id="9" name="Picture 8" descr="form-prestamo-error.png"/>
          <p:cNvPicPr>
            <a:picLocks noChangeAspect="1"/>
          </p:cNvPicPr>
          <p:nvPr/>
        </p:nvPicPr>
        <p:blipFill>
          <a:blip r:embed="rId5"/>
          <a:stretch>
            <a:fillRect/>
          </a:stretch>
        </p:blipFill>
        <p:spPr>
          <a:xfrm>
            <a:off x="8138160" y="2093175"/>
            <a:ext cx="3520440" cy="2305888"/>
          </a:xfrm>
          <a:prstGeom prst="rect">
            <a:avLst/>
          </a:prstGeom>
          <a:ln w="9525">
            <a:solidFill>
              <a:srgbClr val="D5DDE7"/>
            </a:solidFill>
          </a:ln>
        </p:spPr>
      </p:pic>
      <p:sp>
        <p:nvSpPr>
          <p:cNvPr id="10" name="TextBox 9"/>
          <p:cNvSpPr txBox="1"/>
          <p:nvPr/>
        </p:nvSpPr>
        <p:spPr>
          <a:xfrm>
            <a:off x="548640" y="5120640"/>
            <a:ext cx="11064240" cy="365760"/>
          </a:xfrm>
          <a:prstGeom prst="rect">
            <a:avLst/>
          </a:prstGeom>
          <a:noFill/>
        </p:spPr>
        <p:txBody>
          <a:bodyPr wrap="square" anchor="t" lIns="45720" rIns="45720">
            <a:spAutoFit/>
          </a:bodyPr>
          <a:lstStyle/>
          <a:p>
            <a:pPr algn="l"/>
            <a:r>
              <a:rPr sz="1600" b="0">
                <a:solidFill>
                  <a:srgbClr val="5F6B7A"/>
                </a:solidFill>
                <a:latin typeface="Calibri"/>
              </a:rPr>
              <a:t>Los errores se muestran en el formulario; las reglas de negocio se validan en la capa de lógica.</a:t>
            </a:r>
          </a:p>
        </p:txBody>
      </p:sp>
      <p:sp>
        <p:nvSpPr>
          <p:cNvPr id="11" name="TextBox 10"/>
          <p:cNvSpPr txBox="1"/>
          <p:nvPr/>
        </p:nvSpPr>
        <p:spPr>
          <a:xfrm>
            <a:off x="548640" y="5532120"/>
            <a:ext cx="11064240" cy="822960"/>
          </a:xfrm>
          <a:prstGeom prst="rect">
            <a:avLst/>
          </a:prstGeom>
          <a:noFill/>
        </p:spPr>
        <p:txBody>
          <a:bodyPr wrap="square">
            <a:spAutoFit/>
          </a:bodyPr>
          <a:lstStyle/>
          <a:p>
            <a:pPr>
              <a:spcAft>
                <a:spcPts val="600"/>
              </a:spcAft>
            </a:pPr>
            <a:r>
              <a:rPr sz="1500">
                <a:solidFill>
                  <a:srgbClr val="14293D"/>
                </a:solidFill>
                <a:latin typeface="Calibri"/>
              </a:rPr>
              <a:t>• Formato de ISBN, DPI, correo y teléfono · unicidad · límites y bloqueos del préstamo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Consulta de información</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Búsqueda, filtros y reportes</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12</a:t>
            </a:r>
          </a:p>
        </p:txBody>
      </p:sp>
      <p:pic>
        <p:nvPicPr>
          <p:cNvPr id="7" name="Picture 6" descr="pantalla-libros.png"/>
          <p:cNvPicPr>
            <a:picLocks noChangeAspect="1"/>
          </p:cNvPicPr>
          <p:nvPr/>
        </p:nvPicPr>
        <p:blipFill>
          <a:blip r:embed="rId3"/>
          <a:stretch>
            <a:fillRect/>
          </a:stretch>
        </p:blipFill>
        <p:spPr>
          <a:xfrm>
            <a:off x="548640" y="2168842"/>
            <a:ext cx="5486400" cy="3343275"/>
          </a:xfrm>
          <a:prstGeom prst="rect">
            <a:avLst/>
          </a:prstGeom>
          <a:ln w="9525">
            <a:solidFill>
              <a:srgbClr val="D5DDE7"/>
            </a:solidFill>
          </a:ln>
        </p:spPr>
      </p:pic>
      <p:pic>
        <p:nvPicPr>
          <p:cNvPr id="8" name="Picture 7" descr="pantalla-reporte-atrasados.png"/>
          <p:cNvPicPr>
            <a:picLocks noChangeAspect="1"/>
          </p:cNvPicPr>
          <p:nvPr/>
        </p:nvPicPr>
        <p:blipFill>
          <a:blip r:embed="rId4"/>
          <a:stretch>
            <a:fillRect/>
          </a:stretch>
        </p:blipFill>
        <p:spPr>
          <a:xfrm>
            <a:off x="6172200" y="2168842"/>
            <a:ext cx="5486400" cy="3343275"/>
          </a:xfrm>
          <a:prstGeom prst="rect">
            <a:avLst/>
          </a:prstGeom>
          <a:ln w="9525">
            <a:solidFill>
              <a:srgbClr val="D5DDE7"/>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Almacenamiento en archivos JSON</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Cuatro archivos, escritura atómica</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13</a:t>
            </a:r>
          </a:p>
        </p:txBody>
      </p:sp>
      <p:sp>
        <p:nvSpPr>
          <p:cNvPr id="7" name="Rounded Rectangle 6"/>
          <p:cNvSpPr/>
          <p:nvPr/>
        </p:nvSpPr>
        <p:spPr>
          <a:xfrm>
            <a:off x="548640" y="1645920"/>
            <a:ext cx="5669280" cy="4389120"/>
          </a:xfrm>
          <a:prstGeom prst="roundRect">
            <a:avLst>
              <a:gd name="adj" fmla="val 3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5303520" cy="4023360"/>
          </a:xfrm>
          <a:prstGeom prst="rect">
            <a:avLst/>
          </a:prstGeom>
          <a:noFill/>
        </p:spPr>
        <p:txBody>
          <a:bodyPr wrap="square" anchor="t" lIns="45720" rIns="45720">
            <a:spAutoFit/>
          </a:bodyPr>
          <a:lstStyle/>
          <a:p>
            <a:pPr algn="l"/>
            <a:r>
              <a:rPr sz="1500" b="0">
                <a:solidFill>
                  <a:srgbClr val="D6E6F5"/>
                </a:solidFill>
                <a:latin typeface="Consolas"/>
              </a:rPr>
              <a:t>{</a:t>
            </a:r>
          </a:p>
          <a:p>
            <a:pPr algn="l"/>
            <a:r>
              <a:rPr sz="1500" b="0">
                <a:solidFill>
                  <a:srgbClr val="D6E6F5"/>
                </a:solidFill>
                <a:latin typeface="Consolas"/>
              </a:rPr>
              <a:t>  "tipo": "lector",</a:t>
            </a:r>
          </a:p>
          <a:p>
            <a:pPr algn="l"/>
            <a:r>
              <a:rPr sz="1500" b="0">
                <a:solidFill>
                  <a:srgbClr val="D6E6F5"/>
                </a:solidFill>
                <a:latin typeface="Consolas"/>
              </a:rPr>
              <a:t>  "carnet": "2026-0101",</a:t>
            </a:r>
          </a:p>
          <a:p>
            <a:pPr algn="l"/>
            <a:r>
              <a:rPr sz="1500" b="0">
                <a:solidFill>
                  <a:srgbClr val="D6E6F5"/>
                </a:solidFill>
                <a:latin typeface="Consolas"/>
              </a:rPr>
              <a:t>  "nombre": "María Fernanda López",</a:t>
            </a:r>
          </a:p>
          <a:p>
            <a:pPr algn="l"/>
            <a:r>
              <a:rPr sz="1500" b="0">
                <a:solidFill>
                  <a:srgbClr val="D6E6F5"/>
                </a:solidFill>
                <a:latin typeface="Consolas"/>
              </a:rPr>
              <a:t>  "documento": "2456789010101",</a:t>
            </a:r>
          </a:p>
          <a:p>
            <a:pPr algn="l"/>
            <a:r>
              <a:rPr sz="1500" b="0">
                <a:solidFill>
                  <a:srgbClr val="D6E6F5"/>
                </a:solidFill>
                <a:latin typeface="Consolas"/>
              </a:rPr>
              <a:t>  "correo": "maria.lopez@ejemplo.com",</a:t>
            </a:r>
          </a:p>
          <a:p>
            <a:pPr algn="l"/>
            <a:r>
              <a:rPr sz="1500" b="0">
                <a:solidFill>
                  <a:srgbClr val="D6E6F5"/>
                </a:solidFill>
                <a:latin typeface="Consolas"/>
              </a:rPr>
              <a:t>  "telefono": "55123401",</a:t>
            </a:r>
          </a:p>
          <a:p>
            <a:pPr algn="l"/>
            <a:r>
              <a:rPr sz="1500" b="0">
                <a:solidFill>
                  <a:srgbClr val="D6E6F5"/>
                </a:solidFill>
                <a:latin typeface="Consolas"/>
              </a:rPr>
              <a:t>  "fechaRegistro": "2026-08-03T00:00:00",</a:t>
            </a:r>
          </a:p>
          <a:p>
            <a:pPr algn="l"/>
            <a:r>
              <a:rPr sz="1500" b="0">
                <a:solidFill>
                  <a:srgbClr val="D6E6F5"/>
                </a:solidFill>
                <a:latin typeface="Consolas"/>
              </a:rPr>
              <a:t>  "activo": true,</a:t>
            </a:r>
          </a:p>
          <a:p>
            <a:pPr algn="l"/>
            <a:r>
              <a:rPr sz="1500" b="0">
                <a:solidFill>
                  <a:srgbClr val="D6E6F5"/>
                </a:solidFill>
                <a:latin typeface="Consolas"/>
              </a:rPr>
              <a:t>  "id": 1</a:t>
            </a:r>
          </a:p>
          <a:p>
            <a:pPr algn="l"/>
            <a:r>
              <a:rPr sz="1500" b="0">
                <a:solidFill>
                  <a:srgbClr val="D6E6F5"/>
                </a:solidFill>
                <a:latin typeface="Consolas"/>
              </a:rPr>
              <a:t>}</a:t>
            </a:r>
          </a:p>
        </p:txBody>
      </p:sp>
      <p:sp>
        <p:nvSpPr>
          <p:cNvPr id="9" name="Rounded Rectangle 8"/>
          <p:cNvSpPr/>
          <p:nvPr/>
        </p:nvSpPr>
        <p:spPr>
          <a:xfrm>
            <a:off x="6492240" y="1645920"/>
            <a:ext cx="5166360" cy="438912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1737360"/>
            <a:ext cx="4892040" cy="411480"/>
          </a:xfrm>
          <a:prstGeom prst="rect">
            <a:avLst/>
          </a:prstGeom>
          <a:noFill/>
        </p:spPr>
        <p:txBody>
          <a:bodyPr wrap="square" anchor="t" lIns="45720" rIns="45720">
            <a:spAutoFit/>
          </a:bodyPr>
          <a:lstStyle/>
          <a:p>
            <a:pPr algn="l"/>
            <a:r>
              <a:rPr sz="1700" b="1">
                <a:solidFill>
                  <a:srgbClr val="1F4E79"/>
                </a:solidFill>
                <a:latin typeface="Calibri"/>
              </a:rPr>
              <a:t>Archivos y estrategia</a:t>
            </a:r>
          </a:p>
        </p:txBody>
      </p:sp>
      <p:sp>
        <p:nvSpPr>
          <p:cNvPr id="11" name="TextBox 10"/>
          <p:cNvSpPr txBox="1"/>
          <p:nvPr/>
        </p:nvSpPr>
        <p:spPr>
          <a:xfrm>
            <a:off x="6629400" y="2194560"/>
            <a:ext cx="4892040" cy="3749039"/>
          </a:xfrm>
          <a:prstGeom prst="rect">
            <a:avLst/>
          </a:prstGeom>
          <a:noFill/>
        </p:spPr>
        <p:txBody>
          <a:bodyPr wrap="square">
            <a:spAutoFit/>
          </a:bodyPr>
          <a:lstStyle/>
          <a:p>
            <a:pPr>
              <a:spcAft>
                <a:spcPts val="300"/>
              </a:spcAft>
            </a:pPr>
            <a:r>
              <a:rPr b="1" sz="1500">
                <a:solidFill>
                  <a:srgbClr val="14293D"/>
                </a:solidFill>
                <a:latin typeface="Calibri"/>
              </a:rPr>
              <a:t>• libros.json · usuarios.json:</a:t>
            </a:r>
            <a:r>
              <a:rPr sz="1500">
                <a:solidFill>
                  <a:srgbClr val="14293D"/>
                </a:solidFill>
                <a:latin typeface="Calibri"/>
              </a:rPr>
              <a:t> catálogo y personas</a:t>
            </a:r>
          </a:p>
          <a:p>
            <a:pPr>
              <a:spcAft>
                <a:spcPts val="300"/>
              </a:spcAft>
            </a:pPr>
            <a:r>
              <a:rPr b="1" sz="1500">
                <a:solidFill>
                  <a:srgbClr val="14293D"/>
                </a:solidFill>
                <a:latin typeface="Calibri"/>
              </a:rPr>
              <a:t>• prestamos.json · multas.json:</a:t>
            </a:r>
            <a:r>
              <a:rPr sz="1500">
                <a:solidFill>
                  <a:srgbClr val="14293D"/>
                </a:solidFill>
                <a:latin typeface="Calibri"/>
              </a:rPr>
              <a:t> historial</a:t>
            </a:r>
          </a:p>
          <a:p>
            <a:pPr>
              <a:spcAft>
                <a:spcPts val="300"/>
              </a:spcAft>
            </a:pPr>
            <a:r>
              <a:rPr b="1" sz="1500">
                <a:solidFill>
                  <a:srgbClr val="14293D"/>
                </a:solidFill>
                <a:latin typeface="Calibri"/>
              </a:rPr>
              <a:t>• Guardado:</a:t>
            </a:r>
            <a:r>
              <a:rPr sz="1500">
                <a:solidFill>
                  <a:srgbClr val="14293D"/>
                </a:solidFill>
                <a:latin typeface="Calibri"/>
              </a:rPr>
              <a:t> archivo .tmp y luego reemplazo</a:t>
            </a:r>
          </a:p>
          <a:p>
            <a:pPr>
              <a:spcAft>
                <a:spcPts val="300"/>
              </a:spcAft>
            </a:pPr>
            <a:r>
              <a:rPr b="1" sz="1500">
                <a:solidFill>
                  <a:srgbClr val="14293D"/>
                </a:solidFill>
                <a:latin typeface="Calibri"/>
              </a:rPr>
              <a:t>• Identificadores:</a:t>
            </a:r>
            <a:r>
              <a:rPr sz="1500">
                <a:solidFill>
                  <a:srgbClr val="14293D"/>
                </a:solidFill>
                <a:latin typeface="Calibri"/>
              </a:rPr>
              <a:t> máximo + 1</a:t>
            </a:r>
          </a:p>
          <a:p>
            <a:pPr>
              <a:spcAft>
                <a:spcPts val="300"/>
              </a:spcAft>
            </a:pPr>
            <a:r>
              <a:rPr b="1" sz="1500">
                <a:solidFill>
                  <a:srgbClr val="14293D"/>
                </a:solidFill>
                <a:latin typeface="Calibri"/>
              </a:rPr>
              <a:t>• Errores:</a:t>
            </a:r>
            <a:r>
              <a:rPr sz="1500">
                <a:solidFill>
                  <a:srgbClr val="14293D"/>
                </a:solidFill>
                <a:latin typeface="Calibri"/>
              </a:rPr>
              <a:t> AlmacenamientoException con el nombre del archivo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Recuperación de información</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Los datos permanecen al cerrar y volver a abrir</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14</a:t>
            </a:r>
          </a:p>
        </p:txBody>
      </p:sp>
      <p:sp>
        <p:nvSpPr>
          <p:cNvPr id="7" name="Oval 6"/>
          <p:cNvSpPr/>
          <p:nvPr/>
        </p:nvSpPr>
        <p:spPr>
          <a:xfrm>
            <a:off x="548640" y="1737360"/>
            <a:ext cx="640080" cy="64008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0512"/>
            <a:ext cx="640080" cy="502920"/>
          </a:xfrm>
          <a:prstGeom prst="rect">
            <a:avLst/>
          </a:prstGeom>
          <a:noFill/>
        </p:spPr>
        <p:txBody>
          <a:bodyPr wrap="square" anchor="t" lIns="45720" rIns="45720">
            <a:spAutoFit/>
          </a:bodyPr>
          <a:lstStyle/>
          <a:p>
            <a:pPr algn="ctr"/>
            <a:r>
              <a:rPr sz="2400" b="1">
                <a:solidFill>
                  <a:srgbClr val="FFFFFF"/>
                </a:solidFill>
                <a:latin typeface="Calibri"/>
              </a:rPr>
              <a:t>1</a:t>
            </a:r>
          </a:p>
        </p:txBody>
      </p:sp>
      <p:sp>
        <p:nvSpPr>
          <p:cNvPr id="9" name="TextBox 8"/>
          <p:cNvSpPr txBox="1"/>
          <p:nvPr/>
        </p:nvSpPr>
        <p:spPr>
          <a:xfrm>
            <a:off x="548640" y="2514600"/>
            <a:ext cx="2651760" cy="457200"/>
          </a:xfrm>
          <a:prstGeom prst="rect">
            <a:avLst/>
          </a:prstGeom>
          <a:noFill/>
        </p:spPr>
        <p:txBody>
          <a:bodyPr wrap="square" anchor="t" lIns="45720" rIns="45720">
            <a:spAutoFit/>
          </a:bodyPr>
          <a:lstStyle/>
          <a:p>
            <a:pPr algn="l"/>
            <a:r>
              <a:rPr sz="1900" b="1">
                <a:solidFill>
                  <a:srgbClr val="14293D"/>
                </a:solidFill>
                <a:latin typeface="Calibri"/>
              </a:rPr>
              <a:t>Se abre la app</a:t>
            </a:r>
          </a:p>
        </p:txBody>
      </p:sp>
      <p:sp>
        <p:nvSpPr>
          <p:cNvPr id="10" name="TextBox 9"/>
          <p:cNvSpPr txBox="1"/>
          <p:nvPr/>
        </p:nvSpPr>
        <p:spPr>
          <a:xfrm>
            <a:off x="548640" y="3017520"/>
            <a:ext cx="2651760" cy="1463040"/>
          </a:xfrm>
          <a:prstGeom prst="rect">
            <a:avLst/>
          </a:prstGeom>
          <a:noFill/>
        </p:spPr>
        <p:txBody>
          <a:bodyPr wrap="square" anchor="t" lIns="45720" rIns="45720">
            <a:spAutoFit/>
          </a:bodyPr>
          <a:lstStyle/>
          <a:p>
            <a:pPr algn="l"/>
            <a:r>
              <a:rPr sz="1500" b="0">
                <a:solidFill>
                  <a:srgbClr val="5F6B7A"/>
                </a:solidFill>
                <a:latin typeface="Calibri"/>
              </a:rPr>
              <a:t>Cada RepositorioJson lee su archivo y lo carga en memoria</a:t>
            </a:r>
          </a:p>
        </p:txBody>
      </p:sp>
      <p:sp>
        <p:nvSpPr>
          <p:cNvPr id="11" name="Oval 10"/>
          <p:cNvSpPr/>
          <p:nvPr/>
        </p:nvSpPr>
        <p:spPr>
          <a:xfrm>
            <a:off x="3383280" y="1737360"/>
            <a:ext cx="640080" cy="64008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0" y="1810512"/>
            <a:ext cx="640080" cy="502920"/>
          </a:xfrm>
          <a:prstGeom prst="rect">
            <a:avLst/>
          </a:prstGeom>
          <a:noFill/>
        </p:spPr>
        <p:txBody>
          <a:bodyPr wrap="square" anchor="t" lIns="45720" rIns="45720">
            <a:spAutoFit/>
          </a:bodyPr>
          <a:lstStyle/>
          <a:p>
            <a:pPr algn="ctr"/>
            <a:r>
              <a:rPr sz="2400" b="1">
                <a:solidFill>
                  <a:srgbClr val="FFFFFF"/>
                </a:solidFill>
                <a:latin typeface="Calibri"/>
              </a:rPr>
              <a:t>2</a:t>
            </a:r>
          </a:p>
        </p:txBody>
      </p:sp>
      <p:sp>
        <p:nvSpPr>
          <p:cNvPr id="13" name="TextBox 12"/>
          <p:cNvSpPr txBox="1"/>
          <p:nvPr/>
        </p:nvSpPr>
        <p:spPr>
          <a:xfrm>
            <a:off x="3383280" y="2514600"/>
            <a:ext cx="2651760" cy="457200"/>
          </a:xfrm>
          <a:prstGeom prst="rect">
            <a:avLst/>
          </a:prstGeom>
          <a:noFill/>
        </p:spPr>
        <p:txBody>
          <a:bodyPr wrap="square" anchor="t" lIns="45720" rIns="45720">
            <a:spAutoFit/>
          </a:bodyPr>
          <a:lstStyle/>
          <a:p>
            <a:pPr algn="l"/>
            <a:r>
              <a:rPr sz="1900" b="1">
                <a:solidFill>
                  <a:srgbClr val="14293D"/>
                </a:solidFill>
                <a:latin typeface="Calibri"/>
              </a:rPr>
              <a:t>Se opera</a:t>
            </a:r>
          </a:p>
        </p:txBody>
      </p:sp>
      <p:sp>
        <p:nvSpPr>
          <p:cNvPr id="14" name="TextBox 13"/>
          <p:cNvSpPr txBox="1"/>
          <p:nvPr/>
        </p:nvSpPr>
        <p:spPr>
          <a:xfrm>
            <a:off x="3383280" y="3017520"/>
            <a:ext cx="2651760" cy="1463040"/>
          </a:xfrm>
          <a:prstGeom prst="rect">
            <a:avLst/>
          </a:prstGeom>
          <a:noFill/>
        </p:spPr>
        <p:txBody>
          <a:bodyPr wrap="square" anchor="t" lIns="45720" rIns="45720">
            <a:spAutoFit/>
          </a:bodyPr>
          <a:lstStyle/>
          <a:p>
            <a:pPr algn="l"/>
            <a:r>
              <a:rPr sz="1500" b="0">
                <a:solidFill>
                  <a:srgbClr val="5F6B7A"/>
                </a:solidFill>
                <a:latin typeface="Calibri"/>
              </a:rPr>
              <a:t>Cada cambio reescribe el archivo de forma atómica</a:t>
            </a:r>
          </a:p>
        </p:txBody>
      </p:sp>
      <p:sp>
        <p:nvSpPr>
          <p:cNvPr id="15" name="Oval 14"/>
          <p:cNvSpPr/>
          <p:nvPr/>
        </p:nvSpPr>
        <p:spPr>
          <a:xfrm>
            <a:off x="6217920" y="1737360"/>
            <a:ext cx="640080" cy="64008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810512"/>
            <a:ext cx="640080" cy="502920"/>
          </a:xfrm>
          <a:prstGeom prst="rect">
            <a:avLst/>
          </a:prstGeom>
          <a:noFill/>
        </p:spPr>
        <p:txBody>
          <a:bodyPr wrap="square" anchor="t" lIns="45720" rIns="45720">
            <a:spAutoFit/>
          </a:bodyPr>
          <a:lstStyle/>
          <a:p>
            <a:pPr algn="ctr"/>
            <a:r>
              <a:rPr sz="2400" b="1">
                <a:solidFill>
                  <a:srgbClr val="FFFFFF"/>
                </a:solidFill>
                <a:latin typeface="Calibri"/>
              </a:rPr>
              <a:t>3</a:t>
            </a:r>
          </a:p>
        </p:txBody>
      </p:sp>
      <p:sp>
        <p:nvSpPr>
          <p:cNvPr id="17" name="TextBox 16"/>
          <p:cNvSpPr txBox="1"/>
          <p:nvPr/>
        </p:nvSpPr>
        <p:spPr>
          <a:xfrm>
            <a:off x="6217920" y="2514600"/>
            <a:ext cx="2651760" cy="457200"/>
          </a:xfrm>
          <a:prstGeom prst="rect">
            <a:avLst/>
          </a:prstGeom>
          <a:noFill/>
        </p:spPr>
        <p:txBody>
          <a:bodyPr wrap="square" anchor="t" lIns="45720" rIns="45720">
            <a:spAutoFit/>
          </a:bodyPr>
          <a:lstStyle/>
          <a:p>
            <a:pPr algn="l"/>
            <a:r>
              <a:rPr sz="1900" b="1">
                <a:solidFill>
                  <a:srgbClr val="14293D"/>
                </a:solidFill>
                <a:latin typeface="Calibri"/>
              </a:rPr>
              <a:t>Se cierra la app</a:t>
            </a:r>
          </a:p>
        </p:txBody>
      </p:sp>
      <p:sp>
        <p:nvSpPr>
          <p:cNvPr id="18" name="TextBox 17"/>
          <p:cNvSpPr txBox="1"/>
          <p:nvPr/>
        </p:nvSpPr>
        <p:spPr>
          <a:xfrm>
            <a:off x="6217920" y="3017520"/>
            <a:ext cx="2651760" cy="1463040"/>
          </a:xfrm>
          <a:prstGeom prst="rect">
            <a:avLst/>
          </a:prstGeom>
          <a:noFill/>
        </p:spPr>
        <p:txBody>
          <a:bodyPr wrap="square" anchor="t" lIns="45720" rIns="45720">
            <a:spAutoFit/>
          </a:bodyPr>
          <a:lstStyle/>
          <a:p>
            <a:pPr algn="l"/>
            <a:r>
              <a:rPr sz="1500" b="0">
                <a:solidFill>
                  <a:srgbClr val="5F6B7A"/>
                </a:solidFill>
                <a:latin typeface="Calibri"/>
              </a:rPr>
              <a:t>No hay paso de guardado manual: todo ya está en disco</a:t>
            </a:r>
          </a:p>
        </p:txBody>
      </p:sp>
      <p:sp>
        <p:nvSpPr>
          <p:cNvPr id="19" name="Oval 18"/>
          <p:cNvSpPr/>
          <p:nvPr/>
        </p:nvSpPr>
        <p:spPr>
          <a:xfrm>
            <a:off x="9052560" y="1737360"/>
            <a:ext cx="640080" cy="64008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0" y="1810512"/>
            <a:ext cx="640080" cy="502920"/>
          </a:xfrm>
          <a:prstGeom prst="rect">
            <a:avLst/>
          </a:prstGeom>
          <a:noFill/>
        </p:spPr>
        <p:txBody>
          <a:bodyPr wrap="square" anchor="t" lIns="45720" rIns="45720">
            <a:spAutoFit/>
          </a:bodyPr>
          <a:lstStyle/>
          <a:p>
            <a:pPr algn="ctr"/>
            <a:r>
              <a:rPr sz="2400" b="1">
                <a:solidFill>
                  <a:srgbClr val="FFFFFF"/>
                </a:solidFill>
                <a:latin typeface="Calibri"/>
              </a:rPr>
              <a:t>4</a:t>
            </a:r>
          </a:p>
        </p:txBody>
      </p:sp>
      <p:sp>
        <p:nvSpPr>
          <p:cNvPr id="21" name="TextBox 20"/>
          <p:cNvSpPr txBox="1"/>
          <p:nvPr/>
        </p:nvSpPr>
        <p:spPr>
          <a:xfrm>
            <a:off x="9052560" y="2514600"/>
            <a:ext cx="2651760" cy="457200"/>
          </a:xfrm>
          <a:prstGeom prst="rect">
            <a:avLst/>
          </a:prstGeom>
          <a:noFill/>
        </p:spPr>
        <p:txBody>
          <a:bodyPr wrap="square" anchor="t" lIns="45720" rIns="45720">
            <a:spAutoFit/>
          </a:bodyPr>
          <a:lstStyle/>
          <a:p>
            <a:pPr algn="l"/>
            <a:r>
              <a:rPr sz="1900" b="1">
                <a:solidFill>
                  <a:srgbClr val="14293D"/>
                </a:solidFill>
                <a:latin typeface="Calibri"/>
              </a:rPr>
              <a:t>Se vuelve a abrir</a:t>
            </a:r>
          </a:p>
        </p:txBody>
      </p:sp>
      <p:sp>
        <p:nvSpPr>
          <p:cNvPr id="22" name="TextBox 21"/>
          <p:cNvSpPr txBox="1"/>
          <p:nvPr/>
        </p:nvSpPr>
        <p:spPr>
          <a:xfrm>
            <a:off x="9052560" y="3017520"/>
            <a:ext cx="2651760" cy="1463040"/>
          </a:xfrm>
          <a:prstGeom prst="rect">
            <a:avLst/>
          </a:prstGeom>
          <a:noFill/>
        </p:spPr>
        <p:txBody>
          <a:bodyPr wrap="square" anchor="t" lIns="45720" rIns="45720">
            <a:spAutoFit/>
          </a:bodyPr>
          <a:lstStyle/>
          <a:p>
            <a:pPr algn="l"/>
            <a:r>
              <a:rPr sz="1500" b="0">
                <a:solidFill>
                  <a:srgbClr val="5F6B7A"/>
                </a:solidFill>
                <a:latin typeface="Calibri"/>
              </a:rPr>
              <a:t>Los datos, incluido el tipo de cada usuario, se recuperan</a:t>
            </a:r>
          </a:p>
        </p:txBody>
      </p:sp>
      <p:sp>
        <p:nvSpPr>
          <p:cNvPr id="23" name="Rounded Rectangle 22"/>
          <p:cNvSpPr/>
          <p:nvPr/>
        </p:nvSpPr>
        <p:spPr>
          <a:xfrm>
            <a:off x="548640" y="4526280"/>
            <a:ext cx="5486400" cy="160020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617720"/>
            <a:ext cx="5212080" cy="411480"/>
          </a:xfrm>
          <a:prstGeom prst="rect">
            <a:avLst/>
          </a:prstGeom>
          <a:noFill/>
        </p:spPr>
        <p:txBody>
          <a:bodyPr wrap="square" anchor="t" lIns="45720" rIns="45720">
            <a:spAutoFit/>
          </a:bodyPr>
          <a:lstStyle/>
          <a:p>
            <a:pPr algn="l"/>
            <a:r>
              <a:rPr sz="1700" b="1">
                <a:solidFill>
                  <a:srgbClr val="1F4E79"/>
                </a:solidFill>
                <a:latin typeface="Calibri"/>
              </a:rPr>
              <a:t>Archivo dañado o vacío</a:t>
            </a:r>
          </a:p>
        </p:txBody>
      </p:sp>
      <p:sp>
        <p:nvSpPr>
          <p:cNvPr id="25" name="TextBox 24"/>
          <p:cNvSpPr txBox="1"/>
          <p:nvPr/>
        </p:nvSpPr>
        <p:spPr>
          <a:xfrm>
            <a:off x="685800" y="5074920"/>
            <a:ext cx="5212080" cy="960120"/>
          </a:xfrm>
          <a:prstGeom prst="rect">
            <a:avLst/>
          </a:prstGeom>
          <a:noFill/>
        </p:spPr>
        <p:txBody>
          <a:bodyPr wrap="square">
            <a:spAutoFit/>
          </a:bodyPr>
          <a:lstStyle/>
          <a:p>
            <a:pPr>
              <a:spcAft>
                <a:spcPts val="300"/>
              </a:spcAft>
            </a:pPr>
            <a:r>
              <a:rPr sz="1400">
                <a:solidFill>
                  <a:srgbClr val="14293D"/>
                </a:solidFill>
                <a:latin typeface="Calibri"/>
              </a:rPr>
              <a:t>• Dañado: error claro y la app no abre con datos incompletos</a:t>
            </a:r>
          </a:p>
          <a:p>
            <a:pPr>
              <a:spcAft>
                <a:spcPts val="300"/>
              </a:spcAft>
            </a:pPr>
            <a:r>
              <a:rPr sz="1400">
                <a:solidFill>
                  <a:srgbClr val="14293D"/>
                </a:solidFill>
                <a:latin typeface="Calibri"/>
              </a:rPr>
              <a:t>• Vacío o inexistente: arranca con una colección vacía</a:t>
            </a:r>
          </a:p>
        </p:txBody>
      </p:sp>
      <p:sp>
        <p:nvSpPr>
          <p:cNvPr id="26" name="Rounded Rectangle 25"/>
          <p:cNvSpPr/>
          <p:nvPr/>
        </p:nvSpPr>
        <p:spPr>
          <a:xfrm>
            <a:off x="6172200" y="4526280"/>
            <a:ext cx="5486400" cy="160020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0" y="4617720"/>
            <a:ext cx="5212080" cy="411480"/>
          </a:xfrm>
          <a:prstGeom prst="rect">
            <a:avLst/>
          </a:prstGeom>
          <a:noFill/>
        </p:spPr>
        <p:txBody>
          <a:bodyPr wrap="square" anchor="t" lIns="45720" rIns="45720">
            <a:spAutoFit/>
          </a:bodyPr>
          <a:lstStyle/>
          <a:p>
            <a:pPr algn="l"/>
            <a:r>
              <a:rPr sz="1700" b="1">
                <a:solidFill>
                  <a:srgbClr val="1F4E79"/>
                </a:solidFill>
                <a:latin typeface="Calibri"/>
              </a:rPr>
              <a:t>Verificado con pruebas</a:t>
            </a:r>
          </a:p>
        </p:txBody>
      </p:sp>
      <p:sp>
        <p:nvSpPr>
          <p:cNvPr id="28" name="TextBox 27"/>
          <p:cNvSpPr txBox="1"/>
          <p:nvPr/>
        </p:nvSpPr>
        <p:spPr>
          <a:xfrm>
            <a:off x="6309360" y="5074920"/>
            <a:ext cx="5212080" cy="960120"/>
          </a:xfrm>
          <a:prstGeom prst="rect">
            <a:avLst/>
          </a:prstGeom>
          <a:noFill/>
        </p:spPr>
        <p:txBody>
          <a:bodyPr wrap="square">
            <a:spAutoFit/>
          </a:bodyPr>
          <a:lstStyle/>
          <a:p>
            <a:pPr>
              <a:spcAft>
                <a:spcPts val="300"/>
              </a:spcAft>
            </a:pPr>
            <a:r>
              <a:rPr sz="1400">
                <a:solidFill>
                  <a:srgbClr val="14293D"/>
                </a:solidFill>
                <a:latin typeface="Calibri"/>
              </a:rPr>
              <a:t>• Los datos sobreviven a reabrir el sistema</a:t>
            </a:r>
          </a:p>
          <a:p>
            <a:pPr>
              <a:spcAft>
                <a:spcPts val="300"/>
              </a:spcAft>
            </a:pPr>
            <a:r>
              <a:rPr sz="1400">
                <a:solidFill>
                  <a:srgbClr val="14293D"/>
                </a:solidFill>
                <a:latin typeface="Calibri"/>
              </a:rPr>
              <a:t>• Se conserva Lector o Bibliotecario al recuperar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Pruebas y trazabilidad</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70 pruebas automatizadas y datos de prueba completos</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15</a:t>
            </a:r>
          </a:p>
        </p:txBody>
      </p:sp>
      <p:sp>
        <p:nvSpPr>
          <p:cNvPr id="7" name="Pentagon 6"/>
          <p:cNvSpPr/>
          <p:nvPr/>
        </p:nvSpPr>
        <p:spPr>
          <a:xfrm>
            <a:off x="502920" y="1691640"/>
            <a:ext cx="1298448" cy="822960"/>
          </a:xfrm>
          <a:prstGeom prst="homePlat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Problema</a:t>
            </a:r>
          </a:p>
        </p:txBody>
      </p:sp>
      <p:sp>
        <p:nvSpPr>
          <p:cNvPr id="8" name="Chevron 7"/>
          <p:cNvSpPr/>
          <p:nvPr/>
        </p:nvSpPr>
        <p:spPr>
          <a:xfrm>
            <a:off x="1901952" y="1691640"/>
            <a:ext cx="1298448" cy="82296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Requisitos</a:t>
            </a:r>
          </a:p>
        </p:txBody>
      </p:sp>
      <p:sp>
        <p:nvSpPr>
          <p:cNvPr id="9" name="Chevron 8"/>
          <p:cNvSpPr/>
          <p:nvPr/>
        </p:nvSpPr>
        <p:spPr>
          <a:xfrm>
            <a:off x="3300984" y="1691640"/>
            <a:ext cx="1298448" cy="82296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UML</a:t>
            </a:r>
          </a:p>
        </p:txBody>
      </p:sp>
      <p:sp>
        <p:nvSpPr>
          <p:cNvPr id="10" name="Chevron 9"/>
          <p:cNvSpPr/>
          <p:nvPr/>
        </p:nvSpPr>
        <p:spPr>
          <a:xfrm>
            <a:off x="4700016" y="1691640"/>
            <a:ext cx="1298448" cy="82296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Clases</a:t>
            </a:r>
          </a:p>
        </p:txBody>
      </p:sp>
      <p:sp>
        <p:nvSpPr>
          <p:cNvPr id="11" name="Chevron 10"/>
          <p:cNvSpPr/>
          <p:nvPr/>
        </p:nvSpPr>
        <p:spPr>
          <a:xfrm>
            <a:off x="6099048" y="1691640"/>
            <a:ext cx="1298448" cy="82296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Código C#</a:t>
            </a:r>
          </a:p>
        </p:txBody>
      </p:sp>
      <p:sp>
        <p:nvSpPr>
          <p:cNvPr id="12" name="Chevron 11"/>
          <p:cNvSpPr/>
          <p:nvPr/>
        </p:nvSpPr>
        <p:spPr>
          <a:xfrm>
            <a:off x="7498080" y="1691640"/>
            <a:ext cx="1298448" cy="82296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Interfaz</a:t>
            </a:r>
          </a:p>
        </p:txBody>
      </p:sp>
      <p:sp>
        <p:nvSpPr>
          <p:cNvPr id="13" name="Chevron 12"/>
          <p:cNvSpPr/>
          <p:nvPr/>
        </p:nvSpPr>
        <p:spPr>
          <a:xfrm>
            <a:off x="8897112" y="1691640"/>
            <a:ext cx="1298448" cy="82296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Archivos</a:t>
            </a:r>
          </a:p>
        </p:txBody>
      </p:sp>
      <p:sp>
        <p:nvSpPr>
          <p:cNvPr id="14" name="Chevron 13"/>
          <p:cNvSpPr/>
          <p:nvPr/>
        </p:nvSpPr>
        <p:spPr>
          <a:xfrm>
            <a:off x="10296144" y="1691640"/>
            <a:ext cx="1298448" cy="82296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Pruebas</a:t>
            </a:r>
          </a:p>
        </p:txBody>
      </p:sp>
      <p:sp>
        <p:nvSpPr>
          <p:cNvPr id="15" name="Rounded Rectangle 14"/>
          <p:cNvSpPr/>
          <p:nvPr/>
        </p:nvSpPr>
        <p:spPr>
          <a:xfrm>
            <a:off x="548640" y="2880360"/>
            <a:ext cx="5486400" cy="324612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971800"/>
            <a:ext cx="5212080" cy="411480"/>
          </a:xfrm>
          <a:prstGeom prst="rect">
            <a:avLst/>
          </a:prstGeom>
          <a:noFill/>
        </p:spPr>
        <p:txBody>
          <a:bodyPr wrap="square" anchor="t" lIns="45720" rIns="45720">
            <a:spAutoFit/>
          </a:bodyPr>
          <a:lstStyle/>
          <a:p>
            <a:pPr algn="l"/>
            <a:r>
              <a:rPr sz="1700" b="1">
                <a:solidFill>
                  <a:srgbClr val="1F4E79"/>
                </a:solidFill>
                <a:latin typeface="Calibri"/>
              </a:rPr>
              <a:t>Pruebas (xUnit)</a:t>
            </a:r>
          </a:p>
        </p:txBody>
      </p:sp>
      <p:sp>
        <p:nvSpPr>
          <p:cNvPr id="17" name="TextBox 16"/>
          <p:cNvSpPr txBox="1"/>
          <p:nvPr/>
        </p:nvSpPr>
        <p:spPr>
          <a:xfrm>
            <a:off x="685800" y="3429000"/>
            <a:ext cx="5212080" cy="2606039"/>
          </a:xfrm>
          <a:prstGeom prst="rect">
            <a:avLst/>
          </a:prstGeom>
          <a:noFill/>
        </p:spPr>
        <p:txBody>
          <a:bodyPr wrap="square">
            <a:spAutoFit/>
          </a:bodyPr>
          <a:lstStyle/>
          <a:p>
            <a:pPr>
              <a:spcAft>
                <a:spcPts val="300"/>
              </a:spcAft>
            </a:pPr>
            <a:r>
              <a:rPr sz="1500">
                <a:solidFill>
                  <a:srgbClr val="14293D"/>
                </a:solidFill>
                <a:latin typeface="Calibri"/>
              </a:rPr>
              <a:t>• Dominio: ISBN, préstamos, multas, polimorfismo</a:t>
            </a:r>
          </a:p>
          <a:p>
            <a:pPr>
              <a:spcAft>
                <a:spcPts val="300"/>
              </a:spcAft>
            </a:pPr>
            <a:r>
              <a:rPr sz="1500">
                <a:solidFill>
                  <a:srgbClr val="14293D"/>
                </a:solidFill>
                <a:latin typeface="Calibri"/>
              </a:rPr>
              <a:t>• Servicios: reglas, bloqueos, flujo completo</a:t>
            </a:r>
          </a:p>
          <a:p>
            <a:pPr>
              <a:spcAft>
                <a:spcPts val="300"/>
              </a:spcAft>
            </a:pPr>
            <a:r>
              <a:rPr sz="1500">
                <a:solidFill>
                  <a:srgbClr val="14293D"/>
                </a:solidFill>
                <a:latin typeface="Calibri"/>
              </a:rPr>
              <a:t>• Persistencia: reabrir, archivo dañado</a:t>
            </a:r>
          </a:p>
          <a:p>
            <a:pPr>
              <a:spcAft>
                <a:spcPts val="300"/>
              </a:spcAft>
            </a:pPr>
            <a:r>
              <a:rPr sz="1500">
                <a:solidFill>
                  <a:srgbClr val="14293D"/>
                </a:solidFill>
                <a:latin typeface="Calibri"/>
              </a:rPr>
              <a:t>• Datos de prueba consistentes y con todos los estados</a:t>
            </a:r>
          </a:p>
        </p:txBody>
      </p:sp>
      <p:sp>
        <p:nvSpPr>
          <p:cNvPr id="18" name="Rounded Rectangle 17"/>
          <p:cNvSpPr/>
          <p:nvPr/>
        </p:nvSpPr>
        <p:spPr>
          <a:xfrm>
            <a:off x="6172200" y="2880360"/>
            <a:ext cx="5486400" cy="324612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2971800"/>
            <a:ext cx="5212080" cy="411480"/>
          </a:xfrm>
          <a:prstGeom prst="rect">
            <a:avLst/>
          </a:prstGeom>
          <a:noFill/>
        </p:spPr>
        <p:txBody>
          <a:bodyPr wrap="square" anchor="t" lIns="45720" rIns="45720">
            <a:spAutoFit/>
          </a:bodyPr>
          <a:lstStyle/>
          <a:p>
            <a:pPr algn="l"/>
            <a:r>
              <a:rPr sz="1700" b="1">
                <a:solidFill>
                  <a:srgbClr val="1F4E79"/>
                </a:solidFill>
                <a:latin typeface="Calibri"/>
              </a:rPr>
              <a:t>Datos de prueba</a:t>
            </a:r>
          </a:p>
        </p:txBody>
      </p:sp>
      <p:sp>
        <p:nvSpPr>
          <p:cNvPr id="20" name="TextBox 19"/>
          <p:cNvSpPr txBox="1"/>
          <p:nvPr/>
        </p:nvSpPr>
        <p:spPr>
          <a:xfrm>
            <a:off x="6309360" y="3429000"/>
            <a:ext cx="5212080" cy="2606039"/>
          </a:xfrm>
          <a:prstGeom prst="rect">
            <a:avLst/>
          </a:prstGeom>
          <a:noFill/>
        </p:spPr>
        <p:txBody>
          <a:bodyPr wrap="square">
            <a:spAutoFit/>
          </a:bodyPr>
          <a:lstStyle/>
          <a:p>
            <a:pPr>
              <a:spcAft>
                <a:spcPts val="300"/>
              </a:spcAft>
            </a:pPr>
            <a:r>
              <a:rPr sz="1500">
                <a:solidFill>
                  <a:srgbClr val="14293D"/>
                </a:solidFill>
                <a:latin typeface="Calibri"/>
              </a:rPr>
              <a:t>• 16 libros y 8 usuarios (6 lectores, 2 bibliotecarios)</a:t>
            </a:r>
          </a:p>
          <a:p>
            <a:pPr>
              <a:spcAft>
                <a:spcPts val="300"/>
              </a:spcAft>
            </a:pPr>
            <a:r>
              <a:rPr sz="1500">
                <a:solidFill>
                  <a:srgbClr val="14293D"/>
                </a:solidFill>
                <a:latin typeface="Calibri"/>
              </a:rPr>
              <a:t>• 12 préstamos: activos, atrasados y devueltos</a:t>
            </a:r>
          </a:p>
          <a:p>
            <a:pPr>
              <a:spcAft>
                <a:spcPts val="300"/>
              </a:spcAft>
            </a:pPr>
            <a:r>
              <a:rPr sz="1500">
                <a:solidFill>
                  <a:srgbClr val="14293D"/>
                </a:solidFill>
                <a:latin typeface="Calibri"/>
              </a:rPr>
              <a:t>• Multas: una pagada y una pendiente</a:t>
            </a:r>
          </a:p>
          <a:p>
            <a:pPr>
              <a:spcAft>
                <a:spcPts val="300"/>
              </a:spcAft>
            </a:pPr>
            <a:r>
              <a:rPr sz="1500">
                <a:solidFill>
                  <a:srgbClr val="14293D"/>
                </a:solidFill>
                <a:latin typeface="Calibri"/>
              </a:rPr>
              <a:t>• Generados con la propia lógica del sistema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Principales dificultades y soluciones</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5" name="TextBox 4"/>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16</a:t>
            </a:r>
          </a:p>
        </p:txBody>
      </p:sp>
      <p:graphicFrame>
        <p:nvGraphicFramePr>
          <p:cNvPr id="6" name="Table 5"/>
          <p:cNvGraphicFramePr>
            <a:graphicFrameLocks noGrp="1"/>
          </p:cNvGraphicFramePr>
          <p:nvPr/>
        </p:nvGraphicFramePr>
        <p:xfrm>
          <a:off x="548640" y="1280160"/>
          <a:ext cx="11109960" cy="4846320"/>
        </p:xfrm>
        <a:graphic>
          <a:graphicData uri="http://schemas.openxmlformats.org/drawingml/2006/table">
            <a:tbl>
              <a:tblPr firstRow="1" bandRow="1">
                <a:tableStyleId>{5C22544A-7EE6-4342-B048-85BDC9FD1C3A}</a:tableStyleId>
              </a:tblPr>
              <a:tblGrid>
                <a:gridCol w="5577840"/>
                <a:gridCol w="5532120"/>
              </a:tblGrid>
              <a:tr h="692331">
                <a:tc>
                  <a:txBody>
                    <a:bodyPr/>
                    <a:lstStyle/>
                    <a:p>
                      <a:r>
                        <a:rPr sz="1400" b="1">
                          <a:solidFill>
                            <a:srgbClr val="FFFFFF"/>
                          </a:solidFill>
                          <a:latin typeface="Calibri"/>
                        </a:rPr>
                        <a:t>Dificultad</a:t>
                      </a:r>
                    </a:p>
                  </a:txBody>
                  <a:tcPr>
                    <a:solidFill>
                      <a:srgbClr val="1F4E79"/>
                    </a:solidFill>
                  </a:tcPr>
                </a:tc>
                <a:tc>
                  <a:txBody>
                    <a:bodyPr/>
                    <a:lstStyle/>
                    <a:p>
                      <a:r>
                        <a:rPr sz="1400" b="1">
                          <a:solidFill>
                            <a:srgbClr val="FFFFFF"/>
                          </a:solidFill>
                          <a:latin typeface="Calibri"/>
                        </a:rPr>
                        <a:t>Solución</a:t>
                      </a:r>
                    </a:p>
                  </a:txBody>
                  <a:tcPr>
                    <a:solidFill>
                      <a:srgbClr val="1F4E79"/>
                    </a:solidFill>
                  </a:tcPr>
                </a:tc>
              </a:tr>
              <a:tr h="692331">
                <a:tc>
                  <a:txBody>
                    <a:bodyPr/>
                    <a:lstStyle/>
                    <a:p>
                      <a:r>
                        <a:rPr sz="1400" b="0">
                          <a:solidFill>
                            <a:srgbClr val="14293D"/>
                          </a:solidFill>
                          <a:latin typeface="Calibri"/>
                        </a:rPr>
                        <a:t>Las propiedades calculadas de los usuarios se guardaban en el JSON (JsonIgnore no se hereda en un override)</a:t>
                      </a:r>
                    </a:p>
                  </a:txBody>
                  <a:tcPr>
                    <a:solidFill>
                      <a:srgbClr val="FFFFFF"/>
                    </a:solidFill>
                  </a:tcPr>
                </a:tc>
                <a:tc>
                  <a:txBody>
                    <a:bodyPr/>
                    <a:lstStyle/>
                    <a:p>
                      <a:r>
                        <a:rPr sz="1400" b="0">
                          <a:solidFill>
                            <a:srgbClr val="14293D"/>
                          </a:solidFill>
                          <a:latin typeface="Calibri"/>
                        </a:rPr>
                        <a:t>Atributo JsonIgnore en cada override y prueba que verifica que no se persisten</a:t>
                      </a:r>
                    </a:p>
                  </a:txBody>
                  <a:tcPr>
                    <a:solidFill>
                      <a:srgbClr val="FFFFFF"/>
                    </a:solidFill>
                  </a:tcPr>
                </a:tc>
              </a:tr>
              <a:tr h="692331">
                <a:tc>
                  <a:txBody>
                    <a:bodyPr/>
                    <a:lstStyle/>
                    <a:p>
                      <a:r>
                        <a:rPr sz="1400" b="0">
                          <a:solidFill>
                            <a:srgbClr val="14293D"/>
                          </a:solidFill>
                          <a:latin typeface="Calibri"/>
                        </a:rPr>
                        <a:t>Guardar una jerarquía polimórfica (Persona) con setters privados</a:t>
                      </a:r>
                    </a:p>
                  </a:txBody>
                  <a:tcPr>
                    <a:solidFill>
                      <a:srgbClr val="EAF1F8"/>
                    </a:solidFill>
                  </a:tcPr>
                </a:tc>
                <a:tc>
                  <a:txBody>
                    <a:bodyPr/>
                    <a:lstStyle/>
                    <a:p>
                      <a:r>
                        <a:rPr sz="1400" b="0">
                          <a:solidFill>
                            <a:srgbClr val="14293D"/>
                          </a:solidFill>
                          <a:latin typeface="Calibri"/>
                        </a:rPr>
                        <a:t>JsonPolymorphic y JsonDerivedType, JsonInclude y constructor privado para el deserializador</a:t>
                      </a:r>
                    </a:p>
                  </a:txBody>
                  <a:tcPr>
                    <a:solidFill>
                      <a:srgbClr val="EAF1F8"/>
                    </a:solidFill>
                  </a:tcPr>
                </a:tc>
              </a:tr>
              <a:tr h="692331">
                <a:tc>
                  <a:txBody>
                    <a:bodyPr/>
                    <a:lstStyle/>
                    <a:p>
                      <a:r>
                        <a:rPr sz="1400" b="0">
                          <a:solidFill>
                            <a:srgbClr val="14293D"/>
                          </a:solidFill>
                          <a:latin typeface="Calibri"/>
                        </a:rPr>
                        <a:t>Datos de prueba consistentes (ejemplares frente a préstamos)</a:t>
                      </a:r>
                    </a:p>
                  </a:txBody>
                  <a:tcPr>
                    <a:solidFill>
                      <a:srgbClr val="FFFFFF"/>
                    </a:solidFill>
                  </a:tcPr>
                </a:tc>
                <a:tc>
                  <a:txBody>
                    <a:bodyPr/>
                    <a:lstStyle/>
                    <a:p>
                      <a:r>
                        <a:rPr sz="1400" b="0">
                          <a:solidFill>
                            <a:srgbClr val="14293D"/>
                          </a:solidFill>
                          <a:latin typeface="Calibri"/>
                        </a:rPr>
                        <a:t>Generados con la propia lógica y un reloj simulado, más una prueba de consistencia</a:t>
                      </a:r>
                    </a:p>
                  </a:txBody>
                  <a:tcPr>
                    <a:solidFill>
                      <a:srgbClr val="FFFFFF"/>
                    </a:solidFill>
                  </a:tcPr>
                </a:tc>
              </a:tr>
              <a:tr h="692331">
                <a:tc>
                  <a:txBody>
                    <a:bodyPr/>
                    <a:lstStyle/>
                    <a:p>
                      <a:r>
                        <a:rPr sz="1400" b="0">
                          <a:solidFill>
                            <a:srgbClr val="14293D"/>
                          </a:solidFill>
                          <a:latin typeface="Calibri"/>
                        </a:rPr>
                        <a:t>Evitar archivos corruptos si falla una escritura</a:t>
                      </a:r>
                    </a:p>
                  </a:txBody>
                  <a:tcPr>
                    <a:solidFill>
                      <a:srgbClr val="EAF1F8"/>
                    </a:solidFill>
                  </a:tcPr>
                </a:tc>
                <a:tc>
                  <a:txBody>
                    <a:bodyPr/>
                    <a:lstStyle/>
                    <a:p>
                      <a:r>
                        <a:rPr sz="1400" b="0">
                          <a:solidFill>
                            <a:srgbClr val="14293D"/>
                          </a:solidFill>
                          <a:latin typeface="Calibri"/>
                        </a:rPr>
                        <a:t>Escritura en archivo temporal y reemplazo del original</a:t>
                      </a:r>
                    </a:p>
                  </a:txBody>
                  <a:tcPr>
                    <a:solidFill>
                      <a:srgbClr val="EAF1F8"/>
                    </a:solidFill>
                  </a:tcPr>
                </a:tc>
              </a:tr>
              <a:tr h="692331">
                <a:tc>
                  <a:txBody>
                    <a:bodyPr/>
                    <a:lstStyle/>
                    <a:p>
                      <a:r>
                        <a:rPr sz="1400" b="0">
                          <a:solidFill>
                            <a:srgbClr val="14293D"/>
                          </a:solidFill>
                          <a:latin typeface="Calibri"/>
                        </a:rPr>
                        <a:t>Probar vencimientos y multas que dependen de la fecha</a:t>
                      </a:r>
                    </a:p>
                  </a:txBody>
                  <a:tcPr>
                    <a:solidFill>
                      <a:srgbClr val="FFFFFF"/>
                    </a:solidFill>
                  </a:tcPr>
                </a:tc>
                <a:tc>
                  <a:txBody>
                    <a:bodyPr/>
                    <a:lstStyle/>
                    <a:p>
                      <a:r>
                        <a:rPr sz="1400" b="0">
                          <a:solidFill>
                            <a:srgbClr val="14293D"/>
                          </a:solidFill>
                          <a:latin typeface="Calibri"/>
                        </a:rPr>
                        <a:t>Interfaz IReloj inyectable</a:t>
                      </a:r>
                    </a:p>
                  </a:txBody>
                  <a:tcPr>
                    <a:solidFill>
                      <a:srgbClr val="FFFFFF"/>
                    </a:solidFill>
                  </a:tcPr>
                </a:tc>
              </a:tr>
              <a:tr h="692334">
                <a:tc>
                  <a:txBody>
                    <a:bodyPr/>
                    <a:lstStyle/>
                    <a:p>
                      <a:r>
                        <a:rPr sz="1400" b="0">
                          <a:solidFill>
                            <a:srgbClr val="14293D"/>
                          </a:solidFill>
                          <a:latin typeface="Calibri"/>
                        </a:rPr>
                        <a:t>Reglas de negocio repetidas en la interfaz</a:t>
                      </a:r>
                    </a:p>
                  </a:txBody>
                  <a:tcPr>
                    <a:solidFill>
                      <a:srgbClr val="EAF1F8"/>
                    </a:solidFill>
                  </a:tcPr>
                </a:tc>
                <a:tc>
                  <a:txBody>
                    <a:bodyPr/>
                    <a:lstStyle/>
                    <a:p>
                      <a:r>
                        <a:rPr sz="1400" b="0">
                          <a:solidFill>
                            <a:srgbClr val="14293D"/>
                          </a:solidFill>
                          <a:latin typeface="Calibri"/>
                        </a:rPr>
                        <a:t>Reglas solo en servicios; la interfaz muestra ValidacionException</a:t>
                      </a:r>
                    </a:p>
                  </a:txBody>
                  <a:tcPr>
                    <a:solidFill>
                      <a:srgbClr val="EAF1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Uso de GitHub</a:t>
            </a:r>
          </a:p>
        </p:txBody>
      </p:sp>
      <p:sp>
        <p:nvSpPr>
          <p:cNvPr id="4" name="TextBox 3"/>
          <p:cNvSpPr txBox="1"/>
          <p:nvPr/>
        </p:nvSpPr>
        <p:spPr>
          <a:xfrm>
            <a:off x="548640" y="960120"/>
            <a:ext cx="11064240" cy="457200"/>
          </a:xfrm>
          <a:prstGeom prst="rect">
            <a:avLst/>
          </a:prstGeom>
          <a:noFill/>
        </p:spPr>
        <p:txBody>
          <a:bodyPr wrap="square" anchor="t" lIns="45720" rIns="45720">
            <a:spAutoFit/>
          </a:bodyPr>
          <a:lstStyle/>
          <a:p>
            <a:pPr algn="l"/>
            <a:r>
              <a:rPr sz="1600" b="0">
                <a:solidFill>
                  <a:srgbClr val="5F6B7A"/>
                </a:solidFill>
                <a:latin typeface="Calibri"/>
              </a:rPr>
              <a:t>Historial construido por capas con Conventional Commits</a:t>
            </a:r>
          </a:p>
        </p:txBody>
      </p:sp>
      <p:sp>
        <p:nvSpPr>
          <p:cNvPr id="5" name="TextBox 4"/>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6" name="TextBox 5"/>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17</a:t>
            </a:r>
          </a:p>
        </p:txBody>
      </p:sp>
      <p:sp>
        <p:nvSpPr>
          <p:cNvPr id="7" name="Rounded Rectangle 6"/>
          <p:cNvSpPr/>
          <p:nvPr/>
        </p:nvSpPr>
        <p:spPr>
          <a:xfrm>
            <a:off x="548640" y="1645920"/>
            <a:ext cx="6949440" cy="4389120"/>
          </a:xfrm>
          <a:prstGeom prst="roundRect">
            <a:avLst>
              <a:gd name="adj" fmla="val 3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6583680" cy="4023360"/>
          </a:xfrm>
          <a:prstGeom prst="rect">
            <a:avLst/>
          </a:prstGeom>
          <a:noFill/>
        </p:spPr>
        <p:txBody>
          <a:bodyPr wrap="square" anchor="t" lIns="45720" rIns="45720">
            <a:spAutoFit/>
          </a:bodyPr>
          <a:lstStyle/>
          <a:p>
            <a:pPr algn="l">
              <a:spcAft>
                <a:spcPts val="700"/>
              </a:spcAft>
            </a:pPr>
            <a:r>
              <a:rPr sz="1300" b="0">
                <a:solidFill>
                  <a:srgbClr val="D6E6F5"/>
                </a:solidFill>
                <a:latin typeface="Consolas"/>
              </a:rPr>
              <a:t>chore: crea la estructura base de la solución</a:t>
            </a:r>
          </a:p>
          <a:p>
            <a:pPr algn="l">
              <a:spcAft>
                <a:spcPts val="700"/>
              </a:spcAft>
            </a:pPr>
            <a:r>
              <a:rPr sz="1300" b="0">
                <a:solidFill>
                  <a:srgbClr val="D6E6F5"/>
                </a:solidFill>
                <a:latin typeface="Consolas"/>
              </a:rPr>
              <a:t>feat: agrega modelos de libros y usuarios con sus validaciones</a:t>
            </a:r>
          </a:p>
          <a:p>
            <a:pPr algn="l">
              <a:spcAft>
                <a:spcPts val="700"/>
              </a:spcAft>
            </a:pPr>
            <a:r>
              <a:rPr sz="1300" b="0">
                <a:solidFill>
                  <a:srgbClr val="D6E6F5"/>
                </a:solidFill>
                <a:latin typeface="Consolas"/>
              </a:rPr>
              <a:t>feat: agrega la persistencia en archivos JSON con escritura atómica</a:t>
            </a:r>
          </a:p>
          <a:p>
            <a:pPr algn="l">
              <a:spcAft>
                <a:spcPts val="700"/>
              </a:spcAft>
            </a:pPr>
            <a:r>
              <a:rPr sz="1300" b="0">
                <a:solidFill>
                  <a:srgbClr val="D6E6F5"/>
                </a:solidFill>
                <a:latin typeface="Consolas"/>
              </a:rPr>
              <a:t>feat: agrega los servicios de préstamos, devoluciones y multas</a:t>
            </a:r>
          </a:p>
          <a:p>
            <a:pPr algn="l">
              <a:spcAft>
                <a:spcPts val="700"/>
              </a:spcAft>
            </a:pPr>
            <a:r>
              <a:rPr sz="1300" b="0">
                <a:solidFill>
                  <a:srgbClr val="D6E6F5"/>
                </a:solidFill>
                <a:latin typeface="Consolas"/>
              </a:rPr>
              <a:t>test: agrega pruebas unitarias de los modelos del dominio</a:t>
            </a:r>
          </a:p>
          <a:p>
            <a:pPr algn="l">
              <a:spcAft>
                <a:spcPts val="700"/>
              </a:spcAft>
            </a:pPr>
            <a:r>
              <a:rPr sz="1300" b="0">
                <a:solidFill>
                  <a:srgbClr val="D6E6F5"/>
                </a:solidFill>
                <a:latin typeface="Consolas"/>
              </a:rPr>
              <a:t>feat: agrega el módulo de libros con búsqueda, filtros y formulario</a:t>
            </a:r>
          </a:p>
          <a:p>
            <a:pPr algn="l">
              <a:spcAft>
                <a:spcPts val="700"/>
              </a:spcAft>
            </a:pPr>
            <a:r>
              <a:rPr sz="1300" b="0">
                <a:solidFill>
                  <a:srgbClr val="D6E6F5"/>
                </a:solidFill>
                <a:latin typeface="Consolas"/>
              </a:rPr>
              <a:t>feat: integra la ventana principal, el menú de navegación y la pantalla de inicio</a:t>
            </a:r>
          </a:p>
          <a:p>
            <a:pPr algn="l">
              <a:spcAft>
                <a:spcPts val="700"/>
              </a:spcAft>
            </a:pPr>
            <a:r>
              <a:rPr sz="1300" b="0">
                <a:solidFill>
                  <a:srgbClr val="D6E6F5"/>
                </a:solidFill>
                <a:latin typeface="Consolas"/>
              </a:rPr>
              <a:t>docs: agrega los diagramas de clases, secuencia, actividad, estados y arquitectura</a:t>
            </a:r>
          </a:p>
        </p:txBody>
      </p:sp>
      <p:sp>
        <p:nvSpPr>
          <p:cNvPr id="9" name="Rounded Rectangle 8"/>
          <p:cNvSpPr/>
          <p:nvPr/>
        </p:nvSpPr>
        <p:spPr>
          <a:xfrm>
            <a:off x="7772400" y="1645920"/>
            <a:ext cx="3886200" cy="438912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1737360"/>
            <a:ext cx="3611880" cy="411480"/>
          </a:xfrm>
          <a:prstGeom prst="rect">
            <a:avLst/>
          </a:prstGeom>
          <a:noFill/>
        </p:spPr>
        <p:txBody>
          <a:bodyPr wrap="square" anchor="t" lIns="45720" rIns="45720">
            <a:spAutoFit/>
          </a:bodyPr>
          <a:lstStyle/>
          <a:p>
            <a:pPr algn="l"/>
            <a:r>
              <a:rPr sz="1700" b="1">
                <a:solidFill>
                  <a:srgbClr val="1F4E79"/>
                </a:solidFill>
                <a:latin typeface="Calibri"/>
              </a:rPr>
              <a:t>Convenciones</a:t>
            </a:r>
          </a:p>
        </p:txBody>
      </p:sp>
      <p:sp>
        <p:nvSpPr>
          <p:cNvPr id="11" name="TextBox 10"/>
          <p:cNvSpPr txBox="1"/>
          <p:nvPr/>
        </p:nvSpPr>
        <p:spPr>
          <a:xfrm>
            <a:off x="7909560" y="2194560"/>
            <a:ext cx="3611880" cy="3749039"/>
          </a:xfrm>
          <a:prstGeom prst="rect">
            <a:avLst/>
          </a:prstGeom>
          <a:noFill/>
        </p:spPr>
        <p:txBody>
          <a:bodyPr wrap="square">
            <a:spAutoFit/>
          </a:bodyPr>
          <a:lstStyle/>
          <a:p>
            <a:pPr>
              <a:spcAft>
                <a:spcPts val="300"/>
              </a:spcAft>
            </a:pPr>
            <a:r>
              <a:rPr sz="1500">
                <a:solidFill>
                  <a:srgbClr val="14293D"/>
                </a:solidFill>
                <a:latin typeface="Calibri"/>
              </a:rPr>
              <a:t>• Un commit por cambio lógico</a:t>
            </a:r>
          </a:p>
          <a:p>
            <a:pPr>
              <a:spcAft>
                <a:spcPts val="300"/>
              </a:spcAft>
            </a:pPr>
            <a:r>
              <a:rPr sz="1500">
                <a:solidFill>
                  <a:srgbClr val="14293D"/>
                </a:solidFill>
                <a:latin typeface="Calibri"/>
              </a:rPr>
              <a:t>• Tipos: feat, fix, docs, chore, test</a:t>
            </a:r>
          </a:p>
          <a:p>
            <a:pPr>
              <a:spcAft>
                <a:spcPts val="300"/>
              </a:spcAft>
            </a:pPr>
            <a:r>
              <a:rPr sz="1500">
                <a:solidFill>
                  <a:srgbClr val="14293D"/>
                </a:solidFill>
                <a:latin typeface="Calibri"/>
              </a:rPr>
              <a:t>• Descripción en español, en imperativo</a:t>
            </a:r>
          </a:p>
          <a:p>
            <a:pPr>
              <a:spcAft>
                <a:spcPts val="300"/>
              </a:spcAft>
            </a:pPr>
            <a:r>
              <a:rPr sz="1500">
                <a:solidFill>
                  <a:srgbClr val="14293D"/>
                </a:solidFill>
                <a:latin typeface="Calibri"/>
              </a:rPr>
              <a:t>• Repositorio en la organización del curso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731520"/>
          </a:xfrm>
          <a:prstGeom prst="rect">
            <a:avLst/>
          </a:prstGeom>
          <a:noFill/>
        </p:spPr>
        <p:txBody>
          <a:bodyPr wrap="square" anchor="t" lIns="45720" rIns="45720">
            <a:spAutoFit/>
          </a:bodyPr>
          <a:lstStyle/>
          <a:p>
            <a:pPr algn="l"/>
            <a:r>
              <a:rPr sz="3200" b="1">
                <a:solidFill>
                  <a:srgbClr val="14293D"/>
                </a:solidFill>
                <a:latin typeface="Calibri"/>
              </a:rPr>
              <a:t>Conclusiones y demostración</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1100" b="0">
                <a:solidFill>
                  <a:srgbClr val="5F6B7A"/>
                </a:solidFill>
                <a:latin typeface="Calibri"/>
              </a:rPr>
              <a:t>Sistema de biblioteca · Programación II</a:t>
            </a:r>
          </a:p>
        </p:txBody>
      </p:sp>
      <p:sp>
        <p:nvSpPr>
          <p:cNvPr id="5" name="TextBox 4"/>
          <p:cNvSpPr txBox="1"/>
          <p:nvPr/>
        </p:nvSpPr>
        <p:spPr>
          <a:xfrm>
            <a:off x="10698480" y="6446520"/>
            <a:ext cx="914400" cy="274320"/>
          </a:xfrm>
          <a:prstGeom prst="rect">
            <a:avLst/>
          </a:prstGeom>
          <a:noFill/>
        </p:spPr>
        <p:txBody>
          <a:bodyPr wrap="square" anchor="t" lIns="45720" rIns="45720">
            <a:spAutoFit/>
          </a:bodyPr>
          <a:lstStyle/>
          <a:p>
            <a:pPr algn="r"/>
            <a:r>
              <a:rPr sz="1100" b="0">
                <a:solidFill>
                  <a:srgbClr val="5F6B7A"/>
                </a:solidFill>
                <a:latin typeface="Calibri"/>
              </a:rPr>
              <a:t>18</a:t>
            </a:r>
          </a:p>
        </p:txBody>
      </p:sp>
      <p:sp>
        <p:nvSpPr>
          <p:cNvPr id="6" name="Rounded Rectangle 5"/>
          <p:cNvSpPr/>
          <p:nvPr/>
        </p:nvSpPr>
        <p:spPr>
          <a:xfrm>
            <a:off x="548640" y="1371600"/>
            <a:ext cx="5486400" cy="4754880"/>
          </a:xfrm>
          <a:prstGeom prst="roundRect">
            <a:avLst>
              <a:gd name="adj" fmla="val 6000"/>
            </a:avLst>
          </a:prstGeom>
          <a:solidFill>
            <a:srgbClr val="EAF1F8"/>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5212080" cy="411480"/>
          </a:xfrm>
          <a:prstGeom prst="rect">
            <a:avLst/>
          </a:prstGeom>
          <a:noFill/>
        </p:spPr>
        <p:txBody>
          <a:bodyPr wrap="square" anchor="t" lIns="45720" rIns="45720">
            <a:spAutoFit/>
          </a:bodyPr>
          <a:lstStyle/>
          <a:p>
            <a:pPr algn="l"/>
            <a:r>
              <a:rPr sz="1700" b="1">
                <a:solidFill>
                  <a:srgbClr val="1F4E79"/>
                </a:solidFill>
                <a:latin typeface="Calibri"/>
              </a:rPr>
              <a:t>Conclusiones</a:t>
            </a:r>
          </a:p>
        </p:txBody>
      </p:sp>
      <p:sp>
        <p:nvSpPr>
          <p:cNvPr id="8" name="TextBox 7"/>
          <p:cNvSpPr txBox="1"/>
          <p:nvPr/>
        </p:nvSpPr>
        <p:spPr>
          <a:xfrm>
            <a:off x="685800" y="1920240"/>
            <a:ext cx="5212080" cy="4114800"/>
          </a:xfrm>
          <a:prstGeom prst="rect">
            <a:avLst/>
          </a:prstGeom>
          <a:noFill/>
        </p:spPr>
        <p:txBody>
          <a:bodyPr wrap="square">
            <a:spAutoFit/>
          </a:bodyPr>
          <a:lstStyle/>
          <a:p>
            <a:pPr>
              <a:spcAft>
                <a:spcPts val="300"/>
              </a:spcAft>
            </a:pPr>
            <a:r>
              <a:rPr sz="1600">
                <a:solidFill>
                  <a:srgbClr val="14293D"/>
                </a:solidFill>
                <a:latin typeface="Calibri"/>
              </a:rPr>
              <a:t>• Un problema real se convirtió en requisitos, UML, clases, código, interfaz, archivos y pruebas</a:t>
            </a:r>
          </a:p>
          <a:p>
            <a:pPr>
              <a:spcAft>
                <a:spcPts val="300"/>
              </a:spcAft>
            </a:pPr>
            <a:r>
              <a:rPr sz="1600">
                <a:solidFill>
                  <a:srgbClr val="14293D"/>
                </a:solidFill>
                <a:latin typeface="Calibri"/>
              </a:rPr>
              <a:t>• Las reglas de negocio viven en la lógica y están probadas</a:t>
            </a:r>
          </a:p>
          <a:p>
            <a:pPr>
              <a:spcAft>
                <a:spcPts val="300"/>
              </a:spcAft>
            </a:pPr>
            <a:r>
              <a:rPr sz="1600">
                <a:solidFill>
                  <a:srgbClr val="14293D"/>
                </a:solidFill>
                <a:latin typeface="Calibri"/>
              </a:rPr>
              <a:t>• Los datos persisten en JSON y se recuperan al reiniciar</a:t>
            </a:r>
          </a:p>
          <a:p>
            <a:pPr>
              <a:spcAft>
                <a:spcPts val="300"/>
              </a:spcAft>
            </a:pPr>
            <a:r>
              <a:rPr sz="1600">
                <a:solidFill>
                  <a:srgbClr val="14293D"/>
                </a:solidFill>
                <a:latin typeface="Calibri"/>
              </a:rPr>
              <a:t>• Historial en GitHub ordenado por capas</a:t>
            </a:r>
          </a:p>
        </p:txBody>
      </p:sp>
      <p:sp>
        <p:nvSpPr>
          <p:cNvPr id="9" name="Rounded Rectangle 8"/>
          <p:cNvSpPr/>
          <p:nvPr/>
        </p:nvSpPr>
        <p:spPr>
          <a:xfrm>
            <a:off x="6172200" y="1371600"/>
            <a:ext cx="5486400" cy="4754880"/>
          </a:xfrm>
          <a:prstGeom prst="roundRect">
            <a:avLst>
              <a:gd name="adj" fmla="val 6000"/>
            </a:avLst>
          </a:prstGeom>
          <a:solidFill>
            <a:srgbClr val="E6F4EC"/>
          </a:solidFill>
          <a:ln>
            <a:solidFill>
              <a:srgbClr val="C9D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63040"/>
            <a:ext cx="5212080" cy="411480"/>
          </a:xfrm>
          <a:prstGeom prst="rect">
            <a:avLst/>
          </a:prstGeom>
          <a:noFill/>
        </p:spPr>
        <p:txBody>
          <a:bodyPr wrap="square" anchor="t" lIns="45720" rIns="45720">
            <a:spAutoFit/>
          </a:bodyPr>
          <a:lstStyle/>
          <a:p>
            <a:pPr algn="l"/>
            <a:r>
              <a:rPr sz="1700" b="1">
                <a:solidFill>
                  <a:srgbClr val="1F4E79"/>
                </a:solidFill>
                <a:latin typeface="Calibri"/>
              </a:rPr>
              <a:t>Guion de la demostración</a:t>
            </a:r>
          </a:p>
        </p:txBody>
      </p:sp>
      <p:sp>
        <p:nvSpPr>
          <p:cNvPr id="11" name="TextBox 10"/>
          <p:cNvSpPr txBox="1"/>
          <p:nvPr/>
        </p:nvSpPr>
        <p:spPr>
          <a:xfrm>
            <a:off x="6309360" y="1920240"/>
            <a:ext cx="5212080" cy="4114800"/>
          </a:xfrm>
          <a:prstGeom prst="rect">
            <a:avLst/>
          </a:prstGeom>
          <a:noFill/>
        </p:spPr>
        <p:txBody>
          <a:bodyPr wrap="square">
            <a:spAutoFit/>
          </a:bodyPr>
          <a:lstStyle/>
          <a:p>
            <a:pPr>
              <a:spcAft>
                <a:spcPts val="300"/>
              </a:spcAft>
            </a:pPr>
            <a:r>
              <a:rPr sz="1500">
                <a:solidFill>
                  <a:srgbClr val="14293D"/>
                </a:solidFill>
                <a:latin typeface="Calibri"/>
              </a:rPr>
              <a:t>• 1. Abrir la app y recorrer el menú</a:t>
            </a:r>
          </a:p>
          <a:p>
            <a:pPr>
              <a:spcAft>
                <a:spcPts val="300"/>
              </a:spcAft>
            </a:pPr>
            <a:r>
              <a:rPr sz="1500">
                <a:solidFill>
                  <a:srgbClr val="14293D"/>
                </a:solidFill>
                <a:latin typeface="Calibri"/>
              </a:rPr>
              <a:t>• 2. Registrar un libro (primero con un error)</a:t>
            </a:r>
          </a:p>
          <a:p>
            <a:pPr>
              <a:spcAft>
                <a:spcPts val="300"/>
              </a:spcAft>
            </a:pPr>
            <a:r>
              <a:rPr sz="1500">
                <a:solidFill>
                  <a:srgbClr val="14293D"/>
                </a:solidFill>
                <a:latin typeface="Calibri"/>
              </a:rPr>
              <a:t>• 3. Prestar un libro y renovar el préstamo</a:t>
            </a:r>
          </a:p>
          <a:p>
            <a:pPr>
              <a:spcAft>
                <a:spcPts val="300"/>
              </a:spcAft>
            </a:pPr>
            <a:r>
              <a:rPr sz="1500">
                <a:solidFill>
                  <a:srgbClr val="14293D"/>
                </a:solidFill>
                <a:latin typeface="Calibri"/>
              </a:rPr>
              <a:t>• 4. Devolver un libro atrasado: se genera la multa</a:t>
            </a:r>
          </a:p>
          <a:p>
            <a:pPr>
              <a:spcAft>
                <a:spcPts val="300"/>
              </a:spcAft>
            </a:pPr>
            <a:r>
              <a:rPr sz="1500">
                <a:solidFill>
                  <a:srgbClr val="14293D"/>
                </a:solidFill>
                <a:latin typeface="Calibri"/>
              </a:rPr>
              <a:t>• 5. Pagar la multa y volver a prestar</a:t>
            </a:r>
          </a:p>
          <a:p>
            <a:pPr>
              <a:spcAft>
                <a:spcPts val="300"/>
              </a:spcAft>
            </a:pPr>
            <a:r>
              <a:rPr sz="1500">
                <a:solidFill>
                  <a:srgbClr val="14293D"/>
                </a:solidFill>
                <a:latin typeface="Calibri"/>
              </a:rPr>
              <a:t>• 6. Ver y exportar un reporte</a:t>
            </a:r>
          </a:p>
          <a:p>
            <a:pPr>
              <a:spcAft>
                <a:spcPts val="300"/>
              </a:spcAft>
            </a:pPr>
            <a:r>
              <a:rPr sz="1500">
                <a:solidFill>
                  <a:srgbClr val="14293D"/>
                </a:solidFill>
                <a:latin typeface="Calibri"/>
              </a:rPr>
              <a:t>• 7. Cerrar, abrir y comprobar que los datos siguen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