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9"/>
    <p:sldId id="258" r:id="rId10"/>
    <p:sldId id="259" r:id="rId11"/>
    <p:sldId id="260" r:id="rId12"/>
    <p:sldId id="261" r:id="rId13"/>
    <p:sldId id="262" r:id="rId14"/>
    <p:sldId id="263" r:id="rId15"/>
    <p:sldId id="264" r:id="rId16"/>
    <p:sldId id="265" r:id="rId17"/>
    <p:sldId id="266" r:id="rId18"/>
    <p:sldId id="267" r:id="rId19"/>
    <p:sldId id="268" r:id="rId20"/>
    <p:sldId id="269" r:id="rId21"/>
    <p:sldId id="270" r:id="rId22"/>
    <p:sldId id="271" r:id="rId23"/>
    <p:sldId id="272" r:id="rId24"/>
    <p:sldId id="273" r:id="rId25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notesMaster" Target="notesMasters/notesMaster1.xml"/><Relationship Id="rId9" Type="http://schemas.openxmlformats.org/officeDocument/2006/relationships/slide" Target="slides/slide2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4" Type="http://schemas.openxmlformats.org/officeDocument/2006/relationships/slide" Target="slides/slide7.xml"/><Relationship Id="rId15" Type="http://schemas.openxmlformats.org/officeDocument/2006/relationships/slide" Target="slides/slide8.xml"/><Relationship Id="rId16" Type="http://schemas.openxmlformats.org/officeDocument/2006/relationships/slide" Target="slides/slide9.xml"/><Relationship Id="rId17" Type="http://schemas.openxmlformats.org/officeDocument/2006/relationships/slide" Target="slides/slide10.xml"/><Relationship Id="rId18" Type="http://schemas.openxmlformats.org/officeDocument/2006/relationships/slide" Target="slides/slide11.xml"/><Relationship Id="rId19" Type="http://schemas.openxmlformats.org/officeDocument/2006/relationships/slide" Target="slides/slide12.xml"/><Relationship Id="rId20" Type="http://schemas.openxmlformats.org/officeDocument/2006/relationships/slide" Target="slides/slide13.xml"/><Relationship Id="rId21" Type="http://schemas.openxmlformats.org/officeDocument/2006/relationships/slide" Target="slides/slide14.xml"/><Relationship Id="rId22" Type="http://schemas.openxmlformats.org/officeDocument/2006/relationships/slide" Target="slides/slide15.xml"/><Relationship Id="rId23" Type="http://schemas.openxmlformats.org/officeDocument/2006/relationships/slide" Target="slides/slide16.xml"/><Relationship Id="rId24" Type="http://schemas.openxmlformats.org/officeDocument/2006/relationships/slide" Target="slides/slide17.xml"/><Relationship Id="rId25" Type="http://schemas.openxmlformats.org/officeDocument/2006/relationships/slide" Target="slides/slide18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_rels/notesSlide1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.xml"/></Relationships>
</file>

<file path=ppt/notesSlides/_rels/notesSlide1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4.xml"/></Relationships>
</file>

<file path=ppt/notesSlides/_rels/notesSlide1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5.xml"/></Relationships>
</file>

<file path=ppt/notesSlides/_rels/notesSlide1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6.xml"/></Relationships>
</file>

<file path=ppt/notesSlides/_rels/notesSlide1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7.xml"/></Relationships>
</file>

<file path=ppt/notesSlides/_rels/notesSlide1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8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Presentar al equipo y el sistema: una aplicación web de gestión de biblioteca hecha con ASP.NET Core MVC y archivos JSON. Seguimos la ruta problema → requisitos → UML → clases → código → interfaz → archivos → pruebas.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Situación actual: cuadernos, fichas y multas calculadas de memoria. El problema central es que no hay un registro único y consistente de libros, usuarios, préstamos y multas.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Objetivo general: aplicación web en C# con POO y UML que gestione catálogo, usuarios, préstamos, devoluciones y multas con archivos JSON. Alcance: los cinco módulos del enunciado.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Requisitos por módulo. Reglas clave: límites 3/5 préstamos, plazos 7/14 días, máximo 2 renovaciones, multa Q2.00 por día con tope Q100.00.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Actores: Bibliotecario (principal), Lector (secundario) y los archivos JSON. CU-18 se incluye en CU-09; CU-14 extiende a CU-12 solo si hay atraso.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EntidadBase aporta el Id; Persona es abstracta con Lector y Bibliotecario; Libro, Prestamo y Multa se relacionan por identificadores. El polimorfismo está en LimitePrestamos y DiasPrestamo.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El formulario envía un POST a PrestamosController, que llama a PrestamoService. Si falla una regla se vuelve a mostrar el formulario con el error; si no, se guardan prestamos.json y libros.json y se redirige con el mensaje de confirmación.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La actividad de préstamo muestra las seis validaciones; la de devolución, el cálculo de la multa. El diagrama de estados resume el ciclo Activo → Atrasado → Devuelto.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Modelo = Biblioteca.Core, Vista = Views/*.cshtml (Razor + Bootstrap), Controlador = Controllers/*.cs. Los controladores reciben SistemaBiblioteca por inyección de dependencias y llaman a los servicios; el modelo no conoce la web, por eso se prueba sin navegador.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Demostrar el menú lateral y el inicio: indicadores, próximos vencimientos, accesos rápidos y reglas del servicio.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Demo: registrar un libro con ISBN inválido y mostrar el error; luego registrar un préstamo y mostrar el rechazo a un usuario con libros atrasados.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Mostrar búsqueda por título, filtro por categoría y disponibilidad. En reportes, elegir 'Libros atrasados' y exportar a CSV.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Cada cambio serializa la colección completa a un .tmp y reemplaza el archivo original. Solo se guardan datos primarios. La jerarquía Persona se guarda con el discriminador 'tipo'.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Demo: registrar un libro, detener la aplicación con Ctrl+C, ejecutar dotnet run de nuevo y mostrar que sigue ahí. Mencionar la prueba automatizada que reabre el sistema.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Recorrer la cadena de trazabilidad. Los 24 tests de integración levantan la aplicación web completa en memoria y ejercitan controladores, vistas y archivos JSON.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Contar problemas reales: JsonIgnore no se hereda en un override y el JSON guardaba propiedades calculadas; las secciones Razor no se renderizan desde vistas parciales; el dinero salía con coma según la cultura del servidor.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Mostrar el historial del repositorio: cada commit es un cambio lógico con el formato tipo: descripción en español. Se ve también el cambio a MVC hecho por capas.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Cerrar resumiendo y pasar a la demostración en vivo siguiendo el guion.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1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.xml"/><Relationship Id="rId3" Type="http://schemas.openxmlformats.org/officeDocument/2006/relationships/image" Target="../media/image2.pn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7.xml"/><Relationship Id="rId3" Type="http://schemas.openxmlformats.org/officeDocument/2006/relationships/image" Target="../media/image3.pn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8.xml"/><Relationship Id="rId3" Type="http://schemas.openxmlformats.org/officeDocument/2006/relationships/image" Target="../media/image4.png"/><Relationship Id="rId4" Type="http://schemas.openxmlformats.org/officeDocument/2006/relationships/image" Target="../media/image5.png"/><Relationship Id="rId5" Type="http://schemas.openxmlformats.org/officeDocument/2006/relationships/image" Target="../media/image6.pn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9.xml"/><Relationship Id="rId3" Type="http://schemas.openxmlformats.org/officeDocument/2006/relationships/image" Target="../media/image7.png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0.xml"/><Relationship Id="rId3" Type="http://schemas.openxmlformats.org/officeDocument/2006/relationships/image" Target="../media/image8.png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1.xml"/><Relationship Id="rId3" Type="http://schemas.openxmlformats.org/officeDocument/2006/relationships/image" Target="../media/image9.png"/><Relationship Id="rId4" Type="http://schemas.openxmlformats.org/officeDocument/2006/relationships/image" Target="../media/image10.png"/><Relationship Id="rId5" Type="http://schemas.openxmlformats.org/officeDocument/2006/relationships/image" Target="../media/image11.png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2.xml"/><Relationship Id="rId3" Type="http://schemas.openxmlformats.org/officeDocument/2006/relationships/image" Target="../media/image12.png"/><Relationship Id="rId4" Type="http://schemas.openxmlformats.org/officeDocument/2006/relationships/image" Target="../media/image13.png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3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4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5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6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8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4293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822960" y="2743200"/>
            <a:ext cx="1463040" cy="73152"/>
          </a:xfrm>
          <a:prstGeom prst="rect">
            <a:avLst/>
          </a:prstGeom>
          <a:solidFill>
            <a:srgbClr val="5BA3E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822960" y="1280160"/>
            <a:ext cx="10515600" cy="128016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5400" b="1">
                <a:solidFill>
                  <a:srgbClr val="FFFFFF"/>
                </a:solidFill>
                <a:latin typeface="Calibri"/>
              </a:rPr>
              <a:t>Sistema de biblioteca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2926080"/>
            <a:ext cx="10515600" cy="5486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2400" b="0">
                <a:solidFill>
                  <a:srgbClr val="C9DBEE"/>
                </a:solidFill>
                <a:latin typeface="Calibri"/>
              </a:rPr>
              <a:t>Aplicación web ASP.NET Core MVC · Proyecto Integrador de Programación II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60" y="3840480"/>
            <a:ext cx="10515600" cy="219456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1800" b="0">
                <a:solidFill>
                  <a:srgbClr val="C9DBEE"/>
                </a:solidFill>
                <a:latin typeface="Calibri"/>
              </a:rPr>
              <a:t>Universidad San Pablo de Guatemala</a:t>
            </a:r>
          </a:p>
          <a:p>
            <a:pPr algn="l"/>
            <a:r>
              <a:rPr sz="1800" b="0">
                <a:solidFill>
                  <a:srgbClr val="C9DBEE"/>
                </a:solidFill>
                <a:latin typeface="Calibri"/>
              </a:rPr>
              <a:t>Angela María Cruz Cifuentes (2600094)</a:t>
            </a:r>
          </a:p>
          <a:p>
            <a:pPr algn="l"/>
            <a:r>
              <a:rPr sz="1800" b="0">
                <a:solidFill>
                  <a:srgbClr val="C9DBEE"/>
                </a:solidFill>
                <a:latin typeface="Calibri"/>
              </a:rPr>
              <a:t>Carlos Fernando Villatoro López (2600447)</a:t>
            </a:r>
          </a:p>
          <a:p>
            <a:pPr algn="l"/>
            <a:r>
              <a:rPr sz="1800" b="0">
                <a:solidFill>
                  <a:srgbClr val="C9DBEE"/>
                </a:solidFill>
                <a:latin typeface="Calibri"/>
              </a:rPr>
              <a:t>Angel Kaled Rodriguez Soc (2600100)</a:t>
            </a:r>
          </a:p>
          <a:p>
            <a:pPr algn="l"/>
            <a:r>
              <a:rPr sz="1800" b="0">
                <a:solidFill>
                  <a:srgbClr val="C9DBEE"/>
                </a:solidFill>
                <a:latin typeface="Calibri"/>
              </a:rPr>
              <a:t>Catedrático: Erik Arnulfo Santizo Bardales</a:t>
            </a:r>
          </a:p>
          <a:p>
            <a:pPr algn="l"/>
            <a:r>
              <a:rPr sz="1800" b="0">
                <a:solidFill>
                  <a:srgbClr val="C9DBEE"/>
                </a:solidFill>
                <a:latin typeface="Calibri"/>
              </a:rPr>
              <a:t>10 de octubre de 2026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28016"/>
          </a:xfrm>
          <a:prstGeom prst="rect">
            <a:avLst/>
          </a:prstGeom>
          <a:solidFill>
            <a:srgbClr val="1F4E7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320040"/>
            <a:ext cx="11064240" cy="7315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3200" b="1">
                <a:solidFill>
                  <a:srgbClr val="14293D"/>
                </a:solidFill>
                <a:latin typeface="Calibri"/>
              </a:rPr>
              <a:t>Problema identificado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960120"/>
            <a:ext cx="11064240" cy="45720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1600" b="0">
                <a:solidFill>
                  <a:srgbClr val="5F6B7A"/>
                </a:solidFill>
                <a:latin typeface="Calibri"/>
              </a:rPr>
              <a:t>Una biblioteca que gestiona todo de forma manual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6446520"/>
            <a:ext cx="82296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1100" b="0">
                <a:solidFill>
                  <a:srgbClr val="5F6B7A"/>
                </a:solidFill>
                <a:latin typeface="Calibri"/>
              </a:rPr>
              <a:t>Sistema de biblioteca · Programación II · Universidad San Pablo de Guatemala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698480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100" b="0">
                <a:solidFill>
                  <a:srgbClr val="5F6B7A"/>
                </a:solidFill>
                <a:latin typeface="Calibri"/>
              </a:rPr>
              <a:t>2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48640" y="1645920"/>
            <a:ext cx="3657600" cy="4480560"/>
          </a:xfrm>
          <a:prstGeom prst="roundRect">
            <a:avLst>
              <a:gd name="adj" fmla="val 6000"/>
            </a:avLst>
          </a:prstGeom>
          <a:solidFill>
            <a:srgbClr val="EAF1F8"/>
          </a:solidFill>
          <a:ln>
            <a:solidFill>
              <a:srgbClr val="C9D6E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85800" y="1737360"/>
            <a:ext cx="3383280" cy="41148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1700" b="1">
                <a:solidFill>
                  <a:srgbClr val="1F4E79"/>
                </a:solidFill>
                <a:latin typeface="Calibri"/>
              </a:rPr>
              <a:t>Situación actual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85800" y="2194560"/>
            <a:ext cx="3383280" cy="3840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300"/>
              </a:spcAft>
            </a:pPr>
            <a:r>
              <a:rPr sz="1500">
                <a:solidFill>
                  <a:srgbClr val="14293D"/>
                </a:solidFill>
                <a:latin typeface="Calibri"/>
              </a:rPr>
              <a:t>• Libros anotados en cuadernos u hojas sueltas</a:t>
            </a:r>
          </a:p>
          <a:p>
            <a:pPr>
              <a:spcAft>
                <a:spcPts val="300"/>
              </a:spcAft>
            </a:pPr>
            <a:r>
              <a:rPr sz="1500">
                <a:solidFill>
                  <a:srgbClr val="14293D"/>
                </a:solidFill>
                <a:latin typeface="Calibri"/>
              </a:rPr>
              <a:t>• Fichas de papel para cada préstamo</a:t>
            </a:r>
          </a:p>
          <a:p>
            <a:pPr>
              <a:spcAft>
                <a:spcPts val="300"/>
              </a:spcAft>
            </a:pPr>
            <a:r>
              <a:rPr sz="1500">
                <a:solidFill>
                  <a:srgbClr val="14293D"/>
                </a:solidFill>
                <a:latin typeface="Calibri"/>
              </a:rPr>
              <a:t>• Vencimientos recordados a mano</a:t>
            </a:r>
          </a:p>
          <a:p>
            <a:pPr>
              <a:spcAft>
                <a:spcPts val="300"/>
              </a:spcAft>
            </a:pPr>
            <a:r>
              <a:rPr sz="1500">
                <a:solidFill>
                  <a:srgbClr val="14293D"/>
                </a:solidFill>
                <a:latin typeface="Calibri"/>
              </a:rPr>
              <a:t>• Multas calculadas “de memoria”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4343400" y="1645920"/>
            <a:ext cx="3657600" cy="4480560"/>
          </a:xfrm>
          <a:prstGeom prst="roundRect">
            <a:avLst>
              <a:gd name="adj" fmla="val 6000"/>
            </a:avLst>
          </a:prstGeom>
          <a:solidFill>
            <a:srgbClr val="FBE9E7"/>
          </a:solidFill>
          <a:ln>
            <a:solidFill>
              <a:srgbClr val="C9D6E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4480560" y="1737360"/>
            <a:ext cx="3383280" cy="41148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1700" b="1">
                <a:solidFill>
                  <a:srgbClr val="1F4E79"/>
                </a:solidFill>
                <a:latin typeface="Calibri"/>
              </a:rPr>
              <a:t>Problema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480560" y="2194560"/>
            <a:ext cx="3383280" cy="3840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300"/>
              </a:spcAft>
            </a:pPr>
            <a:r>
              <a:rPr sz="1500">
                <a:solidFill>
                  <a:srgbClr val="14293D"/>
                </a:solidFill>
                <a:latin typeface="Calibri"/>
              </a:rPr>
              <a:t>• Se prestan libros sin ejemplares o a quien no debe recibirlos</a:t>
            </a:r>
          </a:p>
          <a:p>
            <a:pPr>
              <a:spcAft>
                <a:spcPts val="300"/>
              </a:spcAft>
            </a:pPr>
            <a:r>
              <a:rPr sz="1500">
                <a:solidFill>
                  <a:srgbClr val="14293D"/>
                </a:solidFill>
                <a:latin typeface="Calibri"/>
              </a:rPr>
              <a:t>• Vencimientos y multas sin control uniforme</a:t>
            </a:r>
          </a:p>
          <a:p>
            <a:pPr>
              <a:spcAft>
                <a:spcPts val="300"/>
              </a:spcAft>
            </a:pPr>
            <a:r>
              <a:rPr sz="1500">
                <a:solidFill>
                  <a:srgbClr val="14293D"/>
                </a:solidFill>
                <a:latin typeface="Calibri"/>
              </a:rPr>
              <a:t>• Información duplicada o perdida</a:t>
            </a:r>
          </a:p>
          <a:p>
            <a:pPr>
              <a:spcAft>
                <a:spcPts val="300"/>
              </a:spcAft>
            </a:pPr>
            <a:r>
              <a:rPr sz="1500">
                <a:solidFill>
                  <a:srgbClr val="14293D"/>
                </a:solidFill>
                <a:latin typeface="Calibri"/>
              </a:rPr>
              <a:t>• Reportes lentos y propensos a error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8138160" y="1645920"/>
            <a:ext cx="3520440" cy="4480560"/>
          </a:xfrm>
          <a:prstGeom prst="roundRect">
            <a:avLst>
              <a:gd name="adj" fmla="val 6000"/>
            </a:avLst>
          </a:prstGeom>
          <a:solidFill>
            <a:srgbClr val="E6F4EC"/>
          </a:solidFill>
          <a:ln>
            <a:solidFill>
              <a:srgbClr val="C9D6E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8275320" y="1737360"/>
            <a:ext cx="3246120" cy="41148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1700" b="1">
                <a:solidFill>
                  <a:srgbClr val="1F4E79"/>
                </a:solidFill>
                <a:latin typeface="Calibri"/>
              </a:rPr>
              <a:t>Propuesta de solución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275320" y="2194560"/>
            <a:ext cx="3246120" cy="3840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300"/>
              </a:spcAft>
            </a:pPr>
            <a:r>
              <a:rPr sz="1500">
                <a:solidFill>
                  <a:srgbClr val="14293D"/>
                </a:solidFill>
                <a:latin typeface="Calibri"/>
              </a:rPr>
              <a:t>• Aplicación web ASP.NET Core MVC (C#, .NET 8)</a:t>
            </a:r>
          </a:p>
          <a:p>
            <a:pPr>
              <a:spcAft>
                <a:spcPts val="300"/>
              </a:spcAft>
            </a:pPr>
            <a:r>
              <a:rPr sz="1500">
                <a:solidFill>
                  <a:srgbClr val="14293D"/>
                </a:solidFill>
                <a:latin typeface="Calibri"/>
              </a:rPr>
              <a:t>• Reglas del servicio automáticas</a:t>
            </a:r>
          </a:p>
          <a:p>
            <a:pPr>
              <a:spcAft>
                <a:spcPts val="300"/>
              </a:spcAft>
            </a:pPr>
            <a:r>
              <a:rPr sz="1500">
                <a:solidFill>
                  <a:srgbClr val="14293D"/>
                </a:solidFill>
                <a:latin typeface="Calibri"/>
              </a:rPr>
              <a:t>• Datos en archivos JSON</a:t>
            </a:r>
          </a:p>
          <a:p>
            <a:pPr>
              <a:spcAft>
                <a:spcPts val="300"/>
              </a:spcAft>
            </a:pPr>
            <a:r>
              <a:rPr sz="1500">
                <a:solidFill>
                  <a:srgbClr val="14293D"/>
                </a:solidFill>
                <a:latin typeface="Calibri"/>
              </a:rPr>
              <a:t>• Reportes y exportación a CSV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28016"/>
          </a:xfrm>
          <a:prstGeom prst="rect">
            <a:avLst/>
          </a:prstGeom>
          <a:solidFill>
            <a:srgbClr val="1F4E7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320040"/>
            <a:ext cx="11064240" cy="7315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3200" b="1">
                <a:solidFill>
                  <a:srgbClr val="14293D"/>
                </a:solidFill>
                <a:latin typeface="Calibri"/>
              </a:rPr>
              <a:t>Análisis realizado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960120"/>
            <a:ext cx="11064240" cy="45720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1600" b="0">
                <a:solidFill>
                  <a:srgbClr val="5F6B7A"/>
                </a:solidFill>
                <a:latin typeface="Calibri"/>
              </a:rPr>
              <a:t>Objetivos, alcance y limitaciones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6446520"/>
            <a:ext cx="82296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1100" b="0">
                <a:solidFill>
                  <a:srgbClr val="5F6B7A"/>
                </a:solidFill>
                <a:latin typeface="Calibri"/>
              </a:rPr>
              <a:t>Sistema de biblioteca · Programación II · Universidad San Pablo de Guatemala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698480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100" b="0">
                <a:solidFill>
                  <a:srgbClr val="5F6B7A"/>
                </a:solidFill>
                <a:latin typeface="Calibri"/>
              </a:rPr>
              <a:t>3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48640" y="1645920"/>
            <a:ext cx="5486400" cy="4480560"/>
          </a:xfrm>
          <a:prstGeom prst="roundRect">
            <a:avLst>
              <a:gd name="adj" fmla="val 6000"/>
            </a:avLst>
          </a:prstGeom>
          <a:solidFill>
            <a:srgbClr val="EAF1F8"/>
          </a:solidFill>
          <a:ln>
            <a:solidFill>
              <a:srgbClr val="C9D6E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85800" y="1737360"/>
            <a:ext cx="5212080" cy="41148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1700" b="1">
                <a:solidFill>
                  <a:srgbClr val="1F4E79"/>
                </a:solidFill>
                <a:latin typeface="Calibri"/>
              </a:rPr>
              <a:t>Objetivo general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85800" y="2194560"/>
            <a:ext cx="5212080" cy="3840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300"/>
              </a:spcAft>
            </a:pPr>
            <a:r>
              <a:rPr sz="1600">
                <a:solidFill>
                  <a:srgbClr val="14293D"/>
                </a:solidFill>
                <a:latin typeface="Calibri"/>
              </a:rPr>
              <a:t>• Gestionar catálogo, usuarios, préstamos, devoluciones y multas con una aplicación web, aplicando POO y UML, y guardando los datos en archivos JSON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85800" y="3246120"/>
            <a:ext cx="5212080" cy="2834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b="1" sz="1600">
                <a:solidFill>
                  <a:srgbClr val="14293D"/>
                </a:solidFill>
                <a:latin typeface="Calibri"/>
              </a:rPr>
              <a:t>• Específicos:</a:t>
            </a:r>
            <a:r>
              <a:rPr sz="1600">
                <a:solidFill>
                  <a:srgbClr val="14293D"/>
                </a:solidFill>
                <a:latin typeface="Calibri"/>
              </a:rPr>
              <a:t> analizar y documentar, modelar en UML, implementar POO, persistir en JSON, construir la interfaz web, probar y versionar en GitHub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217920" y="1645920"/>
            <a:ext cx="5440680" cy="2286000"/>
          </a:xfrm>
          <a:prstGeom prst="roundRect">
            <a:avLst>
              <a:gd name="adj" fmla="val 6000"/>
            </a:avLst>
          </a:prstGeom>
          <a:solidFill>
            <a:srgbClr val="EAF1F8"/>
          </a:solidFill>
          <a:ln>
            <a:solidFill>
              <a:srgbClr val="C9D6E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355080" y="1737360"/>
            <a:ext cx="5166360" cy="41148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1700" b="1">
                <a:solidFill>
                  <a:srgbClr val="1F4E79"/>
                </a:solidFill>
                <a:latin typeface="Calibri"/>
              </a:rPr>
              <a:t>Alcance: 5 módulos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355080" y="2194560"/>
            <a:ext cx="5166360" cy="1645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300"/>
              </a:spcAft>
            </a:pPr>
            <a:r>
              <a:rPr sz="1600">
                <a:solidFill>
                  <a:srgbClr val="14293D"/>
                </a:solidFill>
                <a:latin typeface="Calibri"/>
              </a:rPr>
              <a:t>• Libros · Usuarios · Préstamos</a:t>
            </a:r>
          </a:p>
          <a:p>
            <a:pPr>
              <a:spcAft>
                <a:spcPts val="300"/>
              </a:spcAft>
            </a:pPr>
            <a:r>
              <a:rPr sz="1600">
                <a:solidFill>
                  <a:srgbClr val="14293D"/>
                </a:solidFill>
                <a:latin typeface="Calibri"/>
              </a:rPr>
              <a:t>• Devoluciones y multas · Reportes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217920" y="4069080"/>
            <a:ext cx="5440680" cy="2057400"/>
          </a:xfrm>
          <a:prstGeom prst="roundRect">
            <a:avLst>
              <a:gd name="adj" fmla="val 6000"/>
            </a:avLst>
          </a:prstGeom>
          <a:solidFill>
            <a:srgbClr val="EAF1F8"/>
          </a:solidFill>
          <a:ln>
            <a:solidFill>
              <a:srgbClr val="C9D6E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355080" y="4160520"/>
            <a:ext cx="5166360" cy="41148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1700" b="1">
                <a:solidFill>
                  <a:srgbClr val="1F4E79"/>
                </a:solidFill>
                <a:latin typeface="Calibri"/>
              </a:rPr>
              <a:t>Limitaciones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355080" y="4617720"/>
            <a:ext cx="5166360" cy="1417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300"/>
              </a:spcAft>
            </a:pPr>
            <a:r>
              <a:rPr sz="1500">
                <a:solidFill>
                  <a:srgbClr val="14293D"/>
                </a:solidFill>
                <a:latin typeface="Calibri"/>
              </a:rPr>
              <a:t>• Sin inicio de sesión; una instancia y una petición a la vez</a:t>
            </a:r>
          </a:p>
          <a:p>
            <a:pPr>
              <a:spcAft>
                <a:spcPts val="300"/>
              </a:spcAft>
            </a:pPr>
            <a:r>
              <a:rPr sz="1500">
                <a:solidFill>
                  <a:srgbClr val="14293D"/>
                </a:solidFill>
                <a:latin typeface="Calibri"/>
              </a:rPr>
              <a:t>• Sin reservas ni notificaciones; una política de multa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28016"/>
          </a:xfrm>
          <a:prstGeom prst="rect">
            <a:avLst/>
          </a:prstGeom>
          <a:solidFill>
            <a:srgbClr val="1F4E7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320040"/>
            <a:ext cx="11064240" cy="7315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3200" b="1">
                <a:solidFill>
                  <a:srgbClr val="14293D"/>
                </a:solidFill>
                <a:latin typeface="Calibri"/>
              </a:rPr>
              <a:t>Requisitos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960120"/>
            <a:ext cx="11064240" cy="45720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1600" b="0">
                <a:solidFill>
                  <a:srgbClr val="5F6B7A"/>
                </a:solidFill>
                <a:latin typeface="Calibri"/>
              </a:rPr>
              <a:t>34 funcionales, 11 no funcionales y 9 reglas del negocio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6446520"/>
            <a:ext cx="82296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1100" b="0">
                <a:solidFill>
                  <a:srgbClr val="5F6B7A"/>
                </a:solidFill>
                <a:latin typeface="Calibri"/>
              </a:rPr>
              <a:t>Sistema de biblioteca · Programación II · Universidad San Pablo de Guatemala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698480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100" b="0">
                <a:solidFill>
                  <a:srgbClr val="5F6B7A"/>
                </a:solidFill>
                <a:latin typeface="Calibri"/>
              </a:rPr>
              <a:t>4</a:t>
            </a:r>
          </a:p>
        </p:txBody>
      </p:sp>
      <p:graphicFrame>
        <p:nvGraphicFramePr>
          <p:cNvPr id="7" name="Table 6"/>
          <p:cNvGraphicFramePr>
            <a:graphicFrameLocks noGrp="1"/>
          </p:cNvGraphicFramePr>
          <p:nvPr/>
        </p:nvGraphicFramePr>
        <p:xfrm>
          <a:off x="548640" y="1600200"/>
          <a:ext cx="7498080" cy="42062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377440"/>
                <a:gridCol w="1737360"/>
                <a:gridCol w="3383280"/>
              </a:tblGrid>
              <a:tr h="525780">
                <a:tc>
                  <a:txBody>
                    <a:bodyPr/>
                    <a:lstStyle/>
                    <a:p>
                      <a:r>
                        <a:rPr sz="1400" b="1">
                          <a:solidFill>
                            <a:srgbClr val="FFFFFF"/>
                          </a:solidFill>
                          <a:latin typeface="Calibri"/>
                        </a:rPr>
                        <a:t>Módulo</a:t>
                      </a:r>
                    </a:p>
                  </a:txBody>
                  <a:tcPr>
                    <a:solidFill>
                      <a:srgbClr val="1F4E79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 b="1">
                          <a:solidFill>
                            <a:srgbClr val="FFFFFF"/>
                          </a:solidFill>
                          <a:latin typeface="Calibri"/>
                        </a:rPr>
                        <a:t>Requisitos</a:t>
                      </a:r>
                    </a:p>
                  </a:txBody>
                  <a:tcPr>
                    <a:solidFill>
                      <a:srgbClr val="1F4E79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 b="1">
                          <a:solidFill>
                            <a:srgbClr val="FFFFFF"/>
                          </a:solidFill>
                          <a:latin typeface="Calibri"/>
                        </a:rPr>
                        <a:t>Ejemplo</a:t>
                      </a:r>
                    </a:p>
                  </a:txBody>
                  <a:tcPr>
                    <a:solidFill>
                      <a:srgbClr val="1F4E79"/>
                    </a:solidFill>
                  </a:tcPr>
                </a:tc>
              </a:tr>
              <a:tr h="525780">
                <a:tc>
                  <a:txBody>
                    <a:bodyPr/>
                    <a:lstStyle/>
                    <a:p>
                      <a:r>
                        <a:rPr sz="1400" b="0">
                          <a:solidFill>
                            <a:srgbClr val="14293D"/>
                          </a:solidFill>
                          <a:latin typeface="Calibri"/>
                        </a:rPr>
                        <a:t>Libros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 b="0">
                          <a:solidFill>
                            <a:srgbClr val="14293D"/>
                          </a:solidFill>
                          <a:latin typeface="Calibri"/>
                        </a:rPr>
                        <a:t>RF-01 a RF-07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 b="0">
                          <a:solidFill>
                            <a:srgbClr val="14293D"/>
                          </a:solidFill>
                          <a:latin typeface="Calibri"/>
                        </a:rPr>
                        <a:t>ISBN único; disponibilidad automática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525780">
                <a:tc>
                  <a:txBody>
                    <a:bodyPr/>
                    <a:lstStyle/>
                    <a:p>
                      <a:r>
                        <a:rPr sz="1400" b="0">
                          <a:solidFill>
                            <a:srgbClr val="14293D"/>
                          </a:solidFill>
                          <a:latin typeface="Calibri"/>
                        </a:rPr>
                        <a:t>Usuarios</a:t>
                      </a:r>
                    </a:p>
                  </a:txBody>
                  <a:tcPr>
                    <a:solidFill>
                      <a:srgbClr val="EAF1F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 b="0">
                          <a:solidFill>
                            <a:srgbClr val="14293D"/>
                          </a:solidFill>
                          <a:latin typeface="Calibri"/>
                        </a:rPr>
                        <a:t>RF-08 a RF-11</a:t>
                      </a:r>
                    </a:p>
                  </a:txBody>
                  <a:tcPr>
                    <a:solidFill>
                      <a:srgbClr val="EAF1F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 b="0">
                          <a:solidFill>
                            <a:srgbClr val="14293D"/>
                          </a:solidFill>
                          <a:latin typeface="Calibri"/>
                        </a:rPr>
                        <a:t>DPI de 13 dígitos; DPI y carnet únicos</a:t>
                      </a:r>
                    </a:p>
                  </a:txBody>
                  <a:tcPr>
                    <a:solidFill>
                      <a:srgbClr val="EAF1F8"/>
                    </a:solidFill>
                  </a:tcPr>
                </a:tc>
              </a:tr>
              <a:tr h="525780">
                <a:tc>
                  <a:txBody>
                    <a:bodyPr/>
                    <a:lstStyle/>
                    <a:p>
                      <a:r>
                        <a:rPr sz="1400" b="0">
                          <a:solidFill>
                            <a:srgbClr val="14293D"/>
                          </a:solidFill>
                          <a:latin typeface="Calibri"/>
                        </a:rPr>
                        <a:t>Préstamos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 b="0">
                          <a:solidFill>
                            <a:srgbClr val="14293D"/>
                          </a:solidFill>
                          <a:latin typeface="Calibri"/>
                        </a:rPr>
                        <a:t>RF-12 a RF-17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 b="0">
                          <a:solidFill>
                            <a:srgbClr val="14293D"/>
                          </a:solidFill>
                          <a:latin typeface="Calibri"/>
                        </a:rPr>
                        <a:t>Plazo 7 / 14 días; máx. 2 renovaciones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525780">
                <a:tc>
                  <a:txBody>
                    <a:bodyPr/>
                    <a:lstStyle/>
                    <a:p>
                      <a:r>
                        <a:rPr sz="1400" b="0">
                          <a:solidFill>
                            <a:srgbClr val="14293D"/>
                          </a:solidFill>
                          <a:latin typeface="Calibri"/>
                        </a:rPr>
                        <a:t>Devoluciones y multas</a:t>
                      </a:r>
                    </a:p>
                  </a:txBody>
                  <a:tcPr>
                    <a:solidFill>
                      <a:srgbClr val="EAF1F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 b="0">
                          <a:solidFill>
                            <a:srgbClr val="14293D"/>
                          </a:solidFill>
                          <a:latin typeface="Calibri"/>
                        </a:rPr>
                        <a:t>RF-18 a RF-22</a:t>
                      </a:r>
                    </a:p>
                  </a:txBody>
                  <a:tcPr>
                    <a:solidFill>
                      <a:srgbClr val="EAF1F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 b="0">
                          <a:solidFill>
                            <a:srgbClr val="14293D"/>
                          </a:solidFill>
                          <a:latin typeface="Calibri"/>
                        </a:rPr>
                        <a:t>Q2.00 por día, tope Q100.00</a:t>
                      </a:r>
                    </a:p>
                  </a:txBody>
                  <a:tcPr>
                    <a:solidFill>
                      <a:srgbClr val="EAF1F8"/>
                    </a:solidFill>
                  </a:tcPr>
                </a:tc>
              </a:tr>
              <a:tr h="525780">
                <a:tc>
                  <a:txBody>
                    <a:bodyPr/>
                    <a:lstStyle/>
                    <a:p>
                      <a:r>
                        <a:rPr sz="1400" b="0">
                          <a:solidFill>
                            <a:srgbClr val="14293D"/>
                          </a:solidFill>
                          <a:latin typeface="Calibri"/>
                        </a:rPr>
                        <a:t>Reportes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 b="0">
                          <a:solidFill>
                            <a:srgbClr val="14293D"/>
                          </a:solidFill>
                          <a:latin typeface="Calibri"/>
                        </a:rPr>
                        <a:t>RF-23 a RF-28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 b="0">
                          <a:solidFill>
                            <a:srgbClr val="14293D"/>
                          </a:solidFill>
                          <a:latin typeface="Calibri"/>
                        </a:rPr>
                        <a:t>5 reportes y exportación a CSV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525780">
                <a:tc>
                  <a:txBody>
                    <a:bodyPr/>
                    <a:lstStyle/>
                    <a:p>
                      <a:r>
                        <a:rPr sz="1400" b="0">
                          <a:solidFill>
                            <a:srgbClr val="14293D"/>
                          </a:solidFill>
                          <a:latin typeface="Calibri"/>
                        </a:rPr>
                        <a:t>Persistencia</a:t>
                      </a:r>
                    </a:p>
                  </a:txBody>
                  <a:tcPr>
                    <a:solidFill>
                      <a:srgbClr val="EAF1F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 b="0">
                          <a:solidFill>
                            <a:srgbClr val="14293D"/>
                          </a:solidFill>
                          <a:latin typeface="Calibri"/>
                        </a:rPr>
                        <a:t>RF-29 a RF-31</a:t>
                      </a:r>
                    </a:p>
                  </a:txBody>
                  <a:tcPr>
                    <a:solidFill>
                      <a:srgbClr val="EAF1F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 b="0">
                          <a:solidFill>
                            <a:srgbClr val="14293D"/>
                          </a:solidFill>
                          <a:latin typeface="Calibri"/>
                        </a:rPr>
                        <a:t>Guardar y recuperar en JSON</a:t>
                      </a:r>
                    </a:p>
                  </a:txBody>
                  <a:tcPr>
                    <a:solidFill>
                      <a:srgbClr val="EAF1F8"/>
                    </a:solidFill>
                  </a:tcPr>
                </a:tc>
              </a:tr>
              <a:tr h="525780">
                <a:tc>
                  <a:txBody>
                    <a:bodyPr/>
                    <a:lstStyle/>
                    <a:p>
                      <a:r>
                        <a:rPr sz="1400" b="0">
                          <a:solidFill>
                            <a:srgbClr val="14293D"/>
                          </a:solidFill>
                          <a:latin typeface="Calibri"/>
                        </a:rPr>
                        <a:t>Interfaz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 b="0">
                          <a:solidFill>
                            <a:srgbClr val="14293D"/>
                          </a:solidFill>
                          <a:latin typeface="Calibri"/>
                        </a:rPr>
                        <a:t>RF-32 a RF-34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 b="0">
                          <a:solidFill>
                            <a:srgbClr val="14293D"/>
                          </a:solidFill>
                          <a:latin typeface="Calibri"/>
                        </a:rPr>
                        <a:t>Menú, formularios, confirmaciones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8" name="Rounded Rectangle 7"/>
          <p:cNvSpPr/>
          <p:nvPr/>
        </p:nvSpPr>
        <p:spPr>
          <a:xfrm>
            <a:off x="8321040" y="1600200"/>
            <a:ext cx="3337560" cy="2148840"/>
          </a:xfrm>
          <a:prstGeom prst="roundRect">
            <a:avLst>
              <a:gd name="adj" fmla="val 6000"/>
            </a:avLst>
          </a:prstGeom>
          <a:solidFill>
            <a:srgbClr val="EAF1F8"/>
          </a:solidFill>
          <a:ln>
            <a:solidFill>
              <a:srgbClr val="C9D6E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458200" y="1691640"/>
            <a:ext cx="3063240" cy="41148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1700" b="1">
                <a:solidFill>
                  <a:srgbClr val="1F4E79"/>
                </a:solidFill>
                <a:latin typeface="Calibri"/>
              </a:rPr>
              <a:t>No funcionales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458200" y="2148840"/>
            <a:ext cx="3063240" cy="1508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300"/>
              </a:spcAft>
            </a:pPr>
            <a:r>
              <a:rPr sz="1400">
                <a:solidFill>
                  <a:srgbClr val="14293D"/>
                </a:solidFill>
                <a:latin typeface="Calibri"/>
              </a:rPr>
              <a:t>• C# / .NET 8, ASP.NET Core MVC</a:t>
            </a:r>
          </a:p>
          <a:p>
            <a:pPr>
              <a:spcAft>
                <a:spcPts val="300"/>
              </a:spcAft>
            </a:pPr>
            <a:r>
              <a:rPr sz="1400">
                <a:solidFill>
                  <a:srgbClr val="14293D"/>
                </a:solidFill>
                <a:latin typeface="Calibri"/>
              </a:rPr>
              <a:t>• POO y UML</a:t>
            </a:r>
          </a:p>
          <a:p>
            <a:pPr>
              <a:spcAft>
                <a:spcPts val="300"/>
              </a:spcAft>
            </a:pPr>
            <a:r>
              <a:rPr sz="1400">
                <a:solidFill>
                  <a:srgbClr val="14293D"/>
                </a:solidFill>
                <a:latin typeface="Calibri"/>
              </a:rPr>
              <a:t>• Datos JSON en UTF-8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8321040" y="3886200"/>
            <a:ext cx="3337560" cy="2148840"/>
          </a:xfrm>
          <a:prstGeom prst="roundRect">
            <a:avLst>
              <a:gd name="adj" fmla="val 6000"/>
            </a:avLst>
          </a:prstGeom>
          <a:solidFill>
            <a:srgbClr val="EAF1F8"/>
          </a:solidFill>
          <a:ln>
            <a:solidFill>
              <a:srgbClr val="C9D6E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8458200" y="3977639"/>
            <a:ext cx="3063240" cy="41148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1700" b="1">
                <a:solidFill>
                  <a:srgbClr val="1F4E79"/>
                </a:solidFill>
                <a:latin typeface="Calibri"/>
              </a:rPr>
              <a:t>Reglas del negocio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458200" y="4434840"/>
            <a:ext cx="3063240" cy="1508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300"/>
              </a:spcAft>
            </a:pPr>
            <a:r>
              <a:rPr sz="1400">
                <a:solidFill>
                  <a:srgbClr val="14293D"/>
                </a:solidFill>
                <a:latin typeface="Calibri"/>
              </a:rPr>
              <a:t>• Sin multas ni atrasos para prestar</a:t>
            </a:r>
          </a:p>
          <a:p>
            <a:pPr>
              <a:spcAft>
                <a:spcPts val="300"/>
              </a:spcAft>
            </a:pPr>
            <a:r>
              <a:rPr sz="1400">
                <a:solidFill>
                  <a:srgbClr val="14293D"/>
                </a:solidFill>
                <a:latin typeface="Calibri"/>
              </a:rPr>
              <a:t>• No se elimina lo que tiene historial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28016"/>
          </a:xfrm>
          <a:prstGeom prst="rect">
            <a:avLst/>
          </a:prstGeom>
          <a:solidFill>
            <a:srgbClr val="1F4E7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320040"/>
            <a:ext cx="11064240" cy="7315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3200" b="1">
                <a:solidFill>
                  <a:srgbClr val="14293D"/>
                </a:solidFill>
                <a:latin typeface="Calibri"/>
              </a:rPr>
              <a:t>Actores y casos de uso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960120"/>
            <a:ext cx="11064240" cy="45720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1600" b="0">
                <a:solidFill>
                  <a:srgbClr val="5F6B7A"/>
                </a:solidFill>
                <a:latin typeface="Calibri"/>
              </a:rPr>
              <a:t>18 casos de uso agrupados por módulo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6446520"/>
            <a:ext cx="82296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1100" b="0">
                <a:solidFill>
                  <a:srgbClr val="5F6B7A"/>
                </a:solidFill>
                <a:latin typeface="Calibri"/>
              </a:rPr>
              <a:t>Sistema de biblioteca · Programación II · Universidad San Pablo de Guatemala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698480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100" b="0">
                <a:solidFill>
                  <a:srgbClr val="5F6B7A"/>
                </a:solidFill>
                <a:latin typeface="Calibri"/>
              </a:rPr>
              <a:t>5</a:t>
            </a:r>
          </a:p>
        </p:txBody>
      </p:sp>
      <p:pic>
        <p:nvPicPr>
          <p:cNvPr id="7" name="Picture 6" descr="diagrama-casos-de-uso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451283" y="1417320"/>
            <a:ext cx="5784233" cy="4937760"/>
          </a:xfrm>
          <a:prstGeom prst="rect">
            <a:avLst/>
          </a:prstGeom>
        </p:spPr>
      </p:pic>
      <p:sp>
        <p:nvSpPr>
          <p:cNvPr id="8" name="Rounded Rectangle 7"/>
          <p:cNvSpPr/>
          <p:nvPr/>
        </p:nvSpPr>
        <p:spPr>
          <a:xfrm>
            <a:off x="8321040" y="1645920"/>
            <a:ext cx="3337560" cy="4389120"/>
          </a:xfrm>
          <a:prstGeom prst="roundRect">
            <a:avLst>
              <a:gd name="adj" fmla="val 6000"/>
            </a:avLst>
          </a:prstGeom>
          <a:solidFill>
            <a:srgbClr val="EAF1F8"/>
          </a:solidFill>
          <a:ln>
            <a:solidFill>
              <a:srgbClr val="C9D6E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458200" y="1737360"/>
            <a:ext cx="3063240" cy="41148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1700" b="1">
                <a:solidFill>
                  <a:srgbClr val="1F4E79"/>
                </a:solidFill>
                <a:latin typeface="Calibri"/>
              </a:rPr>
              <a:t>Actores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458200" y="2194560"/>
            <a:ext cx="3063240" cy="374903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300"/>
              </a:spcAft>
            </a:pPr>
            <a:r>
              <a:rPr b="1" sz="1500">
                <a:solidFill>
                  <a:srgbClr val="14293D"/>
                </a:solidFill>
                <a:latin typeface="Calibri"/>
              </a:rPr>
              <a:t>• Bibliotecario:</a:t>
            </a:r>
            <a:r>
              <a:rPr sz="1500">
                <a:solidFill>
                  <a:srgbClr val="14293D"/>
                </a:solidFill>
                <a:latin typeface="Calibri"/>
              </a:rPr>
              <a:t> opera el sistema desde el navegador</a:t>
            </a:r>
          </a:p>
          <a:p>
            <a:pPr>
              <a:spcAft>
                <a:spcPts val="300"/>
              </a:spcAft>
            </a:pPr>
            <a:r>
              <a:rPr b="1" sz="1500">
                <a:solidFill>
                  <a:srgbClr val="14293D"/>
                </a:solidFill>
                <a:latin typeface="Calibri"/>
              </a:rPr>
              <a:t>• Lector:</a:t>
            </a:r>
            <a:r>
              <a:rPr sz="1500">
                <a:solidFill>
                  <a:srgbClr val="14293D"/>
                </a:solidFill>
                <a:latin typeface="Calibri"/>
              </a:rPr>
              <a:t> solicita libros; lo atiende el bibliotecario</a:t>
            </a:r>
          </a:p>
          <a:p>
            <a:pPr>
              <a:spcAft>
                <a:spcPts val="300"/>
              </a:spcAft>
            </a:pPr>
            <a:r>
              <a:rPr b="1" sz="1500">
                <a:solidFill>
                  <a:srgbClr val="14293D"/>
                </a:solidFill>
                <a:latin typeface="Calibri"/>
              </a:rPr>
              <a:t>• Archivos JSON:</a:t>
            </a:r>
            <a:r>
              <a:rPr sz="1500">
                <a:solidFill>
                  <a:srgbClr val="14293D"/>
                </a:solidFill>
                <a:latin typeface="Calibri"/>
              </a:rPr>
              <a:t> almacenamiento persistente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28016"/>
          </a:xfrm>
          <a:prstGeom prst="rect">
            <a:avLst/>
          </a:prstGeom>
          <a:solidFill>
            <a:srgbClr val="1F4E7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320040"/>
            <a:ext cx="11064240" cy="7315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3200" b="1">
                <a:solidFill>
                  <a:srgbClr val="14293D"/>
                </a:solidFill>
                <a:latin typeface="Calibri"/>
              </a:rPr>
              <a:t>Diagrama de clases del dominio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960120"/>
            <a:ext cx="11064240" cy="45720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1600" b="0">
                <a:solidFill>
                  <a:srgbClr val="5F6B7A"/>
                </a:solidFill>
                <a:latin typeface="Calibri"/>
              </a:rPr>
              <a:t>El modelo (Biblioteca.Core) replica este diagrama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6446520"/>
            <a:ext cx="82296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1100" b="0">
                <a:solidFill>
                  <a:srgbClr val="5F6B7A"/>
                </a:solidFill>
                <a:latin typeface="Calibri"/>
              </a:rPr>
              <a:t>Sistema de biblioteca · Programación II · Universidad San Pablo de Guatemala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698480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100" b="0">
                <a:solidFill>
                  <a:srgbClr val="5F6B7A"/>
                </a:solidFill>
                <a:latin typeface="Calibri"/>
              </a:rPr>
              <a:t>6</a:t>
            </a:r>
          </a:p>
        </p:txBody>
      </p:sp>
      <p:pic>
        <p:nvPicPr>
          <p:cNvPr id="7" name="Picture 6" descr="clases-dominio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73620" y="1371600"/>
            <a:ext cx="6831000" cy="5029200"/>
          </a:xfrm>
          <a:prstGeom prst="rect">
            <a:avLst/>
          </a:prstGeom>
        </p:spPr>
      </p:pic>
      <p:sp>
        <p:nvSpPr>
          <p:cNvPr id="8" name="Rounded Rectangle 7"/>
          <p:cNvSpPr/>
          <p:nvPr/>
        </p:nvSpPr>
        <p:spPr>
          <a:xfrm>
            <a:off x="8503920" y="1645920"/>
            <a:ext cx="3154680" cy="4389120"/>
          </a:xfrm>
          <a:prstGeom prst="roundRect">
            <a:avLst>
              <a:gd name="adj" fmla="val 6000"/>
            </a:avLst>
          </a:prstGeom>
          <a:solidFill>
            <a:srgbClr val="EAF1F8"/>
          </a:solidFill>
          <a:ln>
            <a:solidFill>
              <a:srgbClr val="C9D6E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641080" y="1737360"/>
            <a:ext cx="2880360" cy="41148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1700" b="1">
                <a:solidFill>
                  <a:srgbClr val="1F4E79"/>
                </a:solidFill>
                <a:latin typeface="Calibri"/>
              </a:rPr>
              <a:t>POO aplicada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641080" y="2194560"/>
            <a:ext cx="2880360" cy="374903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300"/>
              </a:spcAft>
            </a:pPr>
            <a:r>
              <a:rPr sz="1400">
                <a:solidFill>
                  <a:srgbClr val="14293D"/>
                </a:solidFill>
                <a:latin typeface="Calibri"/>
              </a:rPr>
              <a:t>• Encapsulamiento: set privado</a:t>
            </a:r>
          </a:p>
          <a:p>
            <a:pPr>
              <a:spcAft>
                <a:spcPts val="300"/>
              </a:spcAft>
            </a:pPr>
            <a:r>
              <a:rPr sz="1400">
                <a:solidFill>
                  <a:srgbClr val="14293D"/>
                </a:solidFill>
                <a:latin typeface="Calibri"/>
              </a:rPr>
              <a:t>• Herencia: Persona → Lector / Bibliotecario</a:t>
            </a:r>
          </a:p>
          <a:p>
            <a:pPr>
              <a:spcAft>
                <a:spcPts val="300"/>
              </a:spcAft>
            </a:pPr>
            <a:r>
              <a:rPr sz="1400">
                <a:solidFill>
                  <a:srgbClr val="14293D"/>
                </a:solidFill>
                <a:latin typeface="Calibri"/>
              </a:rPr>
              <a:t>• Polimorfismo: límite y plazo por tipo</a:t>
            </a:r>
          </a:p>
          <a:p>
            <a:pPr>
              <a:spcAft>
                <a:spcPts val="300"/>
              </a:spcAft>
            </a:pPr>
            <a:r>
              <a:rPr sz="1400">
                <a:solidFill>
                  <a:srgbClr val="14293D"/>
                </a:solidFill>
                <a:latin typeface="Calibri"/>
              </a:rPr>
              <a:t>• Interfaces: IRepositorio, IReloj, ICalculadoraMulta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28016"/>
          </a:xfrm>
          <a:prstGeom prst="rect">
            <a:avLst/>
          </a:prstGeom>
          <a:solidFill>
            <a:srgbClr val="1F4E7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320040"/>
            <a:ext cx="11064240" cy="7315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3200" b="1">
                <a:solidFill>
                  <a:srgbClr val="14293D"/>
                </a:solidFill>
                <a:latin typeface="Calibri"/>
              </a:rPr>
              <a:t>Diagrama de secuencia: registrar un préstamo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960120"/>
            <a:ext cx="11064240" cy="45720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1600" b="0">
                <a:solidFill>
                  <a:srgbClr val="5F6B7A"/>
                </a:solidFill>
                <a:latin typeface="Calibri"/>
              </a:rPr>
              <a:t>Del formulario al controlador, los servicios y los archivos JSON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6446520"/>
            <a:ext cx="82296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1100" b="0">
                <a:solidFill>
                  <a:srgbClr val="5F6B7A"/>
                </a:solidFill>
                <a:latin typeface="Calibri"/>
              </a:rPr>
              <a:t>Sistema de biblioteca · Programación II · Universidad San Pablo de Guatemala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698480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100" b="0">
                <a:solidFill>
                  <a:srgbClr val="5F6B7A"/>
                </a:solidFill>
                <a:latin typeface="Calibri"/>
              </a:rPr>
              <a:t>7</a:t>
            </a:r>
          </a:p>
        </p:txBody>
      </p:sp>
      <p:pic>
        <p:nvPicPr>
          <p:cNvPr id="7" name="Picture 6" descr="secuencia-prestamo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48640" y="1495618"/>
            <a:ext cx="11064240" cy="4781163"/>
          </a:xfrm>
          <a:prstGeom prst="rect">
            <a:avLst/>
          </a:prstGeom>
        </p:spPr>
      </p:pic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28016"/>
          </a:xfrm>
          <a:prstGeom prst="rect">
            <a:avLst/>
          </a:prstGeom>
          <a:solidFill>
            <a:srgbClr val="1F4E7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320040"/>
            <a:ext cx="11064240" cy="7315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3200" b="1">
                <a:solidFill>
                  <a:srgbClr val="14293D"/>
                </a:solidFill>
                <a:latin typeface="Calibri"/>
              </a:rPr>
              <a:t>Diagramas de actividad y estados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960120"/>
            <a:ext cx="11064240" cy="45720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1600" b="0">
                <a:solidFill>
                  <a:srgbClr val="5F6B7A"/>
                </a:solidFill>
                <a:latin typeface="Calibri"/>
              </a:rPr>
              <a:t>Reglas de préstamo y devolución con multa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6446520"/>
            <a:ext cx="82296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1100" b="0">
                <a:solidFill>
                  <a:srgbClr val="5F6B7A"/>
                </a:solidFill>
                <a:latin typeface="Calibri"/>
              </a:rPr>
              <a:t>Sistema de biblioteca · Programación II · Universidad San Pablo de Guatemala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698480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100" b="0">
                <a:solidFill>
                  <a:srgbClr val="5F6B7A"/>
                </a:solidFill>
                <a:latin typeface="Calibri"/>
              </a:rPr>
              <a:t>8</a:t>
            </a:r>
          </a:p>
        </p:txBody>
      </p:sp>
      <p:pic>
        <p:nvPicPr>
          <p:cNvPr id="7" name="Picture 6" descr="diagrama-actividad-prestamo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92705" y="1371600"/>
            <a:ext cx="4135228" cy="4983480"/>
          </a:xfrm>
          <a:prstGeom prst="rect">
            <a:avLst/>
          </a:prstGeom>
        </p:spPr>
      </p:pic>
      <p:pic>
        <p:nvPicPr>
          <p:cNvPr id="8" name="Picture 7" descr="diagrama-actividad-devolucion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911534" y="1371600"/>
            <a:ext cx="3801490" cy="3840480"/>
          </a:xfrm>
          <a:prstGeom prst="rect">
            <a:avLst/>
          </a:prstGeom>
        </p:spPr>
      </p:pic>
      <p:pic>
        <p:nvPicPr>
          <p:cNvPr id="9" name="Picture 8" descr="estados-prestamo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8961120" y="1851402"/>
            <a:ext cx="2834640" cy="869194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9006840" y="2880360"/>
            <a:ext cx="2743200" cy="45720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1300" b="0">
                <a:solidFill>
                  <a:srgbClr val="5F6B7A"/>
                </a:solidFill>
                <a:latin typeface="Calibri"/>
              </a:rPr>
              <a:t>Estados del préstamo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006840" y="3474720"/>
            <a:ext cx="2743200" cy="2743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300">
                <a:solidFill>
                  <a:srgbClr val="14293D"/>
                </a:solidFill>
                <a:latin typeface="Calibri"/>
              </a:rPr>
              <a:t>• Atrasado: fecha actual posterior al vencimiento</a:t>
            </a:r>
          </a:p>
          <a:p>
            <a:pPr>
              <a:spcAft>
                <a:spcPts val="600"/>
              </a:spcAft>
            </a:pPr>
            <a:r>
              <a:rPr sz="1300">
                <a:solidFill>
                  <a:srgbClr val="14293D"/>
                </a:solidFill>
                <a:latin typeface="Calibri"/>
              </a:rPr>
              <a:t>• Multa = mín(días × Q2.00, Q100.00)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28016"/>
          </a:xfrm>
          <a:prstGeom prst="rect">
            <a:avLst/>
          </a:prstGeom>
          <a:solidFill>
            <a:srgbClr val="1F4E7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320040"/>
            <a:ext cx="11064240" cy="7315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3200" b="1">
                <a:solidFill>
                  <a:srgbClr val="14293D"/>
                </a:solidFill>
                <a:latin typeface="Calibri"/>
              </a:rPr>
              <a:t>Arquitectura de la solución: MVC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960120"/>
            <a:ext cx="11064240" cy="45720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1600" b="0">
                <a:solidFill>
                  <a:srgbClr val="5F6B7A"/>
                </a:solidFill>
                <a:latin typeface="Calibri"/>
              </a:rPr>
              <a:t>Controladores y vistas en la web; dominio y JSON en Biblioteca.Core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6446520"/>
            <a:ext cx="82296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1100" b="0">
                <a:solidFill>
                  <a:srgbClr val="5F6B7A"/>
                </a:solidFill>
                <a:latin typeface="Calibri"/>
              </a:rPr>
              <a:t>Sistema de biblioteca · Programación II · Universidad San Pablo de Guatemala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698480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100" b="0">
                <a:solidFill>
                  <a:srgbClr val="5F6B7A"/>
                </a:solidFill>
                <a:latin typeface="Calibri"/>
              </a:rPr>
              <a:t>9</a:t>
            </a:r>
          </a:p>
        </p:txBody>
      </p:sp>
      <p:pic>
        <p:nvPicPr>
          <p:cNvPr id="7" name="Picture 6" descr="arquitectura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57199" y="1893338"/>
            <a:ext cx="6766560" cy="3985722"/>
          </a:xfrm>
          <a:prstGeom prst="rect">
            <a:avLst/>
          </a:prstGeom>
        </p:spPr>
      </p:pic>
      <p:sp>
        <p:nvSpPr>
          <p:cNvPr id="8" name="Rounded Rectangle 7"/>
          <p:cNvSpPr/>
          <p:nvPr/>
        </p:nvSpPr>
        <p:spPr>
          <a:xfrm>
            <a:off x="7406640" y="1645920"/>
            <a:ext cx="4251960" cy="4389120"/>
          </a:xfrm>
          <a:prstGeom prst="roundRect">
            <a:avLst>
              <a:gd name="adj" fmla="val 6000"/>
            </a:avLst>
          </a:prstGeom>
          <a:solidFill>
            <a:srgbClr val="EAF1F8"/>
          </a:solidFill>
          <a:ln>
            <a:solidFill>
              <a:srgbClr val="C9D6E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7543800" y="1737360"/>
            <a:ext cx="3977640" cy="41148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1700" b="1">
                <a:solidFill>
                  <a:srgbClr val="1F4E79"/>
                </a:solidFill>
                <a:latin typeface="Calibri"/>
              </a:rPr>
              <a:t>Patrón MVC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543800" y="2194560"/>
            <a:ext cx="3977640" cy="374903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300"/>
              </a:spcAft>
            </a:pPr>
            <a:r>
              <a:rPr b="1" sz="1500">
                <a:solidFill>
                  <a:srgbClr val="14293D"/>
                </a:solidFill>
                <a:latin typeface="Calibri"/>
              </a:rPr>
              <a:t>• Modelo:</a:t>
            </a:r>
            <a:r>
              <a:rPr sz="1500">
                <a:solidFill>
                  <a:srgbClr val="14293D"/>
                </a:solidFill>
                <a:latin typeface="Calibri"/>
              </a:rPr>
              <a:t> Biblioteca.Core (entidades, servicios, JSON)</a:t>
            </a:r>
          </a:p>
          <a:p>
            <a:pPr>
              <a:spcAft>
                <a:spcPts val="300"/>
              </a:spcAft>
            </a:pPr>
            <a:r>
              <a:rPr b="1" sz="1500">
                <a:solidFill>
                  <a:srgbClr val="14293D"/>
                </a:solidFill>
                <a:latin typeface="Calibri"/>
              </a:rPr>
              <a:t>• Vista:</a:t>
            </a:r>
            <a:r>
              <a:rPr sz="1500">
                <a:solidFill>
                  <a:srgbClr val="14293D"/>
                </a:solidFill>
                <a:latin typeface="Calibri"/>
              </a:rPr>
              <a:t> Razor + Bootstrap, con ViewModels</a:t>
            </a:r>
          </a:p>
          <a:p>
            <a:pPr>
              <a:spcAft>
                <a:spcPts val="300"/>
              </a:spcAft>
            </a:pPr>
            <a:r>
              <a:rPr b="1" sz="1500">
                <a:solidFill>
                  <a:srgbClr val="14293D"/>
                </a:solidFill>
                <a:latin typeface="Calibri"/>
              </a:rPr>
              <a:t>• Controlador:</a:t>
            </a:r>
            <a:r>
              <a:rPr sz="1500">
                <a:solidFill>
                  <a:srgbClr val="14293D"/>
                </a:solidFill>
                <a:latin typeface="Calibri"/>
              </a:rPr>
              <a:t> un controlador por módulo</a:t>
            </a:r>
          </a:p>
          <a:p>
            <a:pPr>
              <a:spcAft>
                <a:spcPts val="300"/>
              </a:spcAft>
            </a:pPr>
            <a:r>
              <a:rPr b="1" sz="1500">
                <a:solidFill>
                  <a:srgbClr val="14293D"/>
                </a:solidFill>
                <a:latin typeface="Calibri"/>
              </a:rPr>
              <a:t>• Program.cs:</a:t>
            </a:r>
            <a:r>
              <a:rPr sz="1500">
                <a:solidFill>
                  <a:srgbClr val="14293D"/>
                </a:solidFill>
                <a:latin typeface="Calibri"/>
              </a:rPr>
              <a:t> registra SistemaBiblioteca y las rutas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28016"/>
          </a:xfrm>
          <a:prstGeom prst="rect">
            <a:avLst/>
          </a:prstGeom>
          <a:solidFill>
            <a:srgbClr val="1F4E7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320040"/>
            <a:ext cx="11064240" cy="7315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3200" b="1">
                <a:solidFill>
                  <a:srgbClr val="14293D"/>
                </a:solidFill>
                <a:latin typeface="Calibri"/>
              </a:rPr>
              <a:t>Funcionamiento de la interfaz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960120"/>
            <a:ext cx="11064240" cy="45720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1600" b="0">
                <a:solidFill>
                  <a:srgbClr val="5F6B7A"/>
                </a:solidFill>
                <a:latin typeface="Calibri"/>
              </a:rPr>
              <a:t>Menú lateral, botones de navegación y accesos rápidos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6446520"/>
            <a:ext cx="82296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1100" b="0">
                <a:solidFill>
                  <a:srgbClr val="5F6B7A"/>
                </a:solidFill>
                <a:latin typeface="Calibri"/>
              </a:rPr>
              <a:t>Sistema de biblioteca · Programación II · Universidad San Pablo de Guatemala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698480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100" b="0">
                <a:solidFill>
                  <a:srgbClr val="5F6B7A"/>
                </a:solidFill>
                <a:latin typeface="Calibri"/>
              </a:rPr>
              <a:t>10</a:t>
            </a:r>
          </a:p>
        </p:txBody>
      </p:sp>
      <p:pic>
        <p:nvPicPr>
          <p:cNvPr id="7" name="Picture 6" descr="pantalla-inicio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48640" y="1543050"/>
            <a:ext cx="7498079" cy="4686300"/>
          </a:xfrm>
          <a:prstGeom prst="rect">
            <a:avLst/>
          </a:prstGeom>
          <a:ln w="9525">
            <a:solidFill>
              <a:srgbClr val="D5DDE7"/>
            </a:solidFill>
          </a:ln>
        </p:spPr>
      </p:pic>
      <p:sp>
        <p:nvSpPr>
          <p:cNvPr id="8" name="Rounded Rectangle 7"/>
          <p:cNvSpPr/>
          <p:nvPr/>
        </p:nvSpPr>
        <p:spPr>
          <a:xfrm>
            <a:off x="8229600" y="1645920"/>
            <a:ext cx="3429000" cy="4389120"/>
          </a:xfrm>
          <a:prstGeom prst="roundRect">
            <a:avLst>
              <a:gd name="adj" fmla="val 6000"/>
            </a:avLst>
          </a:prstGeom>
          <a:solidFill>
            <a:srgbClr val="EAF1F8"/>
          </a:solidFill>
          <a:ln>
            <a:solidFill>
              <a:srgbClr val="C9D6E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366760" y="1737360"/>
            <a:ext cx="3154680" cy="41148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1700" b="1">
                <a:solidFill>
                  <a:srgbClr val="1F4E79"/>
                </a:solidFill>
                <a:latin typeface="Calibri"/>
              </a:rPr>
              <a:t>Incluye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366760" y="2194560"/>
            <a:ext cx="3154680" cy="374903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300"/>
              </a:spcAft>
            </a:pPr>
            <a:r>
              <a:rPr sz="1500">
                <a:solidFill>
                  <a:srgbClr val="14293D"/>
                </a:solidFill>
                <a:latin typeface="Calibri"/>
              </a:rPr>
              <a:t>• Menú principal y botones de navegación</a:t>
            </a:r>
          </a:p>
          <a:p>
            <a:pPr>
              <a:spcAft>
                <a:spcPts val="300"/>
              </a:spcAft>
            </a:pPr>
            <a:r>
              <a:rPr sz="1500">
                <a:solidFill>
                  <a:srgbClr val="14293D"/>
                </a:solidFill>
                <a:latin typeface="Calibri"/>
              </a:rPr>
              <a:t>• Formularios de registro y edición</a:t>
            </a:r>
          </a:p>
          <a:p>
            <a:pPr>
              <a:spcAft>
                <a:spcPts val="300"/>
              </a:spcAft>
            </a:pPr>
            <a:r>
              <a:rPr sz="1500">
                <a:solidFill>
                  <a:srgbClr val="14293D"/>
                </a:solidFill>
                <a:latin typeface="Calibri"/>
              </a:rPr>
              <a:t>• Consulta con búsqueda y filtros</a:t>
            </a:r>
          </a:p>
          <a:p>
            <a:pPr>
              <a:spcAft>
                <a:spcPts val="300"/>
              </a:spcAft>
            </a:pPr>
            <a:r>
              <a:rPr sz="1500">
                <a:solidFill>
                  <a:srgbClr val="14293D"/>
                </a:solidFill>
                <a:latin typeface="Calibri"/>
              </a:rPr>
              <a:t>• Eliminación con confirmación</a:t>
            </a:r>
          </a:p>
          <a:p>
            <a:pPr>
              <a:spcAft>
                <a:spcPts val="300"/>
              </a:spcAft>
            </a:pPr>
            <a:r>
              <a:rPr sz="1500">
                <a:solidFill>
                  <a:srgbClr val="14293D"/>
                </a:solidFill>
                <a:latin typeface="Calibri"/>
              </a:rPr>
              <a:t>• Mensajes de éxito y de error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28016"/>
          </a:xfrm>
          <a:prstGeom prst="rect">
            <a:avLst/>
          </a:prstGeom>
          <a:solidFill>
            <a:srgbClr val="1F4E7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320040"/>
            <a:ext cx="11064240" cy="7315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3200" b="1">
                <a:solidFill>
                  <a:srgbClr val="14293D"/>
                </a:solidFill>
                <a:latin typeface="Calibri"/>
              </a:rPr>
              <a:t>Registro de información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960120"/>
            <a:ext cx="11064240" cy="45720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1600" b="0">
                <a:solidFill>
                  <a:srgbClr val="5F6B7A"/>
                </a:solidFill>
                <a:latin typeface="Calibri"/>
              </a:rPr>
              <a:t>Formularios con validación de datos en el servidor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6446520"/>
            <a:ext cx="82296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1100" b="0">
                <a:solidFill>
                  <a:srgbClr val="5F6B7A"/>
                </a:solidFill>
                <a:latin typeface="Calibri"/>
              </a:rPr>
              <a:t>Sistema de biblioteca · Programación II · Universidad San Pablo de Guatemala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698480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100" b="0">
                <a:solidFill>
                  <a:srgbClr val="5F6B7A"/>
                </a:solidFill>
                <a:latin typeface="Calibri"/>
              </a:rPr>
              <a:t>11</a:t>
            </a:r>
          </a:p>
        </p:txBody>
      </p:sp>
      <p:pic>
        <p:nvPicPr>
          <p:cNvPr id="7" name="Picture 6" descr="form-libro-error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57200" y="2074544"/>
            <a:ext cx="3749039" cy="2343150"/>
          </a:xfrm>
          <a:prstGeom prst="rect">
            <a:avLst/>
          </a:prstGeom>
          <a:ln w="9525">
            <a:solidFill>
              <a:srgbClr val="D5DDE7"/>
            </a:solidFill>
          </a:ln>
        </p:spPr>
      </p:pic>
      <p:pic>
        <p:nvPicPr>
          <p:cNvPr id="8" name="Picture 7" descr="form-usuario-error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251960" y="2074544"/>
            <a:ext cx="3749039" cy="2343150"/>
          </a:xfrm>
          <a:prstGeom prst="rect">
            <a:avLst/>
          </a:prstGeom>
          <a:ln w="9525">
            <a:solidFill>
              <a:srgbClr val="D5DDE7"/>
            </a:solidFill>
          </a:ln>
        </p:spPr>
      </p:pic>
      <p:pic>
        <p:nvPicPr>
          <p:cNvPr id="9" name="Picture 8" descr="form-prestamo-error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8046720" y="2074544"/>
            <a:ext cx="3749039" cy="2343150"/>
          </a:xfrm>
          <a:prstGeom prst="rect">
            <a:avLst/>
          </a:prstGeom>
          <a:ln w="9525">
            <a:solidFill>
              <a:srgbClr val="D5DDE7"/>
            </a:solidFill>
          </a:ln>
        </p:spPr>
      </p:pic>
      <p:sp>
        <p:nvSpPr>
          <p:cNvPr id="10" name="TextBox 9"/>
          <p:cNvSpPr txBox="1"/>
          <p:nvPr/>
        </p:nvSpPr>
        <p:spPr>
          <a:xfrm>
            <a:off x="548640" y="5212080"/>
            <a:ext cx="11064240" cy="36576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1600" b="0">
                <a:solidFill>
                  <a:srgbClr val="5F6B7A"/>
                </a:solidFill>
                <a:latin typeface="Calibri"/>
              </a:rPr>
              <a:t>El error aparece dentro del formulario; las reglas de negocio se validan en la capa de lógica, no en la vista.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48640" y="5623560"/>
            <a:ext cx="1106424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500">
                <a:solidFill>
                  <a:srgbClr val="14293D"/>
                </a:solidFill>
                <a:latin typeface="Calibri"/>
              </a:rPr>
              <a:t>• Formato de ISBN, DPI, correo y teléfono · unicidad · límites y bloqueos del préstamo · token antiforgery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28016"/>
          </a:xfrm>
          <a:prstGeom prst="rect">
            <a:avLst/>
          </a:prstGeom>
          <a:solidFill>
            <a:srgbClr val="1F4E7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320040"/>
            <a:ext cx="11064240" cy="7315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3200" b="1">
                <a:solidFill>
                  <a:srgbClr val="14293D"/>
                </a:solidFill>
                <a:latin typeface="Calibri"/>
              </a:rPr>
              <a:t>Consulta de información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960120"/>
            <a:ext cx="11064240" cy="45720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1600" b="0">
                <a:solidFill>
                  <a:srgbClr val="5F6B7A"/>
                </a:solidFill>
                <a:latin typeface="Calibri"/>
              </a:rPr>
              <a:t>Búsqueda, filtros y reportes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6446520"/>
            <a:ext cx="82296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1100" b="0">
                <a:solidFill>
                  <a:srgbClr val="5F6B7A"/>
                </a:solidFill>
                <a:latin typeface="Calibri"/>
              </a:rPr>
              <a:t>Sistema de biblioteca · Programación II · Universidad San Pablo de Guatemala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698480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100" b="0">
                <a:solidFill>
                  <a:srgbClr val="5F6B7A"/>
                </a:solidFill>
                <a:latin typeface="Calibri"/>
              </a:rPr>
              <a:t>12</a:t>
            </a:r>
          </a:p>
        </p:txBody>
      </p:sp>
      <p:pic>
        <p:nvPicPr>
          <p:cNvPr id="7" name="Picture 6" descr="pantalla-libros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48640" y="2125980"/>
            <a:ext cx="5486400" cy="3429000"/>
          </a:xfrm>
          <a:prstGeom prst="rect">
            <a:avLst/>
          </a:prstGeom>
          <a:ln w="9525">
            <a:solidFill>
              <a:srgbClr val="D5DDE7"/>
            </a:solidFill>
          </a:ln>
        </p:spPr>
      </p:pic>
      <p:pic>
        <p:nvPicPr>
          <p:cNvPr id="8" name="Picture 7" descr="pantalla-reporte-atrasados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172200" y="2125980"/>
            <a:ext cx="5486400" cy="3429000"/>
          </a:xfrm>
          <a:prstGeom prst="rect">
            <a:avLst/>
          </a:prstGeom>
          <a:ln w="9525">
            <a:solidFill>
              <a:srgbClr val="D5DDE7"/>
            </a:solidFill>
          </a:ln>
        </p:spPr>
      </p:pic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28016"/>
          </a:xfrm>
          <a:prstGeom prst="rect">
            <a:avLst/>
          </a:prstGeom>
          <a:solidFill>
            <a:srgbClr val="1F4E7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320040"/>
            <a:ext cx="11064240" cy="7315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3200" b="1">
                <a:solidFill>
                  <a:srgbClr val="14293D"/>
                </a:solidFill>
                <a:latin typeface="Calibri"/>
              </a:rPr>
              <a:t>Almacenamiento en archivos JSON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960120"/>
            <a:ext cx="11064240" cy="45720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1600" b="0">
                <a:solidFill>
                  <a:srgbClr val="5F6B7A"/>
                </a:solidFill>
                <a:latin typeface="Calibri"/>
              </a:rPr>
              <a:t>Cuatro archivos en la carpeta Data, escritura atómica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6446520"/>
            <a:ext cx="82296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1100" b="0">
                <a:solidFill>
                  <a:srgbClr val="5F6B7A"/>
                </a:solidFill>
                <a:latin typeface="Calibri"/>
              </a:rPr>
              <a:t>Sistema de biblioteca · Programación II · Universidad San Pablo de Guatemala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698480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100" b="0">
                <a:solidFill>
                  <a:srgbClr val="5F6B7A"/>
                </a:solidFill>
                <a:latin typeface="Calibri"/>
              </a:rPr>
              <a:t>13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48640" y="1645920"/>
            <a:ext cx="5669280" cy="4389120"/>
          </a:xfrm>
          <a:prstGeom prst="roundRect">
            <a:avLst>
              <a:gd name="adj" fmla="val 3000"/>
            </a:avLst>
          </a:prstGeom>
          <a:solidFill>
            <a:srgbClr val="1E2A3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77240" y="1828800"/>
            <a:ext cx="5303520" cy="402336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1500" b="0">
                <a:solidFill>
                  <a:srgbClr val="D6E6F5"/>
                </a:solidFill>
                <a:latin typeface="Consolas"/>
              </a:rPr>
              <a:t>{</a:t>
            </a:r>
          </a:p>
          <a:p>
            <a:pPr algn="l"/>
            <a:r>
              <a:rPr sz="1500" b="0">
                <a:solidFill>
                  <a:srgbClr val="D6E6F5"/>
                </a:solidFill>
                <a:latin typeface="Consolas"/>
              </a:rPr>
              <a:t>  "tipo": "lector",</a:t>
            </a:r>
          </a:p>
          <a:p>
            <a:pPr algn="l"/>
            <a:r>
              <a:rPr sz="1500" b="0">
                <a:solidFill>
                  <a:srgbClr val="D6E6F5"/>
                </a:solidFill>
                <a:latin typeface="Consolas"/>
              </a:rPr>
              <a:t>  "carnet": "2026-0101",</a:t>
            </a:r>
          </a:p>
          <a:p>
            <a:pPr algn="l"/>
            <a:r>
              <a:rPr sz="1500" b="0">
                <a:solidFill>
                  <a:srgbClr val="D6E6F5"/>
                </a:solidFill>
                <a:latin typeface="Consolas"/>
              </a:rPr>
              <a:t>  "nombre": "María Fernanda López",</a:t>
            </a:r>
          </a:p>
          <a:p>
            <a:pPr algn="l"/>
            <a:r>
              <a:rPr sz="1500" b="0">
                <a:solidFill>
                  <a:srgbClr val="D6E6F5"/>
                </a:solidFill>
                <a:latin typeface="Consolas"/>
              </a:rPr>
              <a:t>  "documento": "2456789010101",</a:t>
            </a:r>
          </a:p>
          <a:p>
            <a:pPr algn="l"/>
            <a:r>
              <a:rPr sz="1500" b="0">
                <a:solidFill>
                  <a:srgbClr val="D6E6F5"/>
                </a:solidFill>
                <a:latin typeface="Consolas"/>
              </a:rPr>
              <a:t>  "correo": "maria.lopez@ejemplo.com",</a:t>
            </a:r>
          </a:p>
          <a:p>
            <a:pPr algn="l"/>
            <a:r>
              <a:rPr sz="1500" b="0">
                <a:solidFill>
                  <a:srgbClr val="D6E6F5"/>
                </a:solidFill>
                <a:latin typeface="Consolas"/>
              </a:rPr>
              <a:t>  "telefono": "55123401",</a:t>
            </a:r>
          </a:p>
          <a:p>
            <a:pPr algn="l"/>
            <a:r>
              <a:rPr sz="1500" b="0">
                <a:solidFill>
                  <a:srgbClr val="D6E6F5"/>
                </a:solidFill>
                <a:latin typeface="Consolas"/>
              </a:rPr>
              <a:t>  "fechaRegistro": "2026-08-03T00:00:00",</a:t>
            </a:r>
          </a:p>
          <a:p>
            <a:pPr algn="l"/>
            <a:r>
              <a:rPr sz="1500" b="0">
                <a:solidFill>
                  <a:srgbClr val="D6E6F5"/>
                </a:solidFill>
                <a:latin typeface="Consolas"/>
              </a:rPr>
              <a:t>  "activo": true,</a:t>
            </a:r>
          </a:p>
          <a:p>
            <a:pPr algn="l"/>
            <a:r>
              <a:rPr sz="1500" b="0">
                <a:solidFill>
                  <a:srgbClr val="D6E6F5"/>
                </a:solidFill>
                <a:latin typeface="Consolas"/>
              </a:rPr>
              <a:t>  "id": 1</a:t>
            </a:r>
          </a:p>
          <a:p>
            <a:pPr algn="l"/>
            <a:r>
              <a:rPr sz="1500" b="0">
                <a:solidFill>
                  <a:srgbClr val="D6E6F5"/>
                </a:solidFill>
                <a:latin typeface="Consolas"/>
              </a:rPr>
              <a:t>}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492240" y="1645920"/>
            <a:ext cx="5166360" cy="4389120"/>
          </a:xfrm>
          <a:prstGeom prst="roundRect">
            <a:avLst>
              <a:gd name="adj" fmla="val 6000"/>
            </a:avLst>
          </a:prstGeom>
          <a:solidFill>
            <a:srgbClr val="EAF1F8"/>
          </a:solidFill>
          <a:ln>
            <a:solidFill>
              <a:srgbClr val="C9D6E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629400" y="1737360"/>
            <a:ext cx="4892040" cy="41148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1700" b="1">
                <a:solidFill>
                  <a:srgbClr val="1F4E79"/>
                </a:solidFill>
                <a:latin typeface="Calibri"/>
              </a:rPr>
              <a:t>Archivos y estrategia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629400" y="2194560"/>
            <a:ext cx="4892040" cy="374903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300"/>
              </a:spcAft>
            </a:pPr>
            <a:r>
              <a:rPr b="1" sz="1500">
                <a:solidFill>
                  <a:srgbClr val="14293D"/>
                </a:solidFill>
                <a:latin typeface="Calibri"/>
              </a:rPr>
              <a:t>• libros.json · usuarios.json:</a:t>
            </a:r>
            <a:r>
              <a:rPr sz="1500">
                <a:solidFill>
                  <a:srgbClr val="14293D"/>
                </a:solidFill>
                <a:latin typeface="Calibri"/>
              </a:rPr>
              <a:t> catálogo y personas</a:t>
            </a:r>
          </a:p>
          <a:p>
            <a:pPr>
              <a:spcAft>
                <a:spcPts val="300"/>
              </a:spcAft>
            </a:pPr>
            <a:r>
              <a:rPr b="1" sz="1500">
                <a:solidFill>
                  <a:srgbClr val="14293D"/>
                </a:solidFill>
                <a:latin typeface="Calibri"/>
              </a:rPr>
              <a:t>• prestamos.json · multas.json:</a:t>
            </a:r>
            <a:r>
              <a:rPr sz="1500">
                <a:solidFill>
                  <a:srgbClr val="14293D"/>
                </a:solidFill>
                <a:latin typeface="Calibri"/>
              </a:rPr>
              <a:t> historial</a:t>
            </a:r>
          </a:p>
          <a:p>
            <a:pPr>
              <a:spcAft>
                <a:spcPts val="300"/>
              </a:spcAft>
            </a:pPr>
            <a:r>
              <a:rPr b="1" sz="1500">
                <a:solidFill>
                  <a:srgbClr val="14293D"/>
                </a:solidFill>
                <a:latin typeface="Calibri"/>
              </a:rPr>
              <a:t>• Guardado:</a:t>
            </a:r>
            <a:r>
              <a:rPr sz="1500">
                <a:solidFill>
                  <a:srgbClr val="14293D"/>
                </a:solidFill>
                <a:latin typeface="Calibri"/>
              </a:rPr>
              <a:t> archivo .tmp y luego reemplazo</a:t>
            </a:r>
          </a:p>
          <a:p>
            <a:pPr>
              <a:spcAft>
                <a:spcPts val="300"/>
              </a:spcAft>
            </a:pPr>
            <a:r>
              <a:rPr b="1" sz="1500">
                <a:solidFill>
                  <a:srgbClr val="14293D"/>
                </a:solidFill>
                <a:latin typeface="Calibri"/>
              </a:rPr>
              <a:t>• Identificadores:</a:t>
            </a:r>
            <a:r>
              <a:rPr sz="1500">
                <a:solidFill>
                  <a:srgbClr val="14293D"/>
                </a:solidFill>
                <a:latin typeface="Calibri"/>
              </a:rPr>
              <a:t> máximo + 1</a:t>
            </a:r>
          </a:p>
          <a:p>
            <a:pPr>
              <a:spcAft>
                <a:spcPts val="300"/>
              </a:spcAft>
            </a:pPr>
            <a:r>
              <a:rPr b="1" sz="1500">
                <a:solidFill>
                  <a:srgbClr val="14293D"/>
                </a:solidFill>
                <a:latin typeface="Calibri"/>
              </a:rPr>
              <a:t>• Errores:</a:t>
            </a:r>
            <a:r>
              <a:rPr sz="1500">
                <a:solidFill>
                  <a:srgbClr val="14293D"/>
                </a:solidFill>
                <a:latin typeface="Calibri"/>
              </a:rPr>
              <a:t> AlmacenamientoException con el nombre del archivo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28016"/>
          </a:xfrm>
          <a:prstGeom prst="rect">
            <a:avLst/>
          </a:prstGeom>
          <a:solidFill>
            <a:srgbClr val="1F4E7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320040"/>
            <a:ext cx="11064240" cy="7315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3200" b="1">
                <a:solidFill>
                  <a:srgbClr val="14293D"/>
                </a:solidFill>
                <a:latin typeface="Calibri"/>
              </a:rPr>
              <a:t>Recuperación de información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960120"/>
            <a:ext cx="11064240" cy="45720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1600" b="0">
                <a:solidFill>
                  <a:srgbClr val="5F6B7A"/>
                </a:solidFill>
                <a:latin typeface="Calibri"/>
              </a:rPr>
              <a:t>Los datos permanecen al detener y volver a iniciar la aplicación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6446520"/>
            <a:ext cx="82296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1100" b="0">
                <a:solidFill>
                  <a:srgbClr val="5F6B7A"/>
                </a:solidFill>
                <a:latin typeface="Calibri"/>
              </a:rPr>
              <a:t>Sistema de biblioteca · Programación II · Universidad San Pablo de Guatemala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698480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100" b="0">
                <a:solidFill>
                  <a:srgbClr val="5F6B7A"/>
                </a:solidFill>
                <a:latin typeface="Calibri"/>
              </a:rPr>
              <a:t>14</a:t>
            </a:r>
          </a:p>
        </p:txBody>
      </p:sp>
      <p:sp>
        <p:nvSpPr>
          <p:cNvPr id="7" name="Oval 6"/>
          <p:cNvSpPr/>
          <p:nvPr/>
        </p:nvSpPr>
        <p:spPr>
          <a:xfrm>
            <a:off x="548640" y="1737360"/>
            <a:ext cx="640080" cy="640080"/>
          </a:xfrm>
          <a:prstGeom prst="ellipse">
            <a:avLst/>
          </a:prstGeom>
          <a:solidFill>
            <a:srgbClr val="1F4E7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48640" y="1810512"/>
            <a:ext cx="640080" cy="5029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ctr"/>
            <a:r>
              <a:rPr sz="2400" b="1">
                <a:solidFill>
                  <a:srgbClr val="FFFFFF"/>
                </a:solidFill>
                <a:latin typeface="Calibri"/>
              </a:rPr>
              <a:t>1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48640" y="2514600"/>
            <a:ext cx="2651760" cy="45720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1900" b="1">
                <a:solidFill>
                  <a:srgbClr val="14293D"/>
                </a:solidFill>
                <a:latin typeface="Calibri"/>
              </a:rPr>
              <a:t>Se inicia la app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48640" y="3017520"/>
            <a:ext cx="2651760" cy="1463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1500" b="0">
                <a:solidFill>
                  <a:srgbClr val="5F6B7A"/>
                </a:solidFill>
                <a:latin typeface="Calibri"/>
              </a:rPr>
              <a:t>Cada RepositorioJson lee su archivo y lo carga en memoria</a:t>
            </a:r>
          </a:p>
        </p:txBody>
      </p:sp>
      <p:sp>
        <p:nvSpPr>
          <p:cNvPr id="11" name="Oval 10"/>
          <p:cNvSpPr/>
          <p:nvPr/>
        </p:nvSpPr>
        <p:spPr>
          <a:xfrm>
            <a:off x="3383280" y="1737360"/>
            <a:ext cx="640080" cy="640080"/>
          </a:xfrm>
          <a:prstGeom prst="ellipse">
            <a:avLst/>
          </a:prstGeom>
          <a:solidFill>
            <a:srgbClr val="1F4E7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3383280" y="1810512"/>
            <a:ext cx="640080" cy="5029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ctr"/>
            <a:r>
              <a:rPr sz="2400" b="1">
                <a:solidFill>
                  <a:srgbClr val="FFFFFF"/>
                </a:solidFill>
                <a:latin typeface="Calibri"/>
              </a:rPr>
              <a:t>2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383280" y="2514600"/>
            <a:ext cx="2651760" cy="45720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1900" b="1">
                <a:solidFill>
                  <a:srgbClr val="14293D"/>
                </a:solidFill>
                <a:latin typeface="Calibri"/>
              </a:rPr>
              <a:t>Se opera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383280" y="3017520"/>
            <a:ext cx="2651760" cy="1463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1500" b="0">
                <a:solidFill>
                  <a:srgbClr val="5F6B7A"/>
                </a:solidFill>
                <a:latin typeface="Calibri"/>
              </a:rPr>
              <a:t>Cada cambio reescribe el archivo de forma atómica</a:t>
            </a:r>
          </a:p>
        </p:txBody>
      </p:sp>
      <p:sp>
        <p:nvSpPr>
          <p:cNvPr id="15" name="Oval 14"/>
          <p:cNvSpPr/>
          <p:nvPr/>
        </p:nvSpPr>
        <p:spPr>
          <a:xfrm>
            <a:off x="6217920" y="1737360"/>
            <a:ext cx="640080" cy="640080"/>
          </a:xfrm>
          <a:prstGeom prst="ellipse">
            <a:avLst/>
          </a:prstGeom>
          <a:solidFill>
            <a:srgbClr val="1F4E7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217920" y="1810512"/>
            <a:ext cx="640080" cy="5029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ctr"/>
            <a:r>
              <a:rPr sz="2400" b="1">
                <a:solidFill>
                  <a:srgbClr val="FFFFFF"/>
                </a:solidFill>
                <a:latin typeface="Calibri"/>
              </a:rPr>
              <a:t>3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217920" y="2514600"/>
            <a:ext cx="2651760" cy="45720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1900" b="1">
                <a:solidFill>
                  <a:srgbClr val="14293D"/>
                </a:solidFill>
                <a:latin typeface="Calibri"/>
              </a:rPr>
              <a:t>Se detiene la app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217920" y="3017520"/>
            <a:ext cx="2651760" cy="1463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1500" b="0">
                <a:solidFill>
                  <a:srgbClr val="5F6B7A"/>
                </a:solidFill>
                <a:latin typeface="Calibri"/>
              </a:rPr>
              <a:t>No hay guardado manual: todo ya está en Data/</a:t>
            </a:r>
          </a:p>
        </p:txBody>
      </p:sp>
      <p:sp>
        <p:nvSpPr>
          <p:cNvPr id="19" name="Oval 18"/>
          <p:cNvSpPr/>
          <p:nvPr/>
        </p:nvSpPr>
        <p:spPr>
          <a:xfrm>
            <a:off x="9052560" y="1737360"/>
            <a:ext cx="640080" cy="640080"/>
          </a:xfrm>
          <a:prstGeom prst="ellipse">
            <a:avLst/>
          </a:prstGeom>
          <a:solidFill>
            <a:srgbClr val="1F4E7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9052560" y="1810512"/>
            <a:ext cx="640080" cy="5029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ctr"/>
            <a:r>
              <a:rPr sz="2400" b="1">
                <a:solidFill>
                  <a:srgbClr val="FFFFFF"/>
                </a:solidFill>
                <a:latin typeface="Calibri"/>
              </a:rPr>
              <a:t>4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9052560" y="2514600"/>
            <a:ext cx="2651760" cy="45720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1900" b="1">
                <a:solidFill>
                  <a:srgbClr val="14293D"/>
                </a:solidFill>
                <a:latin typeface="Calibri"/>
              </a:rPr>
              <a:t>Se vuelve a iniciar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9052560" y="3017520"/>
            <a:ext cx="2651760" cy="1463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1500" b="0">
                <a:solidFill>
                  <a:srgbClr val="5F6B7A"/>
                </a:solidFill>
                <a:latin typeface="Calibri"/>
              </a:rPr>
              <a:t>Los datos, incluido el tipo de cada usuario, se recuperan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548640" y="4526280"/>
            <a:ext cx="5486400" cy="1600200"/>
          </a:xfrm>
          <a:prstGeom prst="roundRect">
            <a:avLst>
              <a:gd name="adj" fmla="val 6000"/>
            </a:avLst>
          </a:prstGeom>
          <a:solidFill>
            <a:srgbClr val="EAF1F8"/>
          </a:solidFill>
          <a:ln>
            <a:solidFill>
              <a:srgbClr val="C9D6E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685800" y="4617720"/>
            <a:ext cx="5212080" cy="41148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1700" b="1">
                <a:solidFill>
                  <a:srgbClr val="1F4E79"/>
                </a:solidFill>
                <a:latin typeface="Calibri"/>
              </a:rPr>
              <a:t>Archivo dañado o vacío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85800" y="5074920"/>
            <a:ext cx="5212080" cy="9601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300"/>
              </a:spcAft>
            </a:pPr>
            <a:r>
              <a:rPr sz="1400">
                <a:solidFill>
                  <a:srgbClr val="14293D"/>
                </a:solidFill>
                <a:latin typeface="Calibri"/>
              </a:rPr>
              <a:t>• Dañado: la app no inicia y muestra el archivo con el problema</a:t>
            </a:r>
          </a:p>
          <a:p>
            <a:pPr>
              <a:spcAft>
                <a:spcPts val="300"/>
              </a:spcAft>
            </a:pPr>
            <a:r>
              <a:rPr sz="1400">
                <a:solidFill>
                  <a:srgbClr val="14293D"/>
                </a:solidFill>
                <a:latin typeface="Calibri"/>
              </a:rPr>
              <a:t>• Vacío o inexistente: arranca con una colección vacía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6172200" y="4526280"/>
            <a:ext cx="5486400" cy="1600200"/>
          </a:xfrm>
          <a:prstGeom prst="roundRect">
            <a:avLst>
              <a:gd name="adj" fmla="val 6000"/>
            </a:avLst>
          </a:prstGeom>
          <a:solidFill>
            <a:srgbClr val="EAF1F8"/>
          </a:solidFill>
          <a:ln>
            <a:solidFill>
              <a:srgbClr val="C9D6E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6309360" y="4617720"/>
            <a:ext cx="5212080" cy="41148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1700" b="1">
                <a:solidFill>
                  <a:srgbClr val="1F4E79"/>
                </a:solidFill>
                <a:latin typeface="Calibri"/>
              </a:rPr>
              <a:t>Verificado con pruebas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6309360" y="5074920"/>
            <a:ext cx="5212080" cy="9601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300"/>
              </a:spcAft>
            </a:pPr>
            <a:r>
              <a:rPr sz="1400">
                <a:solidFill>
                  <a:srgbClr val="14293D"/>
                </a:solidFill>
                <a:latin typeface="Calibri"/>
              </a:rPr>
              <a:t>• Los datos sobreviven a reabrir el sistema</a:t>
            </a:r>
          </a:p>
          <a:p>
            <a:pPr>
              <a:spcAft>
                <a:spcPts val="300"/>
              </a:spcAft>
            </a:pPr>
            <a:r>
              <a:rPr sz="1400">
                <a:solidFill>
                  <a:srgbClr val="14293D"/>
                </a:solidFill>
                <a:latin typeface="Calibri"/>
              </a:rPr>
              <a:t>• Se conserva Lector o Bibliotecario al recuperar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28016"/>
          </a:xfrm>
          <a:prstGeom prst="rect">
            <a:avLst/>
          </a:prstGeom>
          <a:solidFill>
            <a:srgbClr val="1F4E7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320040"/>
            <a:ext cx="11064240" cy="7315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3200" b="1">
                <a:solidFill>
                  <a:srgbClr val="14293D"/>
                </a:solidFill>
                <a:latin typeface="Calibri"/>
              </a:rPr>
              <a:t>Pruebas y trazabilidad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960120"/>
            <a:ext cx="11064240" cy="45720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1600" b="0">
                <a:solidFill>
                  <a:srgbClr val="5F6B7A"/>
                </a:solidFill>
                <a:latin typeface="Calibri"/>
              </a:rPr>
              <a:t>94 pruebas automatizadas y datos de prueba completos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6446520"/>
            <a:ext cx="82296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1100" b="0">
                <a:solidFill>
                  <a:srgbClr val="5F6B7A"/>
                </a:solidFill>
                <a:latin typeface="Calibri"/>
              </a:rPr>
              <a:t>Sistema de biblioteca · Programación II · Universidad San Pablo de Guatemala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698480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100" b="0">
                <a:solidFill>
                  <a:srgbClr val="5F6B7A"/>
                </a:solidFill>
                <a:latin typeface="Calibri"/>
              </a:rPr>
              <a:t>15</a:t>
            </a:r>
          </a:p>
        </p:txBody>
      </p:sp>
      <p:sp>
        <p:nvSpPr>
          <p:cNvPr id="7" name="Pentagon 6"/>
          <p:cNvSpPr/>
          <p:nvPr/>
        </p:nvSpPr>
        <p:spPr>
          <a:xfrm>
            <a:off x="502920" y="1691640"/>
            <a:ext cx="1298448" cy="822960"/>
          </a:xfrm>
          <a:prstGeom prst="homePlate">
            <a:avLst/>
          </a:prstGeom>
          <a:solidFill>
            <a:srgbClr val="1F4E7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300" b="1">
                <a:solidFill>
                  <a:srgbClr val="FFFFFF"/>
                </a:solidFill>
                <a:latin typeface="Calibri"/>
              </a:rPr>
              <a:t>Problema</a:t>
            </a:r>
          </a:p>
        </p:txBody>
      </p:sp>
      <p:sp>
        <p:nvSpPr>
          <p:cNvPr id="8" name="Chevron 7"/>
          <p:cNvSpPr/>
          <p:nvPr/>
        </p:nvSpPr>
        <p:spPr>
          <a:xfrm>
            <a:off x="1901952" y="1691640"/>
            <a:ext cx="1298448" cy="822960"/>
          </a:xfrm>
          <a:prstGeom prst="chevron">
            <a:avLst/>
          </a:prstGeom>
          <a:solidFill>
            <a:srgbClr val="1F4E7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300" b="1">
                <a:solidFill>
                  <a:srgbClr val="FFFFFF"/>
                </a:solidFill>
                <a:latin typeface="Calibri"/>
              </a:rPr>
              <a:t>Requisitos</a:t>
            </a:r>
          </a:p>
        </p:txBody>
      </p:sp>
      <p:sp>
        <p:nvSpPr>
          <p:cNvPr id="9" name="Chevron 8"/>
          <p:cNvSpPr/>
          <p:nvPr/>
        </p:nvSpPr>
        <p:spPr>
          <a:xfrm>
            <a:off x="3300984" y="1691640"/>
            <a:ext cx="1298448" cy="822960"/>
          </a:xfrm>
          <a:prstGeom prst="chevron">
            <a:avLst/>
          </a:prstGeom>
          <a:solidFill>
            <a:srgbClr val="1F4E7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300" b="1">
                <a:solidFill>
                  <a:srgbClr val="FFFFFF"/>
                </a:solidFill>
                <a:latin typeface="Calibri"/>
              </a:rPr>
              <a:t>UML</a:t>
            </a:r>
          </a:p>
        </p:txBody>
      </p:sp>
      <p:sp>
        <p:nvSpPr>
          <p:cNvPr id="10" name="Chevron 9"/>
          <p:cNvSpPr/>
          <p:nvPr/>
        </p:nvSpPr>
        <p:spPr>
          <a:xfrm>
            <a:off x="4700016" y="1691640"/>
            <a:ext cx="1298448" cy="822960"/>
          </a:xfrm>
          <a:prstGeom prst="chevron">
            <a:avLst/>
          </a:prstGeom>
          <a:solidFill>
            <a:srgbClr val="1F4E7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300" b="1">
                <a:solidFill>
                  <a:srgbClr val="FFFFFF"/>
                </a:solidFill>
                <a:latin typeface="Calibri"/>
              </a:rPr>
              <a:t>Clases</a:t>
            </a:r>
          </a:p>
        </p:txBody>
      </p:sp>
      <p:sp>
        <p:nvSpPr>
          <p:cNvPr id="11" name="Chevron 10"/>
          <p:cNvSpPr/>
          <p:nvPr/>
        </p:nvSpPr>
        <p:spPr>
          <a:xfrm>
            <a:off x="6099048" y="1691640"/>
            <a:ext cx="1298448" cy="822960"/>
          </a:xfrm>
          <a:prstGeom prst="chevron">
            <a:avLst/>
          </a:prstGeom>
          <a:solidFill>
            <a:srgbClr val="1F4E7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300" b="1">
                <a:solidFill>
                  <a:srgbClr val="FFFFFF"/>
                </a:solidFill>
                <a:latin typeface="Calibri"/>
              </a:rPr>
              <a:t>Código C#</a:t>
            </a:r>
          </a:p>
        </p:txBody>
      </p:sp>
      <p:sp>
        <p:nvSpPr>
          <p:cNvPr id="12" name="Chevron 11"/>
          <p:cNvSpPr/>
          <p:nvPr/>
        </p:nvSpPr>
        <p:spPr>
          <a:xfrm>
            <a:off x="7498080" y="1691640"/>
            <a:ext cx="1298448" cy="822960"/>
          </a:xfrm>
          <a:prstGeom prst="chevron">
            <a:avLst/>
          </a:prstGeom>
          <a:solidFill>
            <a:srgbClr val="1F4E7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300" b="1">
                <a:solidFill>
                  <a:srgbClr val="FFFFFF"/>
                </a:solidFill>
                <a:latin typeface="Calibri"/>
              </a:rPr>
              <a:t>Interfaz</a:t>
            </a:r>
          </a:p>
        </p:txBody>
      </p:sp>
      <p:sp>
        <p:nvSpPr>
          <p:cNvPr id="13" name="Chevron 12"/>
          <p:cNvSpPr/>
          <p:nvPr/>
        </p:nvSpPr>
        <p:spPr>
          <a:xfrm>
            <a:off x="8897112" y="1691640"/>
            <a:ext cx="1298448" cy="822960"/>
          </a:xfrm>
          <a:prstGeom prst="chevron">
            <a:avLst/>
          </a:prstGeom>
          <a:solidFill>
            <a:srgbClr val="1F4E7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300" b="1">
                <a:solidFill>
                  <a:srgbClr val="FFFFFF"/>
                </a:solidFill>
                <a:latin typeface="Calibri"/>
              </a:rPr>
              <a:t>Archivos</a:t>
            </a:r>
          </a:p>
        </p:txBody>
      </p:sp>
      <p:sp>
        <p:nvSpPr>
          <p:cNvPr id="14" name="Chevron 13"/>
          <p:cNvSpPr/>
          <p:nvPr/>
        </p:nvSpPr>
        <p:spPr>
          <a:xfrm>
            <a:off x="10296144" y="1691640"/>
            <a:ext cx="1298448" cy="822960"/>
          </a:xfrm>
          <a:prstGeom prst="chevron">
            <a:avLst/>
          </a:prstGeom>
          <a:solidFill>
            <a:srgbClr val="1F4E7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300" b="1">
                <a:solidFill>
                  <a:srgbClr val="FFFFFF"/>
                </a:solidFill>
                <a:latin typeface="Calibri"/>
              </a:rPr>
              <a:t>Pruebas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548640" y="2880360"/>
            <a:ext cx="5486400" cy="3246120"/>
          </a:xfrm>
          <a:prstGeom prst="roundRect">
            <a:avLst>
              <a:gd name="adj" fmla="val 6000"/>
            </a:avLst>
          </a:prstGeom>
          <a:solidFill>
            <a:srgbClr val="EAF1F8"/>
          </a:solidFill>
          <a:ln>
            <a:solidFill>
              <a:srgbClr val="C9D6E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85800" y="2971800"/>
            <a:ext cx="5212080" cy="41148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1700" b="1">
                <a:solidFill>
                  <a:srgbClr val="1F4E79"/>
                </a:solidFill>
                <a:latin typeface="Calibri"/>
              </a:rPr>
              <a:t>Pruebas (xUnit)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85800" y="3429000"/>
            <a:ext cx="5212080" cy="260603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300"/>
              </a:spcAft>
            </a:pPr>
            <a:r>
              <a:rPr sz="1500">
                <a:solidFill>
                  <a:srgbClr val="14293D"/>
                </a:solidFill>
                <a:latin typeface="Calibri"/>
              </a:rPr>
              <a:t>• 70 de dominio, servicios y persistencia</a:t>
            </a:r>
          </a:p>
          <a:p>
            <a:pPr>
              <a:spcAft>
                <a:spcPts val="300"/>
              </a:spcAft>
            </a:pPr>
            <a:r>
              <a:rPr sz="1500">
                <a:solidFill>
                  <a:srgbClr val="14293D"/>
                </a:solidFill>
                <a:latin typeface="Calibri"/>
              </a:rPr>
              <a:t>• 24 de integración de la aplicación web MVC</a:t>
            </a:r>
          </a:p>
          <a:p>
            <a:pPr>
              <a:spcAft>
                <a:spcPts val="300"/>
              </a:spcAft>
            </a:pPr>
            <a:r>
              <a:rPr sz="1500">
                <a:solidFill>
                  <a:srgbClr val="14293D"/>
                </a:solidFill>
                <a:latin typeface="Calibri"/>
              </a:rPr>
              <a:t>• Reglas, bloqueos, flujo completo, archivo dañado</a:t>
            </a:r>
          </a:p>
          <a:p>
            <a:pPr>
              <a:spcAft>
                <a:spcPts val="300"/>
              </a:spcAft>
            </a:pPr>
            <a:r>
              <a:rPr sz="1500">
                <a:solidFill>
                  <a:srgbClr val="14293D"/>
                </a:solidFill>
                <a:latin typeface="Calibri"/>
              </a:rPr>
              <a:t>• Envíos sin token antiforgery rechazados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6172200" y="2880360"/>
            <a:ext cx="5486400" cy="3246120"/>
          </a:xfrm>
          <a:prstGeom prst="roundRect">
            <a:avLst>
              <a:gd name="adj" fmla="val 6000"/>
            </a:avLst>
          </a:prstGeom>
          <a:solidFill>
            <a:srgbClr val="EAF1F8"/>
          </a:solidFill>
          <a:ln>
            <a:solidFill>
              <a:srgbClr val="C9D6E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309360" y="2971800"/>
            <a:ext cx="5212080" cy="41148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1700" b="1">
                <a:solidFill>
                  <a:srgbClr val="1F4E79"/>
                </a:solidFill>
                <a:latin typeface="Calibri"/>
              </a:rPr>
              <a:t>Datos de prueba (Data/)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309360" y="3429000"/>
            <a:ext cx="5212080" cy="260603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300"/>
              </a:spcAft>
            </a:pPr>
            <a:r>
              <a:rPr sz="1500">
                <a:solidFill>
                  <a:srgbClr val="14293D"/>
                </a:solidFill>
                <a:latin typeface="Calibri"/>
              </a:rPr>
              <a:t>• 16 libros y 8 usuarios (6 lectores, 2 bibliotecarios)</a:t>
            </a:r>
          </a:p>
          <a:p>
            <a:pPr>
              <a:spcAft>
                <a:spcPts val="300"/>
              </a:spcAft>
            </a:pPr>
            <a:r>
              <a:rPr sz="1500">
                <a:solidFill>
                  <a:srgbClr val="14293D"/>
                </a:solidFill>
                <a:latin typeface="Calibri"/>
              </a:rPr>
              <a:t>• 12 préstamos: activos, atrasados y devueltos</a:t>
            </a:r>
          </a:p>
          <a:p>
            <a:pPr>
              <a:spcAft>
                <a:spcPts val="300"/>
              </a:spcAft>
            </a:pPr>
            <a:r>
              <a:rPr sz="1500">
                <a:solidFill>
                  <a:srgbClr val="14293D"/>
                </a:solidFill>
                <a:latin typeface="Calibri"/>
              </a:rPr>
              <a:t>• Multas: una pagada y una pendiente</a:t>
            </a:r>
          </a:p>
          <a:p>
            <a:pPr>
              <a:spcAft>
                <a:spcPts val="300"/>
              </a:spcAft>
            </a:pPr>
            <a:r>
              <a:rPr sz="1500">
                <a:solidFill>
                  <a:srgbClr val="14293D"/>
                </a:solidFill>
                <a:latin typeface="Calibri"/>
              </a:rPr>
              <a:t>• Generados con la propia lógica del sistema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28016"/>
          </a:xfrm>
          <a:prstGeom prst="rect">
            <a:avLst/>
          </a:prstGeom>
          <a:solidFill>
            <a:srgbClr val="1F4E7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320040"/>
            <a:ext cx="11064240" cy="7315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3200" b="1">
                <a:solidFill>
                  <a:srgbClr val="14293D"/>
                </a:solidFill>
                <a:latin typeface="Calibri"/>
              </a:rPr>
              <a:t>Principales dificultades y soluciones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446520"/>
            <a:ext cx="82296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1100" b="0">
                <a:solidFill>
                  <a:srgbClr val="5F6B7A"/>
                </a:solidFill>
                <a:latin typeface="Calibri"/>
              </a:rPr>
              <a:t>Sistema de biblioteca · Programación II · Universidad San Pablo de Guatemala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98480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100" b="0">
                <a:solidFill>
                  <a:srgbClr val="5F6B7A"/>
                </a:solidFill>
                <a:latin typeface="Calibri"/>
              </a:rPr>
              <a:t>16</a:t>
            </a:r>
          </a:p>
        </p:txBody>
      </p:sp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548640" y="1280160"/>
          <a:ext cx="11109960" cy="484632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5577840"/>
                <a:gridCol w="5532120"/>
              </a:tblGrid>
              <a:tr h="692331">
                <a:tc>
                  <a:txBody>
                    <a:bodyPr/>
                    <a:lstStyle/>
                    <a:p>
                      <a:r>
                        <a:rPr sz="1400" b="1">
                          <a:solidFill>
                            <a:srgbClr val="FFFFFF"/>
                          </a:solidFill>
                          <a:latin typeface="Calibri"/>
                        </a:rPr>
                        <a:t>Dificultad</a:t>
                      </a:r>
                    </a:p>
                  </a:txBody>
                  <a:tcPr>
                    <a:solidFill>
                      <a:srgbClr val="1F4E79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 b="1">
                          <a:solidFill>
                            <a:srgbClr val="FFFFFF"/>
                          </a:solidFill>
                          <a:latin typeface="Calibri"/>
                        </a:rPr>
                        <a:t>Solución</a:t>
                      </a:r>
                    </a:p>
                  </a:txBody>
                  <a:tcPr>
                    <a:solidFill>
                      <a:srgbClr val="1F4E79"/>
                    </a:solidFill>
                  </a:tcPr>
                </a:tc>
              </a:tr>
              <a:tr h="692331">
                <a:tc>
                  <a:txBody>
                    <a:bodyPr/>
                    <a:lstStyle/>
                    <a:p>
                      <a:r>
                        <a:rPr sz="1400" b="0">
                          <a:solidFill>
                            <a:srgbClr val="14293D"/>
                          </a:solidFill>
                          <a:latin typeface="Calibri"/>
                        </a:rPr>
                        <a:t>Las propiedades calculadas de los usuarios se guardaban en el JSON (JsonIgnore no se hereda en un override)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 b="0">
                          <a:solidFill>
                            <a:srgbClr val="14293D"/>
                          </a:solidFill>
                          <a:latin typeface="Calibri"/>
                        </a:rPr>
                        <a:t>JsonIgnore en cada override y una prueba que verifica que no se guardan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692331">
                <a:tc>
                  <a:txBody>
                    <a:bodyPr/>
                    <a:lstStyle/>
                    <a:p>
                      <a:r>
                        <a:rPr sz="1400" b="0">
                          <a:solidFill>
                            <a:srgbClr val="14293D"/>
                          </a:solidFill>
                          <a:latin typeface="Calibri"/>
                        </a:rPr>
                        <a:t>Guardar una jerarquía polimórfica (Persona) con setters privados</a:t>
                      </a:r>
                    </a:p>
                  </a:txBody>
                  <a:tcPr>
                    <a:solidFill>
                      <a:srgbClr val="EAF1F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 b="0">
                          <a:solidFill>
                            <a:srgbClr val="14293D"/>
                          </a:solidFill>
                          <a:latin typeface="Calibri"/>
                        </a:rPr>
                        <a:t>JsonPolymorphic, JsonDerivedType, JsonInclude y constructor privado para el deserializador</a:t>
                      </a:r>
                    </a:p>
                  </a:txBody>
                  <a:tcPr>
                    <a:solidFill>
                      <a:srgbClr val="EAF1F8"/>
                    </a:solidFill>
                  </a:tcPr>
                </a:tc>
              </a:tr>
              <a:tr h="692331">
                <a:tc>
                  <a:txBody>
                    <a:bodyPr/>
                    <a:lstStyle/>
                    <a:p>
                      <a:r>
                        <a:rPr sz="1400" b="0">
                          <a:solidFill>
                            <a:srgbClr val="14293D"/>
                          </a:solidFill>
                          <a:latin typeface="Calibri"/>
                        </a:rPr>
                        <a:t>Datos de prueba consistentes (ejemplares frente a préstamos)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 b="0">
                          <a:solidFill>
                            <a:srgbClr val="14293D"/>
                          </a:solidFill>
                          <a:latin typeface="Calibri"/>
                        </a:rPr>
                        <a:t>Generados con la propia lógica y un reloj simulado, más una prueba de consistencia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692331">
                <a:tc>
                  <a:txBody>
                    <a:bodyPr/>
                    <a:lstStyle/>
                    <a:p>
                      <a:r>
                        <a:rPr sz="1400" b="0">
                          <a:solidFill>
                            <a:srgbClr val="14293D"/>
                          </a:solidFill>
                          <a:latin typeface="Calibri"/>
                        </a:rPr>
                        <a:t>El script de un formulario no se ejecutaba: las secciones Razor no funcionan dentro de vistas parciales</a:t>
                      </a:r>
                    </a:p>
                  </a:txBody>
                  <a:tcPr>
                    <a:solidFill>
                      <a:srgbClr val="EAF1F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 b="0">
                          <a:solidFill>
                            <a:srgbClr val="14293D"/>
                          </a:solidFill>
                          <a:latin typeface="Calibri"/>
                        </a:rPr>
                        <a:t>Se movió la sección a la vista Crear; lo detectaron las pruebas en Chrome</a:t>
                      </a:r>
                    </a:p>
                  </a:txBody>
                  <a:tcPr>
                    <a:solidFill>
                      <a:srgbClr val="EAF1F8"/>
                    </a:solidFill>
                  </a:tcPr>
                </a:tc>
              </a:tr>
              <a:tr h="692331">
                <a:tc>
                  <a:txBody>
                    <a:bodyPr/>
                    <a:lstStyle/>
                    <a:p>
                      <a:r>
                        <a:rPr sz="1400" b="0">
                          <a:solidFill>
                            <a:srgbClr val="14293D"/>
                          </a:solidFill>
                          <a:latin typeface="Calibri"/>
                        </a:rPr>
                        <a:t>Montos con coma o con punto según la cultura del servidor (Q14,00 y Q14.00)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 b="0">
                          <a:solidFill>
                            <a:srgbClr val="14293D"/>
                          </a:solidFill>
                          <a:latin typeface="Calibri"/>
                        </a:rPr>
                        <a:t>Cultura es-GT fija en Program.cs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692334">
                <a:tc>
                  <a:txBody>
                    <a:bodyPr/>
                    <a:lstStyle/>
                    <a:p>
                      <a:r>
                        <a:rPr sz="1400" b="0">
                          <a:solidFill>
                            <a:srgbClr val="14293D"/>
                          </a:solidFill>
                          <a:latin typeface="Calibri"/>
                        </a:rPr>
                        <a:t>Dos peticiones a la vez podían escribir los mismos JSON</a:t>
                      </a:r>
                    </a:p>
                  </a:txBody>
                  <a:tcPr>
                    <a:solidFill>
                      <a:srgbClr val="EAF1F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 b="0">
                          <a:solidFill>
                            <a:srgbClr val="14293D"/>
                          </a:solidFill>
                          <a:latin typeface="Calibri"/>
                        </a:rPr>
                        <a:t>Middleware que atiende una petición a la vez, y escritura atómica</a:t>
                      </a:r>
                    </a:p>
                  </a:txBody>
                  <a:tcPr>
                    <a:solidFill>
                      <a:srgbClr val="EAF1F8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28016"/>
          </a:xfrm>
          <a:prstGeom prst="rect">
            <a:avLst/>
          </a:prstGeom>
          <a:solidFill>
            <a:srgbClr val="1F4E7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320040"/>
            <a:ext cx="11064240" cy="7315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3200" b="1">
                <a:solidFill>
                  <a:srgbClr val="14293D"/>
                </a:solidFill>
                <a:latin typeface="Calibri"/>
              </a:rPr>
              <a:t>Uso de GitHub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960120"/>
            <a:ext cx="11064240" cy="45720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1600" b="0">
                <a:solidFill>
                  <a:srgbClr val="5F6B7A"/>
                </a:solidFill>
                <a:latin typeface="Calibri"/>
              </a:rPr>
              <a:t>Historial construido por capas con Conventional Commits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6446520"/>
            <a:ext cx="82296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1100" b="0">
                <a:solidFill>
                  <a:srgbClr val="5F6B7A"/>
                </a:solidFill>
                <a:latin typeface="Calibri"/>
              </a:rPr>
              <a:t>Sistema de biblioteca · Programación II · Universidad San Pablo de Guatemala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698480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100" b="0">
                <a:solidFill>
                  <a:srgbClr val="5F6B7A"/>
                </a:solidFill>
                <a:latin typeface="Calibri"/>
              </a:rPr>
              <a:t>17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48640" y="1645920"/>
            <a:ext cx="7223760" cy="4389120"/>
          </a:xfrm>
          <a:prstGeom prst="roundRect">
            <a:avLst>
              <a:gd name="adj" fmla="val 3000"/>
            </a:avLst>
          </a:prstGeom>
          <a:solidFill>
            <a:srgbClr val="1E2A3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77240" y="1828800"/>
            <a:ext cx="6858000" cy="402336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>
              <a:spcAft>
                <a:spcPts val="700"/>
              </a:spcAft>
            </a:pPr>
            <a:r>
              <a:rPr sz="1300" b="0">
                <a:solidFill>
                  <a:srgbClr val="D6E6F5"/>
                </a:solidFill>
                <a:latin typeface="Consolas"/>
              </a:rPr>
              <a:t>chore: crea la estructura base de la solución</a:t>
            </a:r>
          </a:p>
          <a:p>
            <a:pPr algn="l">
              <a:spcAft>
                <a:spcPts val="700"/>
              </a:spcAft>
            </a:pPr>
            <a:r>
              <a:rPr sz="1300" b="0">
                <a:solidFill>
                  <a:srgbClr val="D6E6F5"/>
                </a:solidFill>
                <a:latin typeface="Consolas"/>
              </a:rPr>
              <a:t>feat: agrega modelos de libros y usuarios con sus validaciones</a:t>
            </a:r>
          </a:p>
          <a:p>
            <a:pPr algn="l">
              <a:spcAft>
                <a:spcPts val="700"/>
              </a:spcAft>
            </a:pPr>
            <a:r>
              <a:rPr sz="1300" b="0">
                <a:solidFill>
                  <a:srgbClr val="D6E6F5"/>
                </a:solidFill>
                <a:latin typeface="Consolas"/>
              </a:rPr>
              <a:t>feat: agrega la persistencia en archivos JSON con escritura atómica</a:t>
            </a:r>
          </a:p>
          <a:p>
            <a:pPr algn="l">
              <a:spcAft>
                <a:spcPts val="700"/>
              </a:spcAft>
            </a:pPr>
            <a:r>
              <a:rPr sz="1300" b="0">
                <a:solidFill>
                  <a:srgbClr val="D6E6F5"/>
                </a:solidFill>
                <a:latin typeface="Consolas"/>
              </a:rPr>
              <a:t>feat: agrega los servicios de préstamos, devoluciones y multas</a:t>
            </a:r>
          </a:p>
          <a:p>
            <a:pPr algn="l">
              <a:spcAft>
                <a:spcPts val="700"/>
              </a:spcAft>
            </a:pPr>
            <a:r>
              <a:rPr sz="1300" b="0">
                <a:solidFill>
                  <a:srgbClr val="D6E6F5"/>
                </a:solidFill>
                <a:latin typeface="Consolas"/>
              </a:rPr>
              <a:t>chore: reemplaza la aplicación de escritorio por la plantilla ASP.NET Core MVC</a:t>
            </a:r>
          </a:p>
          <a:p>
            <a:pPr algn="l">
              <a:spcAft>
                <a:spcPts val="700"/>
              </a:spcAft>
            </a:pPr>
            <a:r>
              <a:rPr sz="1300" b="0">
                <a:solidFill>
                  <a:srgbClr val="D6E6F5"/>
                </a:solidFill>
                <a:latin typeface="Consolas"/>
              </a:rPr>
              <a:t>feat: agrega los controladores de inicio, libros y usuarios</a:t>
            </a:r>
          </a:p>
          <a:p>
            <a:pPr algn="l">
              <a:spcAft>
                <a:spcPts val="700"/>
              </a:spcAft>
            </a:pPr>
            <a:r>
              <a:rPr sz="1300" b="0">
                <a:solidFill>
                  <a:srgbClr val="D6E6F5"/>
                </a:solidFill>
                <a:latin typeface="Consolas"/>
              </a:rPr>
              <a:t>feat: agrega las vistas Razor de libros y usuarios con formularios y validación</a:t>
            </a:r>
          </a:p>
          <a:p>
            <a:pPr algn="l">
              <a:spcAft>
                <a:spcPts val="700"/>
              </a:spcAft>
            </a:pPr>
            <a:r>
              <a:rPr sz="1300" b="0">
                <a:solidFill>
                  <a:srgbClr val="D6E6F5"/>
                </a:solidFill>
                <a:latin typeface="Consolas"/>
              </a:rPr>
              <a:t>test: agrega pruebas de integración de la aplicación web MVC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7955279" y="1645920"/>
            <a:ext cx="3703320" cy="4389120"/>
          </a:xfrm>
          <a:prstGeom prst="roundRect">
            <a:avLst>
              <a:gd name="adj" fmla="val 6000"/>
            </a:avLst>
          </a:prstGeom>
          <a:solidFill>
            <a:srgbClr val="EAF1F8"/>
          </a:solidFill>
          <a:ln>
            <a:solidFill>
              <a:srgbClr val="C9D6E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092440" y="1737360"/>
            <a:ext cx="3429000" cy="41148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1700" b="1">
                <a:solidFill>
                  <a:srgbClr val="1F4E79"/>
                </a:solidFill>
                <a:latin typeface="Calibri"/>
              </a:rPr>
              <a:t>Convenciones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092440" y="2194560"/>
            <a:ext cx="3429000" cy="374903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300"/>
              </a:spcAft>
            </a:pPr>
            <a:r>
              <a:rPr sz="1500">
                <a:solidFill>
                  <a:srgbClr val="14293D"/>
                </a:solidFill>
                <a:latin typeface="Calibri"/>
              </a:rPr>
              <a:t>• Un commit por cambio lógico</a:t>
            </a:r>
          </a:p>
          <a:p>
            <a:pPr>
              <a:spcAft>
                <a:spcPts val="300"/>
              </a:spcAft>
            </a:pPr>
            <a:r>
              <a:rPr sz="1500">
                <a:solidFill>
                  <a:srgbClr val="14293D"/>
                </a:solidFill>
                <a:latin typeface="Calibri"/>
              </a:rPr>
              <a:t>• Tipos: feat, fix, docs, chore, test</a:t>
            </a:r>
          </a:p>
          <a:p>
            <a:pPr>
              <a:spcAft>
                <a:spcPts val="300"/>
              </a:spcAft>
            </a:pPr>
            <a:r>
              <a:rPr sz="1500">
                <a:solidFill>
                  <a:srgbClr val="14293D"/>
                </a:solidFill>
                <a:latin typeface="Calibri"/>
              </a:rPr>
              <a:t>• Descripción en español, en imperativo</a:t>
            </a:r>
          </a:p>
          <a:p>
            <a:pPr>
              <a:spcAft>
                <a:spcPts val="300"/>
              </a:spcAft>
            </a:pPr>
            <a:r>
              <a:rPr sz="1500">
                <a:solidFill>
                  <a:srgbClr val="14293D"/>
                </a:solidFill>
                <a:latin typeface="Calibri"/>
              </a:rPr>
              <a:t>• Repositorio en la organización del curso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28016"/>
          </a:xfrm>
          <a:prstGeom prst="rect">
            <a:avLst/>
          </a:prstGeom>
          <a:solidFill>
            <a:srgbClr val="1F4E7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320040"/>
            <a:ext cx="11064240" cy="7315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3200" b="1">
                <a:solidFill>
                  <a:srgbClr val="14293D"/>
                </a:solidFill>
                <a:latin typeface="Calibri"/>
              </a:rPr>
              <a:t>Conclusiones y demostración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446520"/>
            <a:ext cx="82296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1100" b="0">
                <a:solidFill>
                  <a:srgbClr val="5F6B7A"/>
                </a:solidFill>
                <a:latin typeface="Calibri"/>
              </a:rPr>
              <a:t>Sistema de biblioteca · Programación II · Universidad San Pablo de Guatemala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98480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100" b="0">
                <a:solidFill>
                  <a:srgbClr val="5F6B7A"/>
                </a:solidFill>
                <a:latin typeface="Calibri"/>
              </a:rPr>
              <a:t>18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48640" y="1371600"/>
            <a:ext cx="5486400" cy="4754880"/>
          </a:xfrm>
          <a:prstGeom prst="roundRect">
            <a:avLst>
              <a:gd name="adj" fmla="val 6000"/>
            </a:avLst>
          </a:prstGeom>
          <a:solidFill>
            <a:srgbClr val="EAF1F8"/>
          </a:solidFill>
          <a:ln>
            <a:solidFill>
              <a:srgbClr val="C9D6E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85800" y="1463040"/>
            <a:ext cx="5212080" cy="41148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1700" b="1">
                <a:solidFill>
                  <a:srgbClr val="1F4E79"/>
                </a:solidFill>
                <a:latin typeface="Calibri"/>
              </a:rPr>
              <a:t>Conclusiones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85800" y="1920240"/>
            <a:ext cx="5212080" cy="4114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300"/>
              </a:spcAft>
            </a:pPr>
            <a:r>
              <a:rPr sz="1600">
                <a:solidFill>
                  <a:srgbClr val="14293D"/>
                </a:solidFill>
                <a:latin typeface="Calibri"/>
              </a:rPr>
              <a:t>• Un problema real se convirtió en requisitos, UML, clases, código, interfaz, archivos y pruebas</a:t>
            </a:r>
          </a:p>
          <a:p>
            <a:pPr>
              <a:spcAft>
                <a:spcPts val="300"/>
              </a:spcAft>
            </a:pPr>
            <a:r>
              <a:rPr sz="1600">
                <a:solidFill>
                  <a:srgbClr val="14293D"/>
                </a:solidFill>
                <a:latin typeface="Calibri"/>
              </a:rPr>
              <a:t>• La aplicación sigue el patrón MVC de ASP.NET Core</a:t>
            </a:r>
          </a:p>
          <a:p>
            <a:pPr>
              <a:spcAft>
                <a:spcPts val="300"/>
              </a:spcAft>
            </a:pPr>
            <a:r>
              <a:rPr sz="1600">
                <a:solidFill>
                  <a:srgbClr val="14293D"/>
                </a:solidFill>
                <a:latin typeface="Calibri"/>
              </a:rPr>
              <a:t>• Las reglas de negocio viven en la lógica y están probadas</a:t>
            </a:r>
          </a:p>
          <a:p>
            <a:pPr>
              <a:spcAft>
                <a:spcPts val="300"/>
              </a:spcAft>
            </a:pPr>
            <a:r>
              <a:rPr sz="1600">
                <a:solidFill>
                  <a:srgbClr val="14293D"/>
                </a:solidFill>
                <a:latin typeface="Calibri"/>
              </a:rPr>
              <a:t>• Los datos persisten en JSON y se recuperan al reiniciar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172200" y="1371600"/>
            <a:ext cx="5486400" cy="4754880"/>
          </a:xfrm>
          <a:prstGeom prst="roundRect">
            <a:avLst>
              <a:gd name="adj" fmla="val 6000"/>
            </a:avLst>
          </a:prstGeom>
          <a:solidFill>
            <a:srgbClr val="E6F4EC"/>
          </a:solidFill>
          <a:ln>
            <a:solidFill>
              <a:srgbClr val="C9D6E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309360" y="1463040"/>
            <a:ext cx="5212080" cy="41148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1700" b="1">
                <a:solidFill>
                  <a:srgbClr val="1F4E79"/>
                </a:solidFill>
                <a:latin typeface="Calibri"/>
              </a:rPr>
              <a:t>Guion de la demostración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309360" y="1920240"/>
            <a:ext cx="5212080" cy="4114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300"/>
              </a:spcAft>
            </a:pPr>
            <a:r>
              <a:rPr sz="1500">
                <a:solidFill>
                  <a:srgbClr val="14293D"/>
                </a:solidFill>
                <a:latin typeface="Calibri"/>
              </a:rPr>
              <a:t>• 1. dotnet run y abrir el navegador</a:t>
            </a:r>
          </a:p>
          <a:p>
            <a:pPr>
              <a:spcAft>
                <a:spcPts val="300"/>
              </a:spcAft>
            </a:pPr>
            <a:r>
              <a:rPr sz="1500">
                <a:solidFill>
                  <a:srgbClr val="14293D"/>
                </a:solidFill>
                <a:latin typeface="Calibri"/>
              </a:rPr>
              <a:t>• 2. Recorrer el menú; registrar un libro (primero con error)</a:t>
            </a:r>
          </a:p>
          <a:p>
            <a:pPr>
              <a:spcAft>
                <a:spcPts val="300"/>
              </a:spcAft>
            </a:pPr>
            <a:r>
              <a:rPr sz="1500">
                <a:solidFill>
                  <a:srgbClr val="14293D"/>
                </a:solidFill>
                <a:latin typeface="Calibri"/>
              </a:rPr>
              <a:t>• 3. Prestar un libro y renovar el préstamo</a:t>
            </a:r>
          </a:p>
          <a:p>
            <a:pPr>
              <a:spcAft>
                <a:spcPts val="300"/>
              </a:spcAft>
            </a:pPr>
            <a:r>
              <a:rPr sz="1500">
                <a:solidFill>
                  <a:srgbClr val="14293D"/>
                </a:solidFill>
                <a:latin typeface="Calibri"/>
              </a:rPr>
              <a:t>• 4. Devolver un libro atrasado: se genera la multa</a:t>
            </a:r>
          </a:p>
          <a:p>
            <a:pPr>
              <a:spcAft>
                <a:spcPts val="300"/>
              </a:spcAft>
            </a:pPr>
            <a:r>
              <a:rPr sz="1500">
                <a:solidFill>
                  <a:srgbClr val="14293D"/>
                </a:solidFill>
                <a:latin typeface="Calibri"/>
              </a:rPr>
              <a:t>• 5. Pagar la multa y volver a prestar</a:t>
            </a:r>
          </a:p>
          <a:p>
            <a:pPr>
              <a:spcAft>
                <a:spcPts val="300"/>
              </a:spcAft>
            </a:pPr>
            <a:r>
              <a:rPr sz="1500">
                <a:solidFill>
                  <a:srgbClr val="14293D"/>
                </a:solidFill>
                <a:latin typeface="Calibri"/>
              </a:rPr>
              <a:t>• 6. Ver y exportar un reporte</a:t>
            </a:r>
          </a:p>
          <a:p>
            <a:pPr>
              <a:spcAft>
                <a:spcPts val="300"/>
              </a:spcAft>
            </a:pPr>
            <a:r>
              <a:rPr sz="1500">
                <a:solidFill>
                  <a:srgbClr val="14293D"/>
                </a:solidFill>
                <a:latin typeface="Calibri"/>
              </a:rPr>
              <a:t>• 7. Detener, volver a iniciar y comprobar los datos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