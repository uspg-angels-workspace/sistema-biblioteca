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al equipo y el sistema: una aplicación web de gestión de biblioteca hecha con ASP.NET Core MVC y archivos JSON. Seguimos la ruta problema → requisitos → UML → clases → código → interfaz → archivos →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Situación actual: cuadernos, fichas y multas calculadas de memoria. El problema central es que no hay un registro único y consistente de libros, usuarios, préstamos y multas.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general: aplicación web en C# con POO y UML que gestione catálogo, usuarios, préstamos, devoluciones y multas con archivos JSON. Alcance: los cinco módulos del enunciado.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Requisitos por módulo. Reglas clave: límites 3/5 préstamos, plazos 7/14 días, máximo 2 renovaciones, multa Q2.00 por día con tope Q100.00.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Actores: Bibliotecario (principal), Lector (secundario) y los archivos JSON. CU-18 se incluye en CU-09; CU-14 extiende a CU-12 solo si hay atraso.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EntidadBase aporta el Id; Persona es abstracta con Lector y Bibliotecario; Libro, Prestamo y Multa se relacionan por identificadores. El polimorfismo está en LimitePrestamos y DiasPrestamo.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formulario envía un POST a PrestamosController, que llama a PrestamoService. Si falla una regla se vuelve a mostrar el formulario con el error; si no, se guardan prestamos.json y libros.json y se redirige con el mensaje de confirmación.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actividad de préstamo muestra las seis validaciones; la de devolución, el cálculo de la multa. El diagrama de estados resume el ciclo Activo → Atrasado → Devuelto.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= Biblioteca.Core, Vista = Views/*.cshtml (Razor + Bootstrap), Controlador = Controllers/*.cs. Los controladores reciben SistemaBiblioteca por inyección de dependencias y llaman a los servicios; el modelo no conoce la web, por eso se prueba sin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Demostrar el menú lateral y el inicio: indicadores, próximos vencimientos, accesos rápidos y reglas del servicio.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registrar un libro con ISBN inválido y mostrar el error; luego registrar un préstamo y mostrar el rechazo a un usuario con libros atrasados.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búsqueda por título, filtro por categoría y disponibilidad. En reportes, elegir 'Libros atrasados' y exportar a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cambio serializa la colección completa a un .tmp y reemplaza el archivo original. Solo se guardan datos primarios. La jerarquía Persona se guarda con el discriminador 'tipo'.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registrar un libro, detener la aplicación con Ctrl+C, ejecutar dotnet run de nuevo y mostrar que sigue ahí. Mencionar la prueba automatizada que reabre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la cadena de trazabilidad. Los 24 tests de integración levantan la aplicación web completa en memoria y ejercitan controladores, vistas y archivos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problemas reales: JsonIgnore no se hereda en un override y el JSON guardaba propiedades calculadas; las secciones Razor no se renderizan desde vistas parciales; el dinero salía con coma según la cultura del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historial del repositorio: cada commit es un cambio lógico con el formato tipo: descripción en español. Se ve también el cambio a MVC hecho por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resumiendo y pasar a la demostración en vivo siguiendo el guion.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463040" cy="73152"/>
          </a:xfrm>
          <a:prstGeom prst="rect">
            <a:avLst/>
          </a:prstGeom>
          <a:solidFill>
            <a:srgbClr val="5B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Sistema de biblioteca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C9DBEE"/>
                </a:solidFill>
                <a:latin typeface="Calibri"/>
              </a:rPr>
              <a:t>Aplicación web ASP.NET Core MVC · Proyecto Integrador de Programación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9DBEE"/>
                </a:solidFill>
                <a:latin typeface="Calibri"/>
              </a:rPr>
              <a:t>Universidad San Pablo de Guatemala</a:t>
            </a:r>
          </a:p>
          <a:p>
            <a:pPr algn="l"/>
            <a:r>
              <a:rPr sz="1800" b="0">
                <a:solidFill>
                  <a:srgbClr val="C9DBEE"/>
                </a:solidFill>
                <a:latin typeface="Calibri"/>
              </a:rPr>
              <a:t>Angela María Cruz Cifuentes (2600447)</a:t>
            </a:r>
          </a:p>
          <a:p>
            <a:pPr algn="l"/>
            <a:r>
              <a:rPr sz="1800" b="0">
                <a:solidFill>
                  <a:srgbClr val="C9DBEE"/>
                </a:solidFill>
                <a:latin typeface="Calibri"/>
              </a:rPr>
              <a:t>Carlos Fernando Villatoro López (2600094)</a:t>
            </a:r>
          </a:p>
          <a:p>
            <a:pPr algn="l"/>
            <a:r>
              <a:rPr sz="1800" b="0">
                <a:solidFill>
                  <a:srgbClr val="C9DBEE"/>
                </a:solidFill>
                <a:latin typeface="Calibri"/>
              </a:rPr>
              <a:t>Angel Kaled Rodriguez Soc (2600100)</a:t>
            </a:r>
          </a:p>
          <a:p>
            <a:pPr algn="l"/>
            <a:r>
              <a:rPr sz="1800" b="0">
                <a:solidFill>
                  <a:srgbClr val="C9DBEE"/>
                </a:solidFill>
                <a:latin typeface="Calibri"/>
              </a:rPr>
              <a:t>Catedrático: Erik Arnulfo Santizo Bardales</a:t>
            </a:r>
          </a:p>
          <a:p>
            <a:pPr algn="l"/>
            <a:r>
              <a:rPr sz="1800" b="0">
                <a:solidFill>
                  <a:srgbClr val="C9DBEE"/>
                </a:solidFill>
                <a:latin typeface="Calibri"/>
              </a:rPr>
              <a:t>10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Problema identificado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Una biblioteca que gestiona todo de forma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657600" cy="44805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Situación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Libros anotados en cuadernos u hojas sueltas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Fichas de papel para cada préstamo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Vencimientos recordados a mano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Multas calculadas “de memoria”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657600" cy="44805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Se prestan libros sin ejemplares o a quien no debe recibirlos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Vencimientos y multas sin control uniforme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Información duplicada o perdida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Reportes lentos y propensos a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520440" cy="4480560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37360"/>
            <a:ext cx="3246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Propuesta de solución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9456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Aplicación web ASP.NET Core MVC (C#, .NET 8) con Tailwind CSS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Reglas del servicio automáticas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Datos en archivos JSON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Reportes y exportación a 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Análisis realizado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Objetivos, alcance y limitaciones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212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Objetivo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4293D"/>
                </a:solidFill>
                <a:latin typeface="Calibri"/>
              </a:rPr>
              <a:t>• Gestionar catálogo, usuarios, préstamos, devoluciones y multas con una aplicación web, aplicando POO y UML, y guardando los datos en archivos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4293D"/>
                </a:solidFill>
                <a:latin typeface="Calibri"/>
              </a:rPr>
              <a:t>• Específicos:</a:t>
            </a:r>
            <a:r>
              <a:rPr sz="1600">
                <a:solidFill>
                  <a:srgbClr val="14293D"/>
                </a:solidFill>
                <a:latin typeface="Calibri"/>
              </a:rPr>
              <a:t> analizar y documentar, modelar en UML, implementar POO, persistir en JSON, construir la interfaz web, probar y versionar en GitHub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1663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Alcance: 5 módulos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4293D"/>
                </a:solidFill>
                <a:latin typeface="Calibri"/>
              </a:rPr>
              <a:t>• Libros · Usuarios · Préstamos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93D"/>
                </a:solidFill>
                <a:latin typeface="Calibri"/>
              </a:rPr>
              <a:t>• Devoluciones y multas · Reportes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160520"/>
            <a:ext cx="51663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Limitaciones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617720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Sin inicio de sesión; una instancia y una petición a la vez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Sin reservas ni notificaciones; una política de multa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34 funcionales, 11 no funcionales y 9 reglas del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74980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3383280"/>
              </a:tblGrid>
              <a:tr h="5257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Módulo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Requisitos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Libros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RF-01 a RF-07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ISBN único; disponibilidad automática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Usuarios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RF-08 a RF-11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DPI de 13 dígitos; DPI y carnet únicos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Préstamos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RF-12 a RF-17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Plazo 7 / 14 días; máx. 2 renovaciones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Devoluciones y multas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RF-18 a RF-22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Q2.00 por día, tope Q100.00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Reportes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RF-23 a RF-28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5 reportes y exportación a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Persistencia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RF-29 a RF-31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Guardar y recuperar en JSON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Interfaz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RF-32 a RF-34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Menú, formularios, confirmaciones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21040" y="1600200"/>
            <a:ext cx="3337560" cy="21488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691640"/>
            <a:ext cx="3063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No funcionales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14884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C# / .NET 8, ASP.NET Core MVC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POO y UML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Datos JSON en UTF-8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886200"/>
            <a:ext cx="3337560" cy="21488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3977639"/>
            <a:ext cx="3063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Reglas del 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43484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Sin multas ni atrasos para prestar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No se elimina lo que tiene historial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Actores y 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18 casos de uso agrupados por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diagrama-casos-de-u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83" y="1417320"/>
            <a:ext cx="5784233" cy="4937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645920"/>
            <a:ext cx="3337560" cy="4389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737360"/>
            <a:ext cx="3063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Actores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19456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Bibliotecario:</a:t>
            </a:r>
            <a:r>
              <a:rPr sz="1500">
                <a:solidFill>
                  <a:srgbClr val="14293D"/>
                </a:solidFill>
                <a:latin typeface="Calibri"/>
              </a:rPr>
              <a:t> opera el sistema desde el navegador</a:t>
            </a:r>
          </a:p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Lector:</a:t>
            </a:r>
            <a:r>
              <a:rPr sz="1500">
                <a:solidFill>
                  <a:srgbClr val="14293D"/>
                </a:solidFill>
                <a:latin typeface="Calibri"/>
              </a:rPr>
              <a:t> solicita libros; lo atiende el bibliotecario</a:t>
            </a:r>
          </a:p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Archivos JSON:</a:t>
            </a:r>
            <a:r>
              <a:rPr sz="1500">
                <a:solidFill>
                  <a:srgbClr val="14293D"/>
                </a:solidFill>
                <a:latin typeface="Calibri"/>
              </a:rPr>
              <a:t> almacenamiento persistente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Diagrama de clases del dominio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El modelo (Biblioteca.Core) replica este diagrama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clases-domin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20" y="1371600"/>
            <a:ext cx="6831000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03920" y="1645920"/>
            <a:ext cx="3154680" cy="4389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737360"/>
            <a:ext cx="28803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POO aplicada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Encapsulamiento: set privado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Herencia: Persona → Lector / Bibliotecario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Polimorfismo: límite y plazo por tipo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Interfaces: IRepositorio, IReloj, ICalculadoraMulta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Diagrama de secuencia: registrar un préstamo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Del formulario al controlador, los servicios y los archivos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secuencia-presta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5618"/>
            <a:ext cx="11064240" cy="47811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Diagramas de actividad y estados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Reglas de préstamo y devolución con multa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diagrama-actividad-presta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05" y="1371600"/>
            <a:ext cx="4135228" cy="4983480"/>
          </a:xfrm>
          <a:prstGeom prst="rect">
            <a:avLst/>
          </a:prstGeom>
        </p:spPr>
      </p:pic>
      <p:pic>
        <p:nvPicPr>
          <p:cNvPr id="8" name="Picture 7" descr="diagrama-actividad-devolu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534" y="1371600"/>
            <a:ext cx="3801490" cy="3840480"/>
          </a:xfrm>
          <a:prstGeom prst="rect">
            <a:avLst/>
          </a:prstGeom>
        </p:spPr>
      </p:pic>
      <p:pic>
        <p:nvPicPr>
          <p:cNvPr id="9" name="Picture 8" descr="estados-presta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1851402"/>
            <a:ext cx="2834640" cy="8691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06840" y="28803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Calibri"/>
              </a:rPr>
              <a:t>Estados del préstamo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4747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93D"/>
                </a:solidFill>
                <a:latin typeface="Calibri"/>
              </a:rPr>
              <a:t>• Atrasado: fecha actual posterior al vencimiento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93D"/>
                </a:solidFill>
                <a:latin typeface="Calibri"/>
              </a:rPr>
              <a:t>• Multa = mín(días × Q2.00, Q100.00)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Arquitectura de la solución: MVC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Controladores y vistas en la web; dominio y JSON en Biblioteca.Core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909914"/>
            <a:ext cx="6766560" cy="395257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645920"/>
            <a:ext cx="4251960" cy="4389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737360"/>
            <a:ext cx="39776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Patrón MVC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94560"/>
            <a:ext cx="3977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Modelo:</a:t>
            </a:r>
            <a:r>
              <a:rPr sz="1500">
                <a:solidFill>
                  <a:srgbClr val="14293D"/>
                </a:solidFill>
                <a:latin typeface="Calibri"/>
              </a:rPr>
              <a:t> Biblioteca.Core (entidades, servicios, JSON)</a:t>
            </a:r>
          </a:p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Vista:</a:t>
            </a:r>
            <a:r>
              <a:rPr sz="1500">
                <a:solidFill>
                  <a:srgbClr val="14293D"/>
                </a:solidFill>
                <a:latin typeface="Calibri"/>
              </a:rPr>
              <a:t> Razor + Tailwind CSS, con ViewModels</a:t>
            </a:r>
          </a:p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Controlador:</a:t>
            </a:r>
            <a:r>
              <a:rPr sz="1500">
                <a:solidFill>
                  <a:srgbClr val="14293D"/>
                </a:solidFill>
                <a:latin typeface="Calibri"/>
              </a:rPr>
              <a:t> un controlador por módulo</a:t>
            </a:r>
          </a:p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Program.cs:</a:t>
            </a:r>
            <a:r>
              <a:rPr sz="1500">
                <a:solidFill>
                  <a:srgbClr val="14293D"/>
                </a:solidFill>
                <a:latin typeface="Calibri"/>
              </a:rPr>
              <a:t> registra SistemaBiblioteca y las rutas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Funcionamiento de la interfaz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Menú lateral, botones de navegación y accesos rápidos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pantalla-ini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050"/>
            <a:ext cx="7498079" cy="4686300"/>
          </a:xfrm>
          <a:prstGeom prst="rect">
            <a:avLst/>
          </a:prstGeom>
          <a:ln w="9525">
            <a:solidFill>
              <a:srgbClr val="D5DDE7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229600" y="1645920"/>
            <a:ext cx="3429000" cy="4389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737360"/>
            <a:ext cx="3154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Incluye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94560"/>
            <a:ext cx="3154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Menú principal y botones de navegación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Formularios de registro y edición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Consulta con búsqueda y filtros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Eliminación con confirmación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Mensajes de éxito y de 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Registro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Formularios con validación de datos en el servidor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form-libro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74544"/>
            <a:ext cx="3749039" cy="2343150"/>
          </a:xfrm>
          <a:prstGeom prst="rect">
            <a:avLst/>
          </a:prstGeom>
          <a:ln w="9525">
            <a:solidFill>
              <a:srgbClr val="D5DDE7"/>
            </a:solidFill>
          </a:ln>
        </p:spPr>
      </p:pic>
      <p:pic>
        <p:nvPicPr>
          <p:cNvPr id="8" name="Picture 7" descr="form-usuario-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074544"/>
            <a:ext cx="3749039" cy="2343150"/>
          </a:xfrm>
          <a:prstGeom prst="rect">
            <a:avLst/>
          </a:prstGeom>
          <a:ln w="9525">
            <a:solidFill>
              <a:srgbClr val="D5DDE7"/>
            </a:solidFill>
          </a:ln>
        </p:spPr>
      </p:pic>
      <p:pic>
        <p:nvPicPr>
          <p:cNvPr id="9" name="Picture 8" descr="form-prestamo-err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074544"/>
            <a:ext cx="3749039" cy="2343150"/>
          </a:xfrm>
          <a:prstGeom prst="rect">
            <a:avLst/>
          </a:prstGeom>
          <a:ln w="9525">
            <a:solidFill>
              <a:srgbClr val="D5DDE7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El error aparece dentro del formulario; las reglas de negocio se validan en la capa de lógica, no en la vista.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Formato de ISBN, DPI, correo y teléfono · unicidad · límites y bloqueos del préstamo · token antiforgery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Consulta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Búsqueda, filtros y reportes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pantalla-lib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5980"/>
            <a:ext cx="5486400" cy="3429000"/>
          </a:xfrm>
          <a:prstGeom prst="rect">
            <a:avLst/>
          </a:prstGeom>
          <a:ln w="9525">
            <a:solidFill>
              <a:srgbClr val="D5DDE7"/>
            </a:solidFill>
          </a:ln>
        </p:spPr>
      </p:pic>
      <p:pic>
        <p:nvPicPr>
          <p:cNvPr id="8" name="Picture 7" descr="pantalla-reporte-atrasad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125980"/>
            <a:ext cx="5486400" cy="3429000"/>
          </a:xfrm>
          <a:prstGeom prst="rect">
            <a:avLst/>
          </a:prstGeom>
          <a:ln w="9525">
            <a:solidFill>
              <a:srgbClr val="D5DDE7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Almacenamiento en archivos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Cuatro archivos en la carpeta Data, escritura atómica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669280" cy="4389120"/>
          </a:xfrm>
          <a:prstGeom prst="roundRect">
            <a:avLst>
              <a:gd name="adj" fmla="val 3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3035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{</a:t>
            </a:r>
          </a:p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  "tipo": "lector",</a:t>
            </a:r>
          </a:p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  "carnet": "2026-0101",</a:t>
            </a:r>
          </a:p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  "nombre": "María Fernanda López",</a:t>
            </a:r>
          </a:p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  "documento": "2456789010101",</a:t>
            </a:r>
          </a:p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  "correo": "maria.lopez@ejemplo.com",</a:t>
            </a:r>
          </a:p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  "telefono": "55123401",</a:t>
            </a:r>
          </a:p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  "fechaRegistro": "2026-08-03T00:00:00",</a:t>
            </a:r>
          </a:p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  "activo": true,</a:t>
            </a:r>
          </a:p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  "id": 1</a:t>
            </a:r>
          </a:p>
          <a:p>
            <a:pPr algn="l"/>
            <a:r>
              <a:rPr sz="1500" b="0">
                <a:solidFill>
                  <a:srgbClr val="D6E6F5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5166360" cy="4389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37360"/>
            <a:ext cx="48920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Archivos y estrategia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9456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libros.json · usuarios.json:</a:t>
            </a:r>
            <a:r>
              <a:rPr sz="1500">
                <a:solidFill>
                  <a:srgbClr val="14293D"/>
                </a:solidFill>
                <a:latin typeface="Calibri"/>
              </a:rPr>
              <a:t> catálogo y personas</a:t>
            </a:r>
          </a:p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prestamos.json · multas.json:</a:t>
            </a:r>
            <a:r>
              <a:rPr sz="1500">
                <a:solidFill>
                  <a:srgbClr val="14293D"/>
                </a:solidFill>
                <a:latin typeface="Calibri"/>
              </a:rPr>
              <a:t> historial</a:t>
            </a:r>
          </a:p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Guardado:</a:t>
            </a:r>
            <a:r>
              <a:rPr sz="1500">
                <a:solidFill>
                  <a:srgbClr val="14293D"/>
                </a:solidFill>
                <a:latin typeface="Calibri"/>
              </a:rPr>
              <a:t> archivo .tmp y luego reemplazo</a:t>
            </a:r>
          </a:p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Identificadores:</a:t>
            </a:r>
            <a:r>
              <a:rPr sz="1500">
                <a:solidFill>
                  <a:srgbClr val="14293D"/>
                </a:solidFill>
                <a:latin typeface="Calibri"/>
              </a:rPr>
              <a:t> máximo + 1</a:t>
            </a:r>
          </a:p>
          <a:p>
            <a:pPr>
              <a:spcAft>
                <a:spcPts val="300"/>
              </a:spcAft>
            </a:pPr>
            <a:r>
              <a:rPr b="1" sz="1500">
                <a:solidFill>
                  <a:srgbClr val="14293D"/>
                </a:solidFill>
                <a:latin typeface="Calibri"/>
              </a:rPr>
              <a:t>• Errores:</a:t>
            </a:r>
            <a:r>
              <a:rPr sz="1500">
                <a:solidFill>
                  <a:srgbClr val="14293D"/>
                </a:solidFill>
                <a:latin typeface="Calibri"/>
              </a:rPr>
              <a:t> AlmacenamientoException con el nombre del archivo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Los datos permanecen al detener y volver a iniciar la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640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14293D"/>
                </a:solidFill>
                <a:latin typeface="Calibri"/>
              </a:rPr>
              <a:t>Se inicia la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26517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F6B7A"/>
                </a:solidFill>
                <a:latin typeface="Calibri"/>
              </a:rPr>
              <a:t>Cada RepositorioJson lee su archivo y lo carga en memoria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173736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10512"/>
            <a:ext cx="640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514600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14293D"/>
                </a:solidFill>
                <a:latin typeface="Calibri"/>
              </a:rPr>
              <a:t>Se opera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17520"/>
            <a:ext cx="26517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F6B7A"/>
                </a:solidFill>
                <a:latin typeface="Calibri"/>
              </a:rPr>
              <a:t>Cada cambio reescribe el archivo de forma atómica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173736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10512"/>
            <a:ext cx="640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14600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14293D"/>
                </a:solidFill>
                <a:latin typeface="Calibri"/>
              </a:rPr>
              <a:t>Se detiene la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26517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F6B7A"/>
                </a:solidFill>
                <a:latin typeface="Calibri"/>
              </a:rPr>
              <a:t>No hay guardado manual: todo ya está en Data/</a:t>
            </a:r>
          </a:p>
        </p:txBody>
      </p:sp>
      <p:sp>
        <p:nvSpPr>
          <p:cNvPr id="19" name="Oval 18"/>
          <p:cNvSpPr/>
          <p:nvPr/>
        </p:nvSpPr>
        <p:spPr>
          <a:xfrm>
            <a:off x="9052560" y="173736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810512"/>
            <a:ext cx="640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514600"/>
            <a:ext cx="2651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14293D"/>
                </a:solidFill>
                <a:latin typeface="Calibri"/>
              </a:rPr>
              <a:t>Se vuelve a iniciar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017520"/>
            <a:ext cx="26517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5F6B7A"/>
                </a:solidFill>
                <a:latin typeface="Calibri"/>
              </a:rPr>
              <a:t>Los datos, incluido el tipo de cada usuario, se recuperan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8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5212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Archivo dañado o vacío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Dañado: la app no inicia y muestra el archivo con el problema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Vacío o inexistente: arranca con una colección vacía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2628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617720"/>
            <a:ext cx="5212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Verificado con pruebas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07492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Los datos sobreviven a reabrir el sistema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4293D"/>
                </a:solidFill>
                <a:latin typeface="Calibri"/>
              </a:rPr>
              <a:t>• Se conserva Lector o Bibliotecario al recuperar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Pruebas y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94 pruebas automatizadas y datos de prueba completos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15</a:t>
            </a:r>
          </a:p>
        </p:txBody>
      </p:sp>
      <p:sp>
        <p:nvSpPr>
          <p:cNvPr id="7" name="Pentagon 6"/>
          <p:cNvSpPr/>
          <p:nvPr/>
        </p:nvSpPr>
        <p:spPr>
          <a:xfrm>
            <a:off x="502920" y="1691640"/>
            <a:ext cx="1298448" cy="822960"/>
          </a:xfrm>
          <a:prstGeom prst="homePlat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Problema</a:t>
            </a:r>
          </a:p>
        </p:txBody>
      </p:sp>
      <p:sp>
        <p:nvSpPr>
          <p:cNvPr id="8" name="Chevron 7"/>
          <p:cNvSpPr/>
          <p:nvPr/>
        </p:nvSpPr>
        <p:spPr>
          <a:xfrm>
            <a:off x="1901952" y="1691640"/>
            <a:ext cx="1298448" cy="82296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Requisitos</a:t>
            </a:r>
          </a:p>
        </p:txBody>
      </p:sp>
      <p:sp>
        <p:nvSpPr>
          <p:cNvPr id="9" name="Chevron 8"/>
          <p:cNvSpPr/>
          <p:nvPr/>
        </p:nvSpPr>
        <p:spPr>
          <a:xfrm>
            <a:off x="3300984" y="1691640"/>
            <a:ext cx="1298448" cy="82296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UML</a:t>
            </a:r>
          </a:p>
        </p:txBody>
      </p:sp>
      <p:sp>
        <p:nvSpPr>
          <p:cNvPr id="10" name="Chevron 9"/>
          <p:cNvSpPr/>
          <p:nvPr/>
        </p:nvSpPr>
        <p:spPr>
          <a:xfrm>
            <a:off x="4700016" y="1691640"/>
            <a:ext cx="1298448" cy="82296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Clases</a:t>
            </a:r>
          </a:p>
        </p:txBody>
      </p:sp>
      <p:sp>
        <p:nvSpPr>
          <p:cNvPr id="11" name="Chevron 10"/>
          <p:cNvSpPr/>
          <p:nvPr/>
        </p:nvSpPr>
        <p:spPr>
          <a:xfrm>
            <a:off x="6099048" y="1691640"/>
            <a:ext cx="1298448" cy="82296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Código C#</a:t>
            </a:r>
          </a:p>
        </p:txBody>
      </p:sp>
      <p:sp>
        <p:nvSpPr>
          <p:cNvPr id="12" name="Chevron 11"/>
          <p:cNvSpPr/>
          <p:nvPr/>
        </p:nvSpPr>
        <p:spPr>
          <a:xfrm>
            <a:off x="7498080" y="1691640"/>
            <a:ext cx="1298448" cy="82296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Interfaz</a:t>
            </a:r>
          </a:p>
        </p:txBody>
      </p:sp>
      <p:sp>
        <p:nvSpPr>
          <p:cNvPr id="13" name="Chevron 12"/>
          <p:cNvSpPr/>
          <p:nvPr/>
        </p:nvSpPr>
        <p:spPr>
          <a:xfrm>
            <a:off x="8897112" y="1691640"/>
            <a:ext cx="1298448" cy="82296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Archivos</a:t>
            </a:r>
          </a:p>
        </p:txBody>
      </p:sp>
      <p:sp>
        <p:nvSpPr>
          <p:cNvPr id="14" name="Chevron 13"/>
          <p:cNvSpPr/>
          <p:nvPr/>
        </p:nvSpPr>
        <p:spPr>
          <a:xfrm>
            <a:off x="10296144" y="1691640"/>
            <a:ext cx="1298448" cy="82296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80360"/>
            <a:ext cx="5486400" cy="3246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5212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Pruebas (xUnit)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52120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70 de dominio, servicios y persistencia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24 de integración de la aplicación web MVC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Reglas, bloqueos, flujo completo, archivo dañado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Envíos sin token antiforgery rechazados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80360"/>
            <a:ext cx="5486400" cy="3246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971800"/>
            <a:ext cx="5212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Datos de prueba (Data/)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29000"/>
            <a:ext cx="52120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16 libros y 8 usuarios (6 lectores, 2 bibliotecarios)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12 préstamos: activos, atrasados y devueltos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Multas: una pagada y una pendiente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Generados con la propia lógica del sistema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Principales dificultades y soluciones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1099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32120"/>
              </a:tblGrid>
              <a:tr h="69233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Dificultad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Solución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Las propiedades calculadas de los usuarios se guardaban en el JSON (JsonIgnore no se hereda en un override)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JsonIgnore en cada override y una prueba que verifica que no se guardan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Guardar una jerarquía polimórfica (Persona) con setters privados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JsonPolymorphic, JsonDerivedType, JsonInclude y constructor privado para el deserializador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Datos de prueba consistentes (ejemplares frente a préstamos)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Generados con la propia lógica y un reloj simulado, más una prueba de consistencia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El script de un formulario no se ejecutaba: las secciones Razor no funcionan dentro de vistas parciales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Se movió la sección a la vista Crear; lo detectaron las pruebas en Chrome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Montos con coma o con punto según la cultura del servidor (Q14,00 y Q14.00)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Cultura es-GT fija en Program.cs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Dos peticiones a la vez podían escribir los mismos JSON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93D"/>
                          </a:solidFill>
                          <a:latin typeface="Calibri"/>
                        </a:rPr>
                        <a:t>Middleware que atiende una petición a la vez, y escritura atómica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Uso de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Calibri"/>
              </a:rPr>
              <a:t>Historial construido por capas con Conventional 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7223760" cy="4389120"/>
          </a:xfrm>
          <a:prstGeom prst="roundRect">
            <a:avLst>
              <a:gd name="adj" fmla="val 3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8580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D6E6F5"/>
                </a:solidFill>
                <a:latin typeface="Consolas"/>
              </a:rPr>
              <a:t>chore: crea la estructura base de la solución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6E6F5"/>
                </a:solidFill>
                <a:latin typeface="Consolas"/>
              </a:rPr>
              <a:t>feat: agrega modelos de libros y usuarios con sus validaciones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6E6F5"/>
                </a:solidFill>
                <a:latin typeface="Consolas"/>
              </a:rPr>
              <a:t>feat: agrega la persistencia en archivos JSON con escritura atómica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6E6F5"/>
                </a:solidFill>
                <a:latin typeface="Consolas"/>
              </a:rPr>
              <a:t>feat: agrega los servicios de préstamos, devoluciones y multas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6E6F5"/>
                </a:solidFill>
                <a:latin typeface="Consolas"/>
              </a:rPr>
              <a:t>chore: reemplaza la aplicación de escritorio por la plantilla ASP.NET Core MVC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6E6F5"/>
                </a:solidFill>
                <a:latin typeface="Consolas"/>
              </a:rPr>
              <a:t>feat: agrega los controladores de inicio, libros y usuarios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6E6F5"/>
                </a:solidFill>
                <a:latin typeface="Consolas"/>
              </a:rPr>
              <a:t>feat: agrega las vistas Razor de libros y usuarios con formularios y validación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D6E6F5"/>
                </a:solidFill>
                <a:latin typeface="Consolas"/>
              </a:rPr>
              <a:t>test: agrega pruebas de integración de la aplicación web MVC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45920"/>
            <a:ext cx="3703320" cy="4389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73736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Convenciones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94560"/>
            <a:ext cx="3429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Un commit por cambio lógico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Tipos: feat, fix, docs, chore, test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Descripción en español, en imperativo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Repositorio en la organización del curso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4293D"/>
                </a:solidFill>
                <a:latin typeface="Calibri"/>
              </a:rPr>
              <a:t>Conclusiones y demostración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Calibri"/>
              </a:rPr>
              <a:t>Sistema de biblioteca · Programación II · Universidad San Pablo de Guatemala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5F6B7A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212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Conclusiones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4293D"/>
                </a:solidFill>
                <a:latin typeface="Calibri"/>
              </a:rPr>
              <a:t>• Un problema real se convirtió en requisitos, UML, clases, código, interfaz, archivos y pruebas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93D"/>
                </a:solidFill>
                <a:latin typeface="Calibri"/>
              </a:rPr>
              <a:t>• La aplicación sigue el patrón MVC de ASP.NET Core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93D"/>
                </a:solidFill>
                <a:latin typeface="Calibri"/>
              </a:rPr>
              <a:t>• Las reglas de negocio viven en la lógica y están probadas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4293D"/>
                </a:solidFill>
                <a:latin typeface="Calibri"/>
              </a:rPr>
              <a:t>• Los datos persisten en JSON y se recuperan al reiniciar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754880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>
            <a:solidFill>
              <a:srgbClr val="C9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Guion de la demostración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1. dotnet run y abrir el navegador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2. Recorrer el menú; registrar un libro (primero con error)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3. Prestar un libro y renovar el préstamo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4. Devolver un libro atrasado: se genera la multa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5. Pagar la multa y volver a prestar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6. Ver y exportar un reporte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4293D"/>
                </a:solidFill>
                <a:latin typeface="Calibri"/>
              </a:rPr>
              <a:t>• 7. Detener, volver a iniciar y comprobar los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