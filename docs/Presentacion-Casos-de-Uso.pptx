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4ad3612d-7d46-b7ac-afeb-04df38d36892}">
          <p14:sldIdLst>
            <p14:sldId id="256"/>
            <p14:sldId id="257"/>
            <p14:sldId id="258"/>
          </p14:sldIdLst>
        </p14:section>
        <p14:section name="Diagrama" id="{426905b6-c9ca-9bd5-96c5-e9661379b442}">
          <p14:sldIdLst>
            <p14:sldId id="259"/>
            <p14:sldId id="260"/>
            <p14:sldId id="261"/>
            <p14:sldId id="262"/>
          </p14:sldIdLst>
        </p14:section>
        <p14:section name="Detalle" id="{98b38986-0a2b-bd9d-5936-da8ed4feef54}">
          <p14:sldIdLst>
            <p14:sldId id="263"/>
            <p14:sldId id="264"/>
            <p14:sldId id="265"/>
          </p14:sldIdLst>
        </p14:section>
        <p14:section name="Cierre" id="{0ad409cd-8c25-8b30-6bb5-087cf1d4253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tardes. Hoy presentamos el diagrama de casos de uso del Sistema de Biblioteca: quién usa el sistema, qué puede hacer y cómo se relacionan sus funciones.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la falta de un registro único. La solución cubre cinco módulos: libros, usuarios, préstamos, devoluciones y multas, y reportes. Del análisis salieron 18 casos de uso y 3 actores.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ver el diagrama, repasamos los cuatro elementos que usa: actores, casos de uso, la frontera del sistema y las relaciones include y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bibliotecario es el actor principal porque es quien usa la interfaz. El lector es secundario: se beneficia del servicio pero no opera el sistema. El sistema aparece como actor en la multa automática y la validación del préstamo.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diagrama completo. A la izquierda los actores, dentro del rectángulo los 18 casos de uso agrupados por módulo, y las dos relaciones: include y extend, que veremos con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módulo corresponde a un controlador de la aplicación: Libros, Usuarios, Préstamos, Devoluciones, Multas y Reportes, apoyados en servicios de la capa de lógica. Préstamos concentra más casos porque incluye renovar, vencimientos y la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significa que el caso base siempre usa al incluido: registrar un préstamo siempre valida las condiciones. Extend significa que un caso extiende a otro solo cuando se cumple una condición: la multa solo se genera si la devolución tiene atraso.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caso de uso central. El flujo principal tiene cinco pasos; si alguna condición falla, el sistema muestra el motivo y no registra nada. Cuando termina bien, el libro tiene un ejemplar menos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devolución libera el ejemplar. Si había atraso, el caso de uso 14 calcula la multa: dos quetzales por día con tope de cien. Mientras la multa esté pendiente, el lector no puede pedir nuevos préstamos; se levanta con el caso de uso 15, registrar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cambian según el tipo de usuario, gracias al polimorfismo de la clase Persona: lector 3 préstamos y 7 días; bibliotecario 5 préstamos y 14 días. Además, 2 renovaciones, multa por día con tope, y bloqueo por multas o atrasos.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Cerramos: el diagrama no es solo un dibujo, es la base de la trazabilidad con requisitos, código y pruebas.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4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PROGRAMACIÓN II  ·  2DO SEMESTRE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57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Biblioteca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UML de casos de uso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Análisis de actores, funcionalidades y relaciones de la aplicación web ASP.NET Core MVC con persistencia en archivos JSON.</a:t>
            </a:r>
            <a:endParaRPr lang="en-US" sz="1600" dirty="0"/>
          </a:p>
        </p:txBody>
      </p:sp>
      <p:sp>
        <p:nvSpPr>
          <p:cNvPr id="6" name="Ícono módulo 1 círculo"/>
          <p:cNvSpPr/>
          <p:nvPr/>
        </p:nvSpPr>
        <p:spPr>
          <a:xfrm>
            <a:off x="7863840" y="2011680"/>
            <a:ext cx="1051560" cy="10515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7" name="Ícono módulo 1" descr="Ícono módul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8277" y="2306117"/>
            <a:ext cx="462686" cy="462686"/>
          </a:xfrm>
          <a:prstGeom prst="rect">
            <a:avLst/>
          </a:prstGeom>
        </p:spPr>
      </p:pic>
      <p:sp>
        <p:nvSpPr>
          <p:cNvPr id="8" name="Ícono módulo 2 círculo"/>
          <p:cNvSpPr/>
          <p:nvPr/>
        </p:nvSpPr>
        <p:spPr>
          <a:xfrm>
            <a:off x="9189720" y="2011680"/>
            <a:ext cx="1051560" cy="10515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9" name="Ícono módulo 2" descr="Ícono módul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157" y="2306117"/>
            <a:ext cx="462686" cy="462686"/>
          </a:xfrm>
          <a:prstGeom prst="rect">
            <a:avLst/>
          </a:prstGeom>
        </p:spPr>
      </p:pic>
      <p:sp>
        <p:nvSpPr>
          <p:cNvPr id="10" name="Ícono módulo 3 círculo"/>
          <p:cNvSpPr/>
          <p:nvPr/>
        </p:nvSpPr>
        <p:spPr>
          <a:xfrm>
            <a:off x="10515600" y="2011680"/>
            <a:ext cx="1051560" cy="105156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1" name="Ícono módulo 3" descr="Ícono módul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037" y="2306117"/>
            <a:ext cx="462686" cy="462686"/>
          </a:xfrm>
          <a:prstGeom prst="rect">
            <a:avLst/>
          </a:prstGeom>
        </p:spPr>
      </p:pic>
      <p:sp>
        <p:nvSpPr>
          <p:cNvPr id="12" name="Ícono módulo 4 círculo"/>
          <p:cNvSpPr/>
          <p:nvPr/>
        </p:nvSpPr>
        <p:spPr>
          <a:xfrm>
            <a:off x="7863840" y="3474720"/>
            <a:ext cx="1051560" cy="10515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13" name="Ícono módulo 4" descr="Ícono módul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7" y="3769157"/>
            <a:ext cx="462686" cy="462686"/>
          </a:xfrm>
          <a:prstGeom prst="rect">
            <a:avLst/>
          </a:prstGeom>
        </p:spPr>
      </p:pic>
      <p:sp>
        <p:nvSpPr>
          <p:cNvPr id="14" name="Ícono módulo 5 círculo"/>
          <p:cNvSpPr/>
          <p:nvPr/>
        </p:nvSpPr>
        <p:spPr>
          <a:xfrm>
            <a:off x="9189720" y="3474720"/>
            <a:ext cx="1051560" cy="1051560"/>
          </a:xfrm>
          <a:prstGeom prst="ellipse">
            <a:avLst/>
          </a:prstGeom>
          <a:solidFill>
            <a:srgbClr val="B5483A"/>
          </a:solidFill>
          <a:ln w="12700">
            <a:solidFill>
              <a:srgbClr val="B5483A"/>
            </a:solidFill>
            <a:prstDash val="solid"/>
          </a:ln>
        </p:spPr>
      </p:sp>
      <p:pic>
        <p:nvPicPr>
          <p:cNvPr id="15" name="Ícono módulo 5" descr="Ícono módul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157" y="3769157"/>
            <a:ext cx="462686" cy="462686"/>
          </a:xfrm>
          <a:prstGeom prst="rect">
            <a:avLst/>
          </a:prstGeom>
        </p:spPr>
      </p:pic>
      <p:sp>
        <p:nvSpPr>
          <p:cNvPr id="16" name="Ícono módulo 6 círculo"/>
          <p:cNvSpPr/>
          <p:nvPr/>
        </p:nvSpPr>
        <p:spPr>
          <a:xfrm>
            <a:off x="10515600" y="3474720"/>
            <a:ext cx="1051560" cy="1051560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pic>
        <p:nvPicPr>
          <p:cNvPr id="17" name="Ícono módulo 6" descr="Ícono módulo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037" y="3769157"/>
            <a:ext cx="462686" cy="462686"/>
          </a:xfrm>
          <a:prstGeom prst="rect">
            <a:avLst/>
          </a:prstGeom>
        </p:spPr>
      </p:pic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 los cuadernos a un registro único</a:t>
            </a:r>
            <a:endParaRPr lang="en-US" sz="3400" dirty="0"/>
          </a:p>
        </p:txBody>
      </p:sp>
      <p:sp>
        <p:nvSpPr>
          <p:cNvPr id="3" name="Tarjeta problema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Libros, lectores y préstamos viven en cuadernos o fichas. Los vencimientos y las multas se calculan a mano, y se presta sin control.</a:t>
            </a:r>
            <a:endParaRPr lang="en-US" sz="1600" dirty="0"/>
          </a:p>
        </p:txBody>
      </p:sp>
      <p:sp>
        <p:nvSpPr>
          <p:cNvPr id="6" name="Tarjeta solución"/>
          <p:cNvSpPr/>
          <p:nvPr/>
        </p:nvSpPr>
        <p:spPr>
          <a:xfrm>
            <a:off x="6199632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73952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aplicación web que aplica las reglas del servicio de forma automática y guarda todo en archivos JSON.</a:t>
            </a:r>
            <a:endParaRPr lang="en-US" sz="1600" dirty="0"/>
          </a:p>
        </p:txBody>
      </p:sp>
      <p:sp>
        <p:nvSpPr>
          <p:cNvPr id="9" name="Cifra módulos"/>
          <p:cNvSpPr/>
          <p:nvPr/>
        </p:nvSpPr>
        <p:spPr>
          <a:xfrm>
            <a:off x="548640" y="388620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4023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módulos</a:t>
            </a:r>
            <a:endParaRPr lang="en-US" sz="2000" dirty="0"/>
          </a:p>
        </p:txBody>
      </p:sp>
      <p:sp>
        <p:nvSpPr>
          <p:cNvPr id="12" name="Cifra casos de uso"/>
          <p:cNvSpPr/>
          <p:nvPr/>
        </p:nvSpPr>
        <p:spPr>
          <a:xfrm>
            <a:off x="4297680" y="388620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4023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4023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casos de uso</a:t>
            </a:r>
            <a:endParaRPr lang="en-US" sz="2000" dirty="0"/>
          </a:p>
        </p:txBody>
      </p:sp>
      <p:sp>
        <p:nvSpPr>
          <p:cNvPr id="15" name="Cifra actores"/>
          <p:cNvSpPr/>
          <p:nvPr/>
        </p:nvSpPr>
        <p:spPr>
          <a:xfrm>
            <a:off x="8046720" y="3886200"/>
            <a:ext cx="3593592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1040" y="4023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9829800" y="4023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actores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Cómo se lee un diagrama de casos de uso</a:t>
            </a:r>
            <a:endParaRPr lang="en-US" sz="3400" dirty="0"/>
          </a:p>
        </p:txBody>
      </p:sp>
      <p:sp>
        <p:nvSpPr>
          <p:cNvPr id="3" name="Tarjeta Actor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Ícono Actor círculo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Ícono Actor" descr="Ícono A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01350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31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Quien interactúa con el sistema desde afuera: una persona u otro sistema.</a:t>
            </a:r>
            <a:endParaRPr lang="en-US" sz="1500" dirty="0"/>
          </a:p>
        </p:txBody>
      </p:sp>
      <p:sp>
        <p:nvSpPr>
          <p:cNvPr id="8" name="Tarjeta Caso de uso"/>
          <p:cNvSpPr/>
          <p:nvPr/>
        </p:nvSpPr>
        <p:spPr>
          <a:xfrm>
            <a:off x="6199632" y="1417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9" name="Ícono Caso de uso círculo"/>
          <p:cNvSpPr/>
          <p:nvPr/>
        </p:nvSpPr>
        <p:spPr>
          <a:xfrm>
            <a:off x="6519672" y="17830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Ícono Caso de uso" descr="Ícono Caso de u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01350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71232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uso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71232" y="2331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Una funcionalidad completa que entrega valor al actor, como «Registrar préstamo».</a:t>
            </a:r>
            <a:endParaRPr lang="en-US" sz="1500" dirty="0"/>
          </a:p>
        </p:txBody>
      </p:sp>
      <p:sp>
        <p:nvSpPr>
          <p:cNvPr id="13" name="Tarjeta Frontera del sistema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4" name="Ícono Frontera del sistema círculo"/>
          <p:cNvSpPr/>
          <p:nvPr/>
        </p:nvSpPr>
        <p:spPr>
          <a:xfrm>
            <a:off x="868680" y="4251960"/>
            <a:ext cx="822960" cy="82296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5" name="Ícono Frontera del sistema" descr="Ícono Frontera del siste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4482389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Frontera del sistema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800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El rectángulo que separa lo que el sistema hace de lo que queda fuera.</a:t>
            </a:r>
            <a:endParaRPr lang="en-US" sz="1500" dirty="0"/>
          </a:p>
        </p:txBody>
      </p:sp>
      <p:sp>
        <p:nvSpPr>
          <p:cNvPr id="18" name="Tarjeta «include» y «extend»"/>
          <p:cNvSpPr/>
          <p:nvPr/>
        </p:nvSpPr>
        <p:spPr>
          <a:xfrm>
            <a:off x="6199632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9" name="Ícono «include» y «extend» círculo"/>
          <p:cNvSpPr/>
          <p:nvPr/>
        </p:nvSpPr>
        <p:spPr>
          <a:xfrm>
            <a:off x="6519672" y="4251960"/>
            <a:ext cx="822960" cy="8229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20" name="Ícono «include» y «extend»" descr="Ícono «include» y «extend»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482389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71232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«include» y «extend»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71232" y="4800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include: un caso de uso siempre usa a otro. extend: lo amplía solo bajo una condición.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Los tres actores del sistema</a:t>
            </a:r>
            <a:endParaRPr lang="en-US" sz="3400" dirty="0"/>
          </a:p>
        </p:txBody>
      </p:sp>
      <p:sp>
        <p:nvSpPr>
          <p:cNvPr id="3" name="Tarjeta Bibliotecario"/>
          <p:cNvSpPr/>
          <p:nvPr/>
        </p:nvSpPr>
        <p:spPr>
          <a:xfrm>
            <a:off x="548640" y="1417320"/>
            <a:ext cx="3593592" cy="457200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Ícono Bibliotecario círculo"/>
          <p:cNvSpPr/>
          <p:nvPr/>
        </p:nvSpPr>
        <p:spPr>
          <a:xfrm>
            <a:off x="868680" y="1737360"/>
            <a:ext cx="1097280" cy="10972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Ícono Bibliotecario" descr="Ícono Biblioteca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04459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Bibliotecario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</a:rPr>
              <a:t>ACTOR PRINCIPAL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Opera el sistema: registra libros y usuarios, presta, renueva, recibe devoluciones, cobra multas y consulta reportes.</a:t>
            </a:r>
            <a:endParaRPr lang="en-US" sz="1500" dirty="0"/>
          </a:p>
        </p:txBody>
      </p:sp>
      <p:sp>
        <p:nvSpPr>
          <p:cNvPr id="9" name="Tarjeta Lector"/>
          <p:cNvSpPr/>
          <p:nvPr/>
        </p:nvSpPr>
        <p:spPr>
          <a:xfrm>
            <a:off x="4297680" y="1417320"/>
            <a:ext cx="3593592" cy="457200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0" name="Ícono Lector círculo"/>
          <p:cNvSpPr/>
          <p:nvPr/>
        </p:nvSpPr>
        <p:spPr>
          <a:xfrm>
            <a:off x="4617720" y="173736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Ícono Lector" descr="Ícono Lec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958" y="204459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Lector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</a:rPr>
              <a:t>ACTOR SECUNDARIO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Solicita libros, los devuelve y paga multas. Lo atiende el bibliotecario, por eso es beneficiario del servicio.</a:t>
            </a:r>
            <a:endParaRPr lang="en-US" sz="1500" dirty="0"/>
          </a:p>
        </p:txBody>
      </p:sp>
      <p:sp>
        <p:nvSpPr>
          <p:cNvPr id="15" name="Tarjeta Sistema / archivos JSON"/>
          <p:cNvSpPr/>
          <p:nvPr/>
        </p:nvSpPr>
        <p:spPr>
          <a:xfrm>
            <a:off x="8046720" y="1417320"/>
            <a:ext cx="3593592" cy="457200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6" name="Ícono Sistema / archivos JSON círculo"/>
          <p:cNvSpPr/>
          <p:nvPr/>
        </p:nvSpPr>
        <p:spPr>
          <a:xfrm>
            <a:off x="8366760" y="1737360"/>
            <a:ext cx="1097280" cy="109728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7" name="Ícono Sistema / archivos JSON" descr="Ícono Sistema / archivos JS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998" y="2044598"/>
            <a:ext cx="482803" cy="482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/ archivos JSON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</a:rPr>
              <a:t>ACTOR DEL SISTEMA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Genera la multa por atraso y valida las condiciones del préstamo; guarda y recupera los datos.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Diagrama de casos de uso</a:t>
            </a:r>
            <a:endParaRPr lang="en-US" sz="3400" dirty="0"/>
          </a:p>
        </p:txBody>
      </p:sp>
      <p:sp>
        <p:nvSpPr>
          <p:cNvPr id="3" name="Marco diagrama"/>
          <p:cNvSpPr/>
          <p:nvPr/>
        </p:nvSpPr>
        <p:spPr>
          <a:xfrm>
            <a:off x="548640" y="1280160"/>
            <a:ext cx="6379797" cy="5486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pic>
        <p:nvPicPr>
          <p:cNvPr id="4" name="Diagrama de casos de uso" descr="Diagrama UML de casos de uso del sistema de biblioteca con los actores Bibliotecario y Lector y 18 casos de uso agrupados en cinco módu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105477" cy="5212080"/>
          </a:xfrm>
          <a:prstGeom prst="rect">
            <a:avLst/>
          </a:prstGeom>
        </p:spPr>
      </p:pic>
      <p:sp>
        <p:nvSpPr>
          <p:cNvPr id="5" name="Dato 2 actores"/>
          <p:cNvSpPr/>
          <p:nvPr/>
        </p:nvSpPr>
        <p:spPr>
          <a:xfrm>
            <a:off x="7248477" y="1280160"/>
            <a:ext cx="439183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477077" y="1463040"/>
            <a:ext cx="393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actores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477077" y="2011680"/>
            <a:ext cx="39346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Bibliotecario (principal) y Lector (beneficiario)</a:t>
            </a:r>
            <a:endParaRPr lang="en-US" sz="1400" dirty="0"/>
          </a:p>
        </p:txBody>
      </p:sp>
      <p:sp>
        <p:nvSpPr>
          <p:cNvPr id="8" name="Dato 18 casos de uso"/>
          <p:cNvSpPr/>
          <p:nvPr/>
        </p:nvSpPr>
        <p:spPr>
          <a:xfrm>
            <a:off x="7248477" y="3063240"/>
            <a:ext cx="439183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77077" y="3246120"/>
            <a:ext cx="393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casos de uso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477077" y="3794760"/>
            <a:ext cx="39346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Agrupados en 5 módulos de colores</a:t>
            </a:r>
            <a:endParaRPr lang="en-US" sz="1400" dirty="0"/>
          </a:p>
        </p:txBody>
      </p:sp>
      <p:sp>
        <p:nvSpPr>
          <p:cNvPr id="11" name="Dato 2 relaciones"/>
          <p:cNvSpPr/>
          <p:nvPr/>
        </p:nvSpPr>
        <p:spPr>
          <a:xfrm>
            <a:off x="7248477" y="4846320"/>
            <a:ext cx="4391835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77077" y="5029200"/>
            <a:ext cx="393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relaciones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477077" y="5577840"/>
            <a:ext cx="39346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CU-09 «include» CU-18 y CU-14 «extend» CU-12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18 casos de uso en 5 módulos</a:t>
            </a:r>
            <a:endParaRPr lang="en-US" sz="3400" dirty="0"/>
          </a:p>
        </p:txBody>
      </p:sp>
      <p:sp>
        <p:nvSpPr>
          <p:cNvPr id="3" name="Módulo Libros"/>
          <p:cNvSpPr/>
          <p:nvPr/>
        </p:nvSpPr>
        <p:spPr>
          <a:xfrm>
            <a:off x="548640" y="1371600"/>
            <a:ext cx="2084832" cy="47548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Ícono Libros círculo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Ícono Libros" descr="Ícono Lib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1805026"/>
            <a:ext cx="321869" cy="3218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46120"/>
            <a:ext cx="1719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79"/>
                </a:solidFill>
              </a:rPr>
              <a:t>CU-01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Registrar libro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79"/>
                </a:solidFill>
              </a:rPr>
              <a:t>CU-02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Editar libro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79"/>
                </a:solidFill>
              </a:rPr>
              <a:t>CU-03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Eliminar libro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79"/>
                </a:solidFill>
              </a:rPr>
              <a:t>CU-04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Buscar y clasificar</a:t>
            </a:r>
            <a:endParaRPr lang="en-US" sz="1400" dirty="0"/>
          </a:p>
        </p:txBody>
      </p:sp>
      <p:sp>
        <p:nvSpPr>
          <p:cNvPr id="8" name="Módulo Usuarios"/>
          <p:cNvSpPr/>
          <p:nvPr/>
        </p:nvSpPr>
        <p:spPr>
          <a:xfrm>
            <a:off x="2798064" y="1371600"/>
            <a:ext cx="2084832" cy="47548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9" name="Ícono Usuarios círculo"/>
          <p:cNvSpPr/>
          <p:nvPr/>
        </p:nvSpPr>
        <p:spPr>
          <a:xfrm>
            <a:off x="3026664" y="1600200"/>
            <a:ext cx="731520" cy="73152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Ícono Usuarios" descr="Ícono Usuari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490" y="1805026"/>
            <a:ext cx="321869" cy="3218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26664" y="24688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026664" y="3246120"/>
            <a:ext cx="1719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6B"/>
                </a:solidFill>
              </a:rPr>
              <a:t>CU-05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Registrar usuario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6B"/>
                </a:solidFill>
              </a:rPr>
              <a:t>CU-06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Editar o desactivar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6B"/>
                </a:solidFill>
              </a:rPr>
              <a:t>CU-07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Eliminar usuario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6B"/>
                </a:solidFill>
              </a:rPr>
              <a:t>CU-08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Consultar usuarios</a:t>
            </a:r>
            <a:endParaRPr lang="en-US" sz="1400" dirty="0"/>
          </a:p>
        </p:txBody>
      </p:sp>
      <p:sp>
        <p:nvSpPr>
          <p:cNvPr id="13" name="Módulo Préstamos"/>
          <p:cNvSpPr/>
          <p:nvPr/>
        </p:nvSpPr>
        <p:spPr>
          <a:xfrm>
            <a:off x="5047488" y="1371600"/>
            <a:ext cx="2084832" cy="47548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4" name="Ícono Préstamos círculo"/>
          <p:cNvSpPr/>
          <p:nvPr/>
        </p:nvSpPr>
        <p:spPr>
          <a:xfrm>
            <a:off x="5276088" y="1600200"/>
            <a:ext cx="731520" cy="7315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5" name="Ícono Préstamos" descr="Ícono Préstam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14" y="1805026"/>
            <a:ext cx="321869" cy="3218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24688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Préstamos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276088" y="3246120"/>
            <a:ext cx="1719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7F8C"/>
                </a:solidFill>
              </a:rPr>
              <a:t>CU-09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Registrar préstamo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7F8C"/>
                </a:solidFill>
              </a:rPr>
              <a:t>CU-10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Renovar préstamo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7F8C"/>
                </a:solidFill>
              </a:rPr>
              <a:t>CU-11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Consultar préstamos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7F8C"/>
                </a:solidFill>
              </a:rPr>
              <a:t>CU-13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Controlar vencimientos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7F8C"/>
                </a:solidFill>
              </a:rPr>
              <a:t>CU-18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Validar condiciones</a:t>
            </a:r>
            <a:endParaRPr lang="en-US" sz="1400" dirty="0"/>
          </a:p>
        </p:txBody>
      </p:sp>
      <p:sp>
        <p:nvSpPr>
          <p:cNvPr id="18" name="Módulo Devoluciones y multas"/>
          <p:cNvSpPr/>
          <p:nvPr/>
        </p:nvSpPr>
        <p:spPr>
          <a:xfrm>
            <a:off x="7296912" y="1371600"/>
            <a:ext cx="2084832" cy="47548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9" name="Ícono Devoluciones y multas círculo"/>
          <p:cNvSpPr/>
          <p:nvPr/>
        </p:nvSpPr>
        <p:spPr>
          <a:xfrm>
            <a:off x="7525512" y="160020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20" name="Ícono Devoluciones y multas" descr="Ícono Devoluciones y mult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338" y="1805026"/>
            <a:ext cx="321869" cy="3218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25512" y="24688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Devoluciones y multas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525512" y="3246120"/>
            <a:ext cx="1719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7A12"/>
                </a:solidFill>
              </a:rPr>
              <a:t>CU-12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Registrar devolución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7A12"/>
                </a:solidFill>
              </a:rPr>
              <a:t>CU-14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Generar multa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7A12"/>
                </a:solidFill>
              </a:rPr>
              <a:t>CU-15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Registrar pago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7A12"/>
                </a:solidFill>
              </a:rPr>
              <a:t>CU-16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Consultar multas</a:t>
            </a:r>
            <a:endParaRPr lang="en-US" sz="1400" dirty="0"/>
          </a:p>
        </p:txBody>
      </p:sp>
      <p:sp>
        <p:nvSpPr>
          <p:cNvPr id="23" name="Módulo Reportes"/>
          <p:cNvSpPr/>
          <p:nvPr/>
        </p:nvSpPr>
        <p:spPr>
          <a:xfrm>
            <a:off x="9546336" y="1371600"/>
            <a:ext cx="2084832" cy="475488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4" name="Ícono Reportes círculo"/>
          <p:cNvSpPr/>
          <p:nvPr/>
        </p:nvSpPr>
        <p:spPr>
          <a:xfrm>
            <a:off x="9774936" y="1600200"/>
            <a:ext cx="731520" cy="731520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pic>
        <p:nvPicPr>
          <p:cNvPr id="25" name="Ícono Reportes" descr="Ícono Report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762" y="1805026"/>
            <a:ext cx="321869" cy="32186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74936" y="24688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9774936" y="3246120"/>
            <a:ext cx="1719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F6B7A"/>
                </a:solidFill>
              </a:rPr>
              <a:t>CU-17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Generar y exportar a CSV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Relaciones «include» y «extend»</a:t>
            </a:r>
            <a:endParaRPr lang="en-US" sz="3400" dirty="0"/>
          </a:p>
        </p:txBody>
      </p:sp>
      <p:sp>
        <p:nvSpPr>
          <p:cNvPr id="3" name="Panel include"/>
          <p:cNvSpPr/>
          <p:nvPr/>
        </p:nvSpPr>
        <p:spPr>
          <a:xfrm>
            <a:off x="548640" y="1371600"/>
            <a:ext cx="1109167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CU-09 óvalo"/>
          <p:cNvSpPr/>
          <p:nvPr/>
        </p:nvSpPr>
        <p:spPr>
          <a:xfrm>
            <a:off x="822960" y="1920240"/>
            <a:ext cx="2286000" cy="109728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8C"/>
                </a:solidFill>
              </a:rPr>
              <a:t>CU-09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préstamo</a:t>
            </a:r>
            <a:endParaRPr lang="en-US" sz="1400" dirty="0"/>
          </a:p>
        </p:txBody>
      </p:sp>
      <p:sp>
        <p:nvSpPr>
          <p:cNvPr id="6" name="Flecha «include»"/>
          <p:cNvSpPr/>
          <p:nvPr/>
        </p:nvSpPr>
        <p:spPr>
          <a:xfrm>
            <a:off x="3200400" y="2468880"/>
            <a:ext cx="1554480" cy="0"/>
          </a:xfrm>
          <a:prstGeom prst="line">
            <a:avLst/>
          </a:prstGeom>
          <a:noFill/>
          <a:ln w="25400">
            <a:solidFill>
              <a:srgbClr val="1B7F8C"/>
            </a:solidFill>
            <a:prstDash val="dash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200400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F8C"/>
                </a:solidFill>
              </a:rPr>
              <a:t>«include»</a:t>
            </a:r>
            <a:endParaRPr lang="en-US" sz="1400" dirty="0"/>
          </a:p>
        </p:txBody>
      </p:sp>
      <p:sp>
        <p:nvSpPr>
          <p:cNvPr id="8" name="CU-18 óvalo"/>
          <p:cNvSpPr/>
          <p:nvPr/>
        </p:nvSpPr>
        <p:spPr>
          <a:xfrm>
            <a:off x="4846320" y="1920240"/>
            <a:ext cx="2286000" cy="109728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B7F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011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8C"/>
                </a:solidFill>
              </a:rPr>
              <a:t>CU-18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Validar condiciones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6002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Siempre se ejecuta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Todo préstamo pasa por la validación: usuario activo, sin multas ni atrasos, dentro del límite y con ejemplares.</a:t>
            </a:r>
            <a:endParaRPr lang="en-US" sz="1400" dirty="0"/>
          </a:p>
        </p:txBody>
      </p:sp>
      <p:sp>
        <p:nvSpPr>
          <p:cNvPr id="11" name="Panel extend"/>
          <p:cNvSpPr/>
          <p:nvPr/>
        </p:nvSpPr>
        <p:spPr>
          <a:xfrm>
            <a:off x="548640" y="3977640"/>
            <a:ext cx="1109167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2" name="CU-14 óvalo"/>
          <p:cNvSpPr/>
          <p:nvPr/>
        </p:nvSpPr>
        <p:spPr>
          <a:xfrm>
            <a:off x="822960" y="4526280"/>
            <a:ext cx="2286000" cy="1097280"/>
          </a:xfrm>
          <a:prstGeom prst="ellipse">
            <a:avLst/>
          </a:prstGeom>
          <a:solidFill>
            <a:schemeClr val="bg1"/>
          </a:solidFill>
          <a:ln w="254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A23B"/>
                </a:solidFill>
              </a:rPr>
              <a:t>CU-14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Generar multa</a:t>
            </a:r>
            <a:endParaRPr lang="en-US" sz="1400" dirty="0"/>
          </a:p>
        </p:txBody>
      </p:sp>
      <p:sp>
        <p:nvSpPr>
          <p:cNvPr id="14" name="Flecha «extend»"/>
          <p:cNvSpPr/>
          <p:nvPr/>
        </p:nvSpPr>
        <p:spPr>
          <a:xfrm>
            <a:off x="3200400" y="5074920"/>
            <a:ext cx="1554480" cy="0"/>
          </a:xfrm>
          <a:prstGeom prst="line">
            <a:avLst/>
          </a:prstGeom>
          <a:noFill/>
          <a:ln w="25400">
            <a:solidFill>
              <a:srgbClr val="B07A12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200400" y="4690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A12"/>
                </a:solidFill>
              </a:rPr>
              <a:t>«extend»</a:t>
            </a:r>
            <a:endParaRPr lang="en-US" sz="1400" dirty="0"/>
          </a:p>
        </p:txBody>
      </p:sp>
      <p:sp>
        <p:nvSpPr>
          <p:cNvPr id="16" name="CU-12 óvalo"/>
          <p:cNvSpPr/>
          <p:nvPr/>
        </p:nvSpPr>
        <p:spPr>
          <a:xfrm>
            <a:off x="4846320" y="4526280"/>
            <a:ext cx="2286000" cy="1097280"/>
          </a:xfrm>
          <a:prstGeom prst="ellipse">
            <a:avLst/>
          </a:prstGeom>
          <a:solidFill>
            <a:schemeClr val="bg1"/>
          </a:solidFill>
          <a:ln w="254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4617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A23B"/>
                </a:solidFill>
              </a:rPr>
              <a:t>CU-12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devolución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5212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[si hubo atraso]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2062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Solo si hay atraso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 devolución puntual no genera nada. Con atraso se calcula la multa: Q2.00 por día, tope de Q100.00.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CU-09 · Registrar préstamo</a:t>
            </a:r>
            <a:endParaRPr lang="en-US" sz="3400" dirty="0"/>
          </a:p>
        </p:txBody>
      </p:sp>
      <p:sp>
        <p:nvSpPr>
          <p:cNvPr id="3" name="Panel flujo principal"/>
          <p:cNvSpPr/>
          <p:nvPr/>
        </p:nvSpPr>
        <p:spPr>
          <a:xfrm>
            <a:off x="548640" y="1371600"/>
            <a:ext cx="658368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principal</a:t>
            </a:r>
            <a:endParaRPr lang="en-US" sz="1800" dirty="0"/>
          </a:p>
        </p:txBody>
      </p:sp>
      <p:sp>
        <p:nvSpPr>
          <p:cNvPr id="5" name="Paso 1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bibliotecario elige al usuario y el libro</a:t>
            </a:r>
            <a:endParaRPr lang="en-US" sz="1600" dirty="0"/>
          </a:p>
        </p:txBody>
      </p:sp>
      <p:sp>
        <p:nvSpPr>
          <p:cNvPr id="8" name="Paso 2"/>
          <p:cNvSpPr/>
          <p:nvPr/>
        </p:nvSpPr>
        <p:spPr>
          <a:xfrm>
            <a:off x="868680" y="2880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880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sistema muestra plazo y fecha de devolución</a:t>
            </a:r>
            <a:endParaRPr lang="en-US" sz="1600" dirty="0"/>
          </a:p>
        </p:txBody>
      </p:sp>
      <p:sp>
        <p:nvSpPr>
          <p:cNvPr id="11" name="Paso 3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657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 las condiciones (CU-18)</a:t>
            </a:r>
            <a:endParaRPr lang="en-US" sz="1600" dirty="0"/>
          </a:p>
        </p:txBody>
      </p:sp>
      <p:sp>
        <p:nvSpPr>
          <p:cNvPr id="14" name="Paso 4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Descuenta un ejemplar y guarda en JSON</a:t>
            </a:r>
            <a:endParaRPr lang="en-US" sz="1600" dirty="0"/>
          </a:p>
        </p:txBody>
      </p:sp>
      <p:sp>
        <p:nvSpPr>
          <p:cNvPr id="17" name="Paso 5"/>
          <p:cNvSpPr/>
          <p:nvPr/>
        </p:nvSpPr>
        <p:spPr>
          <a:xfrm>
            <a:off x="868680" y="5212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212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Confirma con la fecha de devolución</a:t>
            </a:r>
            <a:endParaRPr lang="en-US" sz="1600" dirty="0"/>
          </a:p>
        </p:txBody>
      </p:sp>
      <p:sp>
        <p:nvSpPr>
          <p:cNvPr id="20" name="Panel alternos"/>
          <p:cNvSpPr/>
          <p:nvPr/>
        </p:nvSpPr>
        <p:spPr>
          <a:xfrm>
            <a:off x="7406640" y="1371600"/>
            <a:ext cx="4233672" cy="4754880"/>
          </a:xfrm>
          <a:prstGeom prst="roundRect">
            <a:avLst>
              <a:gd name="adj" fmla="val 25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266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rechaza si…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21031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 usuario está inactivo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Tiene multas pendientes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Tiene libros atrasados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Alcanzó su límite de préstamos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Ya tiene ese libro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quedan ejemplares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5120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Postcondición: préstamo Activo y un ejemplar menos disponible.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CU-12 y CU-14 · Devolución con multa</a:t>
            </a:r>
            <a:endParaRPr lang="en-US" sz="3400" dirty="0"/>
          </a:p>
        </p:txBody>
      </p:sp>
      <p:sp>
        <p:nvSpPr>
          <p:cNvPr id="3" name="Etapa 1"/>
          <p:cNvSpPr/>
          <p:nvPr/>
        </p:nvSpPr>
        <p:spPr>
          <a:xfrm>
            <a:off x="54864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Número etapa 1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Abre Devoluciones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El bibliotecario localiza el préstamo</a:t>
            </a:r>
            <a:endParaRPr lang="en-US" sz="1400" dirty="0"/>
          </a:p>
        </p:txBody>
      </p:sp>
      <p:sp>
        <p:nvSpPr>
          <p:cNvPr id="8" name="Flecha etapa 1"/>
          <p:cNvSpPr/>
          <p:nvPr/>
        </p:nvSpPr>
        <p:spPr>
          <a:xfrm>
            <a:off x="3127248" y="2578608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Etapa 2"/>
          <p:cNvSpPr/>
          <p:nvPr/>
        </p:nvSpPr>
        <p:spPr>
          <a:xfrm>
            <a:off x="3392424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0" name="Número etapa 2"/>
          <p:cNvSpPr/>
          <p:nvPr/>
        </p:nvSpPr>
        <p:spPr>
          <a:xfrm>
            <a:off x="3621024" y="1645920"/>
            <a:ext cx="502920" cy="50292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el atraso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El sistema muestra días y multa estimada</a:t>
            </a:r>
            <a:endParaRPr lang="en-US" sz="1400" dirty="0"/>
          </a:p>
        </p:txBody>
      </p:sp>
      <p:sp>
        <p:nvSpPr>
          <p:cNvPr id="14" name="Flecha etapa 2"/>
          <p:cNvSpPr/>
          <p:nvPr/>
        </p:nvSpPr>
        <p:spPr>
          <a:xfrm>
            <a:off x="5971032" y="2578608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Etapa 3"/>
          <p:cNvSpPr/>
          <p:nvPr/>
        </p:nvSpPr>
        <p:spPr>
          <a:xfrm>
            <a:off x="6236208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6" name="Número etapa 3"/>
          <p:cNvSpPr/>
          <p:nvPr/>
        </p:nvSpPr>
        <p:spPr>
          <a:xfrm>
            <a:off x="6464808" y="1645920"/>
            <a:ext cx="502920" cy="50292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 registra la fecha y se libera el ejemplar</a:t>
            </a:r>
            <a:endParaRPr lang="en-US" sz="1400" dirty="0"/>
          </a:p>
        </p:txBody>
      </p:sp>
      <p:sp>
        <p:nvSpPr>
          <p:cNvPr id="20" name="Flecha etapa 3"/>
          <p:cNvSpPr/>
          <p:nvPr/>
        </p:nvSpPr>
        <p:spPr>
          <a:xfrm>
            <a:off x="8814816" y="2578608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Etapa 4"/>
          <p:cNvSpPr/>
          <p:nvPr/>
        </p:nvSpPr>
        <p:spPr>
          <a:xfrm>
            <a:off x="9079992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2" name="Número etapa 4"/>
          <p:cNvSpPr/>
          <p:nvPr/>
        </p:nvSpPr>
        <p:spPr>
          <a:xfrm>
            <a:off x="9308592" y="164592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0859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08592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¿Hubo atraso?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08592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 es así, se ejecuta CU-14 y se crea la multa Pendiente</a:t>
            </a:r>
            <a:endParaRPr lang="en-US" sz="1400" dirty="0"/>
          </a:p>
        </p:txBody>
      </p:sp>
      <p:sp>
        <p:nvSpPr>
          <p:cNvPr id="26" name="Regla Q2.00"/>
          <p:cNvSpPr/>
          <p:nvPr/>
        </p:nvSpPr>
        <p:spPr>
          <a:xfrm>
            <a:off x="548640" y="4114800"/>
            <a:ext cx="35935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Q2.00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por cada día de atraso</a:t>
            </a:r>
            <a:endParaRPr lang="en-US" sz="1600" dirty="0"/>
          </a:p>
        </p:txBody>
      </p:sp>
      <p:sp>
        <p:nvSpPr>
          <p:cNvPr id="29" name="Regla Q100.00"/>
          <p:cNvSpPr/>
          <p:nvPr/>
        </p:nvSpPr>
        <p:spPr>
          <a:xfrm>
            <a:off x="4297680" y="4114800"/>
            <a:ext cx="35935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7200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Q100.00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monto máximo de la multa</a:t>
            </a:r>
            <a:endParaRPr lang="en-US" sz="1600" dirty="0"/>
          </a:p>
        </p:txBody>
      </p:sp>
      <p:sp>
        <p:nvSpPr>
          <p:cNvPr id="32" name="Regla Bloqueo"/>
          <p:cNvSpPr/>
          <p:nvPr/>
        </p:nvSpPr>
        <p:spPr>
          <a:xfrm>
            <a:off x="8046720" y="4114800"/>
            <a:ext cx="359359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32104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212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sin nuevos préstamos hasta pagar (CU-15)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Reglas de negocio detrás de los casos de uso</a:t>
            </a:r>
            <a:endParaRPr lang="en-US" sz="3400" dirty="0"/>
          </a:p>
        </p:txBody>
      </p:sp>
      <p:sp>
        <p:nvSpPr>
          <p:cNvPr id="3" name="Tarjeta Lector"/>
          <p:cNvSpPr/>
          <p:nvPr/>
        </p:nvSpPr>
        <p:spPr>
          <a:xfrm>
            <a:off x="548640" y="1371600"/>
            <a:ext cx="3429000" cy="47548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4" name="Ícono Lector círculo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5" name="Ícono Lector" descr="Ícono Le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83062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Lector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préstamos simultáneos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57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días de plazo</a:t>
            </a:r>
            <a:endParaRPr lang="en-US" sz="1500" dirty="0"/>
          </a:p>
        </p:txBody>
      </p:sp>
      <p:sp>
        <p:nvSpPr>
          <p:cNvPr id="11" name="Tarjeta Bibliotecario"/>
          <p:cNvSpPr/>
          <p:nvPr/>
        </p:nvSpPr>
        <p:spPr>
          <a:xfrm>
            <a:off x="4160520" y="1371600"/>
            <a:ext cx="3429000" cy="47548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12" name="Ícono Bibliotecario círculo"/>
          <p:cNvSpPr/>
          <p:nvPr/>
        </p:nvSpPr>
        <p:spPr>
          <a:xfrm>
            <a:off x="4434840" y="160020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3" name="Ícono Bibliotecario" descr="Ícono Bibliotec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9" y="183062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Bibliotecario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44348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préstamos simultáneos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34840" y="4343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18" name="Text 14"/>
          <p:cNvSpPr txBox="1"/>
          <p:nvPr/>
        </p:nvSpPr>
        <p:spPr>
          <a:xfrm>
            <a:off x="4434840" y="5257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días de plazo</a:t>
            </a:r>
            <a:endParaRPr lang="en-US" sz="1500" dirty="0"/>
          </a:p>
        </p:txBody>
      </p:sp>
      <p:sp>
        <p:nvSpPr>
          <p:cNvPr id="19" name="Regla Hasta 2 renovaciones"/>
          <p:cNvSpPr/>
          <p:nvPr/>
        </p:nvSpPr>
        <p:spPr>
          <a:xfrm>
            <a:off x="7772400" y="1371600"/>
            <a:ext cx="386791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2 renovaciones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046720" y="2057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Solo si el préstamo no está vencido (CU-10).</a:t>
            </a:r>
            <a:endParaRPr lang="en-US" sz="1400" dirty="0"/>
          </a:p>
        </p:txBody>
      </p:sp>
      <p:sp>
        <p:nvSpPr>
          <p:cNvPr id="22" name="Regla Multa de Q2.00 por día"/>
          <p:cNvSpPr/>
          <p:nvPr/>
        </p:nvSpPr>
        <p:spPr>
          <a:xfrm>
            <a:off x="7772400" y="3017520"/>
            <a:ext cx="386791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04672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Multa de Q2.00 por día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8046720" y="3703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Tope de Q100.00 (CU-14).</a:t>
            </a:r>
            <a:endParaRPr lang="en-US" sz="1400" dirty="0"/>
          </a:p>
        </p:txBody>
      </p:sp>
      <p:sp>
        <p:nvSpPr>
          <p:cNvPr id="25" name="Regla Prestar solo si está al día"/>
          <p:cNvSpPr/>
          <p:nvPr/>
        </p:nvSpPr>
        <p:spPr>
          <a:xfrm>
            <a:off x="7772400" y="4663440"/>
            <a:ext cx="386791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4293D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046720" y="4846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Prestar solo si está al día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046720" y="5349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Multas pendientes o atrasos bloquean el préstamo (CU-18).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Del diagrama al sistema funcionando</a:t>
            </a:r>
            <a:endParaRPr lang="en-US" sz="3400" dirty="0"/>
          </a:p>
        </p:txBody>
      </p:sp>
      <p:sp>
        <p:nvSpPr>
          <p:cNvPr id="3" name="Ícono Trazabilidad círculo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4" name="Ícono Trazabilidad" descr="Ícono Trazabil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Cada caso de uso se enlaza con sus requisitos funcionales (RF-01 a RF-34).</a:t>
            </a:r>
            <a:endParaRPr lang="en-US" sz="1600" dirty="0"/>
          </a:p>
        </p:txBody>
      </p:sp>
      <p:sp>
        <p:nvSpPr>
          <p:cNvPr id="7" name="Ícono Implementación círculo"/>
          <p:cNvSpPr/>
          <p:nvPr/>
        </p:nvSpPr>
        <p:spPr>
          <a:xfrm>
            <a:off x="4297680" y="1645920"/>
            <a:ext cx="914400" cy="9144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8" name="Ícono Implementación" descr="Ícono Implementa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9019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9768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3383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Cada módulo es un controlador MVC apoyado en servicios de la capa de lógica.</a:t>
            </a:r>
            <a:endParaRPr lang="en-US" sz="1600" dirty="0"/>
          </a:p>
        </p:txBody>
      </p:sp>
      <p:sp>
        <p:nvSpPr>
          <p:cNvPr id="11" name="Ícono Verificación círculo"/>
          <p:cNvSpPr/>
          <p:nvPr/>
        </p:nvSpPr>
        <p:spPr>
          <a:xfrm>
            <a:off x="8046720" y="1645920"/>
            <a:ext cx="914400" cy="914400"/>
          </a:xfrm>
          <a:prstGeom prst="ellipse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pic>
        <p:nvPicPr>
          <p:cNvPr id="12" name="Ícono Verificación" descr="Ícono Verific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90195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3383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Las reglas de negocio se comprueban con pruebas automatizadas.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¿Preguntas?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blioteca">
  <a:themeElements>
    <a:clrScheme name="Biblioteca">
      <a:dk1>
        <a:srgbClr val="14293D"/>
      </a:dk1>
      <a:lt1>
        <a:srgbClr val="FFFFFF"/>
      </a:lt1>
      <a:dk2>
        <a:srgbClr val="1F4E79"/>
      </a:dk2>
      <a:lt2>
        <a:srgbClr val="F2F5F9"/>
      </a:lt2>
      <a:accent1>
        <a:srgbClr val="1F4E79"/>
      </a:accent1>
      <a:accent2>
        <a:srgbClr val="2E7D6B"/>
      </a:accent2>
      <a:accent3>
        <a:srgbClr val="1B7F8C"/>
      </a:accent3>
      <a:accent4>
        <a:srgbClr val="E9A23B"/>
      </a:accent4>
      <a:accent5>
        <a:srgbClr val="5F6B7A"/>
      </a:accent5>
      <a:accent6>
        <a:srgbClr val="B5483A"/>
      </a:accent6>
      <a:hlink>
        <a:srgbClr val="1B7F8C"/>
      </a:hlink>
      <a:folHlink>
        <a:srgbClr val="5F6B7A"/>
      </a:folHlink>
    </a:clrScheme>
    <a:fontScheme name="Bibliotec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Biblioteca - Diagrama de casos de uso</dc:title>
  <dc:subject>PptxGenJS Presentation</dc:subject>
  <dc:creator>Programación II</dc:creator>
  <cp:lastModifiedBy>Programación II</cp:lastModifiedBy>
  <cp:revision>1</cp:revision>
  <dcterms:created xsi:type="dcterms:W3CDTF">2026-10-10T17:47:25Z</dcterms:created>
  <dcterms:modified xsi:type="dcterms:W3CDTF">2026-10-10T17:47:25Z</dcterms:modified>
</cp:coreProperties>
</file>